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000" cy="190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 1 frame"/>
          <p:cNvSpPr/>
          <p:nvPr/>
        </p:nvSpPr>
        <p:spPr>
          <a:xfrm>
            <a:off x="10800" y="10800"/>
            <a:ext cx="1512000" cy="1652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7620" cap="flat">
            <a:solidFill>
              <a:srgbClr val="C9DDF2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6" name="header: Comparative elicitation"/>
          <p:cNvGrpSpPr/>
          <p:nvPr/>
        </p:nvGrpSpPr>
        <p:grpSpPr>
          <a:xfrm>
            <a:off x="10800" y="10800"/>
            <a:ext cx="1512000" cy="169200"/>
            <a:chOff x="10800" y="10800"/>
            <a:chExt cx="1512000" cy="169200"/>
          </a:xfrm>
        </p:grpSpPr>
        <p:sp>
          <p:nvSpPr>
            <p:cNvPr id="3" name="panel header"/>
            <p:cNvSpPr/>
            <p:nvPr/>
          </p:nvSpPr>
          <p:spPr>
            <a:xfrm>
              <a:off x="10800" y="10800"/>
              <a:ext cx="1512000" cy="169200"/>
            </a:xfrm>
            <a:prstGeom prst="roundRect">
              <a:avLst>
                <a:gd name="adj" fmla="val 25531"/>
              </a:avLst>
            </a:prstGeom>
            <a:solidFill>
              <a:srgbClr val="E9F3FC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4" name="step number disc"/>
            <p:cNvSpPr/>
            <p:nvPr/>
          </p:nvSpPr>
          <p:spPr>
            <a:xfrm>
              <a:off x="39600" y="32796"/>
              <a:ext cx="125208" cy="125208"/>
            </a:xfrm>
            <a:prstGeom prst="ellipse">
              <a:avLst/>
            </a:prstGeom>
            <a:solidFill>
              <a:srgbClr val="2576BE"/>
            </a:solidFill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FFFFFF"/>
                  </a:solidFill>
                  <a:latin typeface="Arial"/>
                  <a:cs typeface="Arial"/>
                </a:rPr>
                <a:t>1</a:t>
              </a:r>
              <a:endParaRPr lang="en-US" sz="750" dirty="0"/>
            </a:p>
          </p:txBody>
        </p:sp>
        <p:sp>
          <p:nvSpPr>
            <p:cNvPr id="5" name="panel title"/>
            <p:cNvSpPr txBox="1"/>
            <p:nvPr/>
          </p:nvSpPr>
          <p:spPr>
            <a:xfrm>
              <a:off x="200808" y="35869"/>
              <a:ext cx="1055222" cy="11906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2576BE"/>
                  </a:solidFill>
                  <a:latin typeface="Arial"/>
                  <a:cs typeface="Arial"/>
                </a:rPr>
                <a:t>Comparative elicitation</a:t>
              </a:r>
              <a:endParaRPr lang="en-US" sz="750" dirty="0"/>
            </a:p>
          </p:txBody>
        </p:sp>
      </p:grpSp>
      <p:sp>
        <p:nvSpPr>
          <p:cNvPr id="7" name="stage arrow"/>
          <p:cNvSpPr/>
          <p:nvPr/>
        </p:nvSpPr>
        <p:spPr>
          <a:xfrm>
            <a:off x="1533600" y="864000"/>
            <a:ext cx="86400" cy="115200"/>
          </a:xfrm>
          <a:prstGeom prst="rightArrow">
            <a:avLst>
              <a:gd name="adj1" fmla="val 52000"/>
              <a:gd name="adj2" fmla="val 60000"/>
            </a:avLst>
          </a:prstGeom>
          <a:solidFill>
            <a:srgbClr val="A9B8C6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" name="panel 2 frame"/>
          <p:cNvSpPr/>
          <p:nvPr/>
        </p:nvSpPr>
        <p:spPr>
          <a:xfrm>
            <a:off x="1630800" y="10800"/>
            <a:ext cx="1422000" cy="165240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7620" cap="flat">
            <a:solidFill>
              <a:srgbClr val="D9CFF0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12" name="header: Latent coordinate learning"/>
          <p:cNvGrpSpPr/>
          <p:nvPr/>
        </p:nvGrpSpPr>
        <p:grpSpPr>
          <a:xfrm>
            <a:off x="1630800" y="10800"/>
            <a:ext cx="1422000" cy="169200"/>
            <a:chOff x="1630800" y="10800"/>
            <a:chExt cx="1422000" cy="169200"/>
          </a:xfrm>
        </p:grpSpPr>
        <p:sp>
          <p:nvSpPr>
            <p:cNvPr id="9" name="panel header"/>
            <p:cNvSpPr/>
            <p:nvPr/>
          </p:nvSpPr>
          <p:spPr>
            <a:xfrm>
              <a:off x="1630800" y="10800"/>
              <a:ext cx="1422000" cy="169200"/>
            </a:xfrm>
            <a:prstGeom prst="roundRect">
              <a:avLst>
                <a:gd name="adj" fmla="val 25531"/>
              </a:avLst>
            </a:prstGeom>
            <a:solidFill>
              <a:srgbClr val="EEE9FA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" name="step number disc"/>
            <p:cNvSpPr/>
            <p:nvPr/>
          </p:nvSpPr>
          <p:spPr>
            <a:xfrm>
              <a:off x="1659600" y="32796"/>
              <a:ext cx="125208" cy="125208"/>
            </a:xfrm>
            <a:prstGeom prst="ellipse">
              <a:avLst/>
            </a:prstGeom>
            <a:solidFill>
              <a:srgbClr val="7350AF"/>
            </a:solidFill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FFFFFF"/>
                  </a:solidFill>
                  <a:latin typeface="Arial"/>
                  <a:cs typeface="Arial"/>
                </a:rPr>
                <a:t>2</a:t>
              </a:r>
              <a:endParaRPr lang="en-US" sz="750" dirty="0"/>
            </a:p>
          </p:txBody>
        </p:sp>
        <p:sp>
          <p:nvSpPr>
            <p:cNvPr id="11" name="panel title"/>
            <p:cNvSpPr txBox="1"/>
            <p:nvPr/>
          </p:nvSpPr>
          <p:spPr>
            <a:xfrm>
              <a:off x="1820808" y="35869"/>
              <a:ext cx="1203256" cy="11906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7350AF"/>
                  </a:solidFill>
                  <a:latin typeface="Arial"/>
                  <a:cs typeface="Arial"/>
                </a:rPr>
                <a:t>Latent coordinate learning</a:t>
              </a:r>
              <a:endParaRPr lang="en-US" sz="750" dirty="0"/>
            </a:p>
          </p:txBody>
        </p:sp>
      </p:grpSp>
      <p:sp>
        <p:nvSpPr>
          <p:cNvPr id="13" name="stage arrow"/>
          <p:cNvSpPr/>
          <p:nvPr/>
        </p:nvSpPr>
        <p:spPr>
          <a:xfrm>
            <a:off x="3063600" y="864000"/>
            <a:ext cx="86400" cy="115200"/>
          </a:xfrm>
          <a:prstGeom prst="rightArrow">
            <a:avLst>
              <a:gd name="adj1" fmla="val 52000"/>
              <a:gd name="adj2" fmla="val 60000"/>
            </a:avLst>
          </a:prstGeom>
          <a:solidFill>
            <a:srgbClr val="A9B8C6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4" name="panel 3 frame"/>
          <p:cNvSpPr/>
          <p:nvPr/>
        </p:nvSpPr>
        <p:spPr>
          <a:xfrm>
            <a:off x="3160800" y="10800"/>
            <a:ext cx="1249200" cy="1652400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 w="7620" cap="flat">
            <a:solidFill>
              <a:srgbClr val="C6E3C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18" name="header: Bayesian optimization"/>
          <p:cNvGrpSpPr/>
          <p:nvPr/>
        </p:nvGrpSpPr>
        <p:grpSpPr>
          <a:xfrm>
            <a:off x="3160800" y="10800"/>
            <a:ext cx="1249200" cy="169200"/>
            <a:chOff x="3160800" y="10800"/>
            <a:chExt cx="1249200" cy="169200"/>
          </a:xfrm>
        </p:grpSpPr>
        <p:sp>
          <p:nvSpPr>
            <p:cNvPr id="15" name="panel header"/>
            <p:cNvSpPr/>
            <p:nvPr/>
          </p:nvSpPr>
          <p:spPr>
            <a:xfrm>
              <a:off x="3160800" y="10800"/>
              <a:ext cx="1249200" cy="169200"/>
            </a:xfrm>
            <a:prstGeom prst="roundRect">
              <a:avLst>
                <a:gd name="adj" fmla="val 25531"/>
              </a:avLst>
            </a:prstGeom>
            <a:solidFill>
              <a:srgbClr val="E3F3E8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6" name="step number disc"/>
            <p:cNvSpPr/>
            <p:nvPr/>
          </p:nvSpPr>
          <p:spPr>
            <a:xfrm>
              <a:off x="3189600" y="32796"/>
              <a:ext cx="125208" cy="125208"/>
            </a:xfrm>
            <a:prstGeom prst="ellipse">
              <a:avLst/>
            </a:prstGeom>
            <a:solidFill>
              <a:srgbClr val="369D60"/>
            </a:solidFill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FFFFFF"/>
                  </a:solidFill>
                  <a:latin typeface="Arial"/>
                  <a:cs typeface="Arial"/>
                </a:rPr>
                <a:t>3</a:t>
              </a:r>
              <a:endParaRPr lang="en-US" sz="750" dirty="0"/>
            </a:p>
          </p:txBody>
        </p:sp>
        <p:sp>
          <p:nvSpPr>
            <p:cNvPr id="17" name="panel title"/>
            <p:cNvSpPr txBox="1"/>
            <p:nvPr/>
          </p:nvSpPr>
          <p:spPr>
            <a:xfrm>
              <a:off x="3350808" y="35869"/>
              <a:ext cx="1012806" cy="11906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369D60"/>
                  </a:solidFill>
                  <a:latin typeface="Arial"/>
                  <a:cs typeface="Arial"/>
                </a:rPr>
                <a:t>Bayesian optimization</a:t>
              </a:r>
              <a:endParaRPr lang="en-US" sz="750" dirty="0"/>
            </a:p>
          </p:txBody>
        </p:sp>
      </p:grpSp>
      <p:sp>
        <p:nvSpPr>
          <p:cNvPr id="19" name="stage arrow"/>
          <p:cNvSpPr/>
          <p:nvPr/>
        </p:nvSpPr>
        <p:spPr>
          <a:xfrm>
            <a:off x="4420800" y="864000"/>
            <a:ext cx="86400" cy="115200"/>
          </a:xfrm>
          <a:prstGeom prst="rightArrow">
            <a:avLst>
              <a:gd name="adj1" fmla="val 52000"/>
              <a:gd name="adj2" fmla="val 60000"/>
            </a:avLst>
          </a:prstGeom>
          <a:solidFill>
            <a:srgbClr val="A9B8C6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0" name="panel 4 frame"/>
          <p:cNvSpPr/>
          <p:nvPr/>
        </p:nvSpPr>
        <p:spPr>
          <a:xfrm>
            <a:off x="4518000" y="10800"/>
            <a:ext cx="1231200" cy="1652400"/>
          </a:xfrm>
          <a:prstGeom prst="roundRect">
            <a:avLst>
              <a:gd name="adj" fmla="val 4093"/>
            </a:avLst>
          </a:prstGeom>
          <a:solidFill>
            <a:srgbClr val="FFFFFF"/>
          </a:solidFill>
          <a:ln w="7620" cap="flat">
            <a:solidFill>
              <a:srgbClr val="F6D3BC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24" name="header: Discover &amp; adapt"/>
          <p:cNvGrpSpPr/>
          <p:nvPr/>
        </p:nvGrpSpPr>
        <p:grpSpPr>
          <a:xfrm>
            <a:off x="4518000" y="10800"/>
            <a:ext cx="1231200" cy="169200"/>
            <a:chOff x="4518000" y="10800"/>
            <a:chExt cx="1231200" cy="169200"/>
          </a:xfrm>
        </p:grpSpPr>
        <p:sp>
          <p:nvSpPr>
            <p:cNvPr id="21" name="panel header"/>
            <p:cNvSpPr/>
            <p:nvPr/>
          </p:nvSpPr>
          <p:spPr>
            <a:xfrm>
              <a:off x="4518000" y="10800"/>
              <a:ext cx="1231200" cy="169200"/>
            </a:xfrm>
            <a:prstGeom prst="roundRect">
              <a:avLst>
                <a:gd name="adj" fmla="val 25531"/>
              </a:avLst>
            </a:prstGeom>
            <a:solidFill>
              <a:srgbClr val="FFEFE3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2" name="step number disc"/>
            <p:cNvSpPr/>
            <p:nvPr/>
          </p:nvSpPr>
          <p:spPr>
            <a:xfrm>
              <a:off x="4546800" y="32796"/>
              <a:ext cx="125208" cy="125208"/>
            </a:xfrm>
            <a:prstGeom prst="ellipse">
              <a:avLst/>
            </a:prstGeom>
            <a:solidFill>
              <a:srgbClr val="E0702F"/>
            </a:solidFill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FFFFFF"/>
                  </a:solidFill>
                  <a:latin typeface="Arial"/>
                  <a:cs typeface="Arial"/>
                </a:rPr>
                <a:t>4</a:t>
              </a:r>
              <a:endParaRPr lang="en-US" sz="750" dirty="0"/>
            </a:p>
          </p:txBody>
        </p:sp>
        <p:sp>
          <p:nvSpPr>
            <p:cNvPr id="23" name="panel title"/>
            <p:cNvSpPr txBox="1"/>
            <p:nvPr/>
          </p:nvSpPr>
          <p:spPr>
            <a:xfrm>
              <a:off x="4708008" y="35869"/>
              <a:ext cx="785333" cy="11906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E0702F"/>
                  </a:solidFill>
                  <a:latin typeface="Arial"/>
                  <a:cs typeface="Arial"/>
                </a:rPr>
                <a:t>Discover &amp; adapt</a:t>
              </a:r>
              <a:endParaRPr lang="en-US" sz="750" dirty="0"/>
            </a:p>
          </p:txBody>
        </p:sp>
      </p:grpSp>
      <p:sp>
        <p:nvSpPr>
          <p:cNvPr id="25" name="subtitle"/>
          <p:cNvSpPr txBox="1"/>
          <p:nvPr/>
        </p:nvSpPr>
        <p:spPr>
          <a:xfrm>
            <a:off x="182909" y="219600"/>
            <a:ext cx="1167782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Ask pairwise questions along</a:t>
            </a:r>
            <a:endParaRPr lang="en-US" sz="650" dirty="0"/>
          </a:p>
        </p:txBody>
      </p:sp>
      <p:sp>
        <p:nvSpPr>
          <p:cNvPr id="26" name="subtitle"/>
          <p:cNvSpPr txBox="1"/>
          <p:nvPr/>
        </p:nvSpPr>
        <p:spPr>
          <a:xfrm>
            <a:off x="164610" y="314280"/>
            <a:ext cx="1204379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properties the LLM has named</a:t>
            </a:r>
            <a:endParaRPr lang="en-US" sz="650" dirty="0"/>
          </a:p>
        </p:txBody>
      </p:sp>
      <p:sp>
        <p:nvSpPr>
          <p:cNvPr id="27" name="query"/>
          <p:cNvSpPr/>
          <p:nvPr/>
        </p:nvSpPr>
        <p:spPr>
          <a:xfrm>
            <a:off x="46800" y="459360"/>
            <a:ext cx="777600" cy="247680"/>
          </a:xfrm>
          <a:prstGeom prst="roundRect">
            <a:avLst>
              <a:gd name="adj" fmla="val 14534"/>
            </a:avLst>
          </a:prstGeom>
          <a:solidFill>
            <a:srgbClr val="EBF5FD"/>
          </a:solidFill>
          <a:ln w="6350" cap="flat">
            <a:solidFill>
              <a:srgbClr val="B9D6F0"/>
            </a:solidFill>
            <a:round/>
          </a:ln>
          <a:effectLst/>
        </p:spPr>
        <p:txBody>
          <a:bodyPr wrap="none" lIns="14400" tIns="7200" rIns="14400" bIns="72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256BA8"/>
                </a:solidFill>
                <a:latin typeface="Arial"/>
                <a:cs typeface="Arial"/>
              </a:rPr>
              <a:t>Bulkier:</a:t>
            </a:r>
            <a:endParaRPr lang="en-US" sz="7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256BA8"/>
                </a:solidFill>
                <a:latin typeface="Arial"/>
                <a:cs typeface="Arial"/>
              </a:rPr>
              <a:t>PCy</a:t>
            </a:r>
            <a:r>
              <a:rPr lang="en-US" sz="700" b="0" i="0" dirty="0" baseline="-25000">
                <a:solidFill>
                  <a:srgbClr val="256BA8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256BA8"/>
                </a:solidFill>
                <a:latin typeface="Arial"/>
                <a:cs typeface="Arial"/>
              </a:rPr>
              <a:t xml:space="preserve"> or PPh</a:t>
            </a:r>
            <a:r>
              <a:rPr lang="en-US" sz="700" b="0" i="0" dirty="0" baseline="-25000">
                <a:solidFill>
                  <a:srgbClr val="256BA8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256BA8"/>
                </a:solidFill>
                <a:latin typeface="Arial"/>
                <a:cs typeface="Arial"/>
              </a:rPr>
              <a:t>?</a:t>
            </a:r>
            <a:endParaRPr lang="en-US" sz="700" dirty="0"/>
          </a:p>
        </p:txBody>
      </p:sp>
      <p:sp>
        <p:nvSpPr>
          <p:cNvPr id="28" name="stage arrow"/>
          <p:cNvSpPr/>
          <p:nvPr/>
        </p:nvSpPr>
        <p:spPr>
          <a:xfrm>
            <a:off x="851400" y="549000"/>
            <a:ext cx="39600" cy="68400"/>
          </a:xfrm>
          <a:custGeom>
            <a:avLst/>
            <a:gdLst/>
            <a:ahLst/>
            <a:cxnLst/>
            <a:rect l="0" t="0" r="r" b="b"/>
            <a:pathLst>
              <a:path w="39600" h="68400">
                <a:moveTo>
                  <a:pt x="0" y="0"/>
                </a:moveTo>
                <a:lnTo>
                  <a:pt x="39600" y="34200"/>
                </a:lnTo>
                <a:lnTo>
                  <a:pt x="0" y="68400"/>
                </a:lnTo>
                <a:lnTo>
                  <a:pt x="16632" y="34200"/>
                </a:lnTo>
                <a:close/>
              </a:path>
            </a:pathLst>
          </a:custGeom>
          <a:solidFill>
            <a:srgbClr val="8FA3B7"/>
          </a:solidFill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9" name="LLM answer"/>
          <p:cNvSpPr/>
          <p:nvPr/>
        </p:nvSpPr>
        <p:spPr>
          <a:xfrm>
            <a:off x="1155600" y="508680"/>
            <a:ext cx="331200" cy="149040"/>
          </a:xfrm>
          <a:prstGeom prst="roundRect">
            <a:avLst>
              <a:gd name="adj" fmla="val 24154"/>
            </a:avLst>
          </a:prstGeom>
          <a:solidFill>
            <a:srgbClr val="EBF5FD"/>
          </a:solidFill>
          <a:ln w="6350" cap="flat">
            <a:solidFill>
              <a:srgbClr val="B9D6F0"/>
            </a:solidFill>
            <a:round/>
          </a:ln>
          <a:effectLst/>
        </p:spPr>
        <p:txBody>
          <a:bodyPr wrap="none" lIns="7200" tIns="0" rIns="720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PCy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700" dirty="0"/>
          </a:p>
        </p:txBody>
      </p:sp>
      <p:sp>
        <p:nvSpPr>
          <p:cNvPr id="30" name="query"/>
          <p:cNvSpPr/>
          <p:nvPr/>
        </p:nvSpPr>
        <p:spPr>
          <a:xfrm>
            <a:off x="46800" y="753840"/>
            <a:ext cx="777600" cy="247680"/>
          </a:xfrm>
          <a:prstGeom prst="roundRect">
            <a:avLst>
              <a:gd name="adj" fmla="val 14534"/>
            </a:avLst>
          </a:prstGeom>
          <a:solidFill>
            <a:srgbClr val="EBF7EB"/>
          </a:solidFill>
          <a:ln w="6350" cap="flat">
            <a:solidFill>
              <a:srgbClr val="B5DDB9"/>
            </a:solidFill>
            <a:round/>
          </a:ln>
          <a:effectLst/>
        </p:spPr>
        <p:txBody>
          <a:bodyPr wrap="none" lIns="14400" tIns="7200" rIns="14400" bIns="72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23663A"/>
                </a:solidFill>
                <a:latin typeface="Arial"/>
                <a:cs typeface="Arial"/>
              </a:rPr>
              <a:t>More basic:</a:t>
            </a:r>
            <a:endParaRPr lang="en-US" sz="7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23663A"/>
                </a:solidFill>
                <a:latin typeface="Arial"/>
                <a:cs typeface="Arial"/>
              </a:rPr>
              <a:t>Cs</a:t>
            </a:r>
            <a:r>
              <a:rPr lang="en-US" sz="700" b="0" i="0" dirty="0" baseline="-25000">
                <a:solidFill>
                  <a:srgbClr val="23663A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23663A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23663A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23663A"/>
                </a:solidFill>
                <a:latin typeface="Arial"/>
                <a:cs typeface="Arial"/>
              </a:rPr>
              <a:t xml:space="preserve"> or K</a:t>
            </a:r>
            <a:r>
              <a:rPr lang="en-US" sz="700" b="0" i="0" dirty="0" baseline="-25000">
                <a:solidFill>
                  <a:srgbClr val="23663A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23663A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23663A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23663A"/>
                </a:solidFill>
                <a:latin typeface="Arial"/>
                <a:cs typeface="Arial"/>
              </a:rPr>
              <a:t>?</a:t>
            </a:r>
            <a:endParaRPr lang="en-US" sz="700" dirty="0"/>
          </a:p>
        </p:txBody>
      </p:sp>
      <p:sp>
        <p:nvSpPr>
          <p:cNvPr id="31" name="stage arrow"/>
          <p:cNvSpPr/>
          <p:nvPr/>
        </p:nvSpPr>
        <p:spPr>
          <a:xfrm>
            <a:off x="851400" y="843480"/>
            <a:ext cx="39600" cy="68400"/>
          </a:xfrm>
          <a:custGeom>
            <a:avLst/>
            <a:gdLst/>
            <a:ahLst/>
            <a:cxnLst/>
            <a:rect l="0" t="0" r="r" b="b"/>
            <a:pathLst>
              <a:path w="39600" h="68400">
                <a:moveTo>
                  <a:pt x="0" y="0"/>
                </a:moveTo>
                <a:lnTo>
                  <a:pt x="39600" y="34200"/>
                </a:lnTo>
                <a:lnTo>
                  <a:pt x="0" y="68400"/>
                </a:lnTo>
                <a:lnTo>
                  <a:pt x="16632" y="34200"/>
                </a:lnTo>
                <a:close/>
              </a:path>
            </a:pathLst>
          </a:custGeom>
          <a:solidFill>
            <a:srgbClr val="8FA3B7"/>
          </a:solidFill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32" name="LLM answer"/>
          <p:cNvSpPr/>
          <p:nvPr/>
        </p:nvSpPr>
        <p:spPr>
          <a:xfrm>
            <a:off x="1155600" y="803160"/>
            <a:ext cx="331200" cy="149040"/>
          </a:xfrm>
          <a:prstGeom prst="roundRect">
            <a:avLst>
              <a:gd name="adj" fmla="val 24154"/>
            </a:avLst>
          </a:prstGeom>
          <a:solidFill>
            <a:srgbClr val="EBF7EB"/>
          </a:solidFill>
          <a:ln w="6350" cap="flat">
            <a:solidFill>
              <a:srgbClr val="B5DDB9"/>
            </a:solidFill>
            <a:round/>
          </a:ln>
          <a:effectLst/>
        </p:spPr>
        <p:txBody>
          <a:bodyPr wrap="none" lIns="7200" tIns="0" rIns="720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Cs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700" dirty="0"/>
          </a:p>
        </p:txBody>
      </p:sp>
      <p:sp>
        <p:nvSpPr>
          <p:cNvPr id="33" name="query"/>
          <p:cNvSpPr/>
          <p:nvPr/>
        </p:nvSpPr>
        <p:spPr>
          <a:xfrm>
            <a:off x="46800" y="1048320"/>
            <a:ext cx="777600" cy="247680"/>
          </a:xfrm>
          <a:prstGeom prst="roundRect">
            <a:avLst>
              <a:gd name="adj" fmla="val 14534"/>
            </a:avLst>
          </a:prstGeom>
          <a:solidFill>
            <a:srgbClr val="FDECEB"/>
          </a:solidFill>
          <a:ln w="6350" cap="flat">
            <a:solidFill>
              <a:srgbClr val="F0C4C0"/>
            </a:solidFill>
            <a:round/>
          </a:ln>
          <a:effectLst/>
        </p:spPr>
        <p:txBody>
          <a:bodyPr wrap="none" lIns="14400" tIns="7200" rIns="14400" bIns="72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9E322E"/>
                </a:solidFill>
                <a:latin typeface="Arial"/>
                <a:cs typeface="Arial"/>
              </a:rPr>
              <a:t>More polar:</a:t>
            </a:r>
            <a:endParaRPr lang="en-US" sz="7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9E322E"/>
                </a:solidFill>
                <a:latin typeface="Arial"/>
                <a:cs typeface="Arial"/>
              </a:rPr>
              <a:t>DMSO or THF?</a:t>
            </a:r>
            <a:endParaRPr lang="en-US" sz="700" dirty="0"/>
          </a:p>
        </p:txBody>
      </p:sp>
      <p:sp>
        <p:nvSpPr>
          <p:cNvPr id="34" name="stage arrow"/>
          <p:cNvSpPr/>
          <p:nvPr/>
        </p:nvSpPr>
        <p:spPr>
          <a:xfrm>
            <a:off x="851400" y="1137960"/>
            <a:ext cx="39600" cy="68400"/>
          </a:xfrm>
          <a:custGeom>
            <a:avLst/>
            <a:gdLst/>
            <a:ahLst/>
            <a:cxnLst/>
            <a:rect l="0" t="0" r="r" b="b"/>
            <a:pathLst>
              <a:path w="39600" h="68400">
                <a:moveTo>
                  <a:pt x="0" y="0"/>
                </a:moveTo>
                <a:lnTo>
                  <a:pt x="39600" y="34200"/>
                </a:lnTo>
                <a:lnTo>
                  <a:pt x="0" y="68400"/>
                </a:lnTo>
                <a:lnTo>
                  <a:pt x="16632" y="34200"/>
                </a:lnTo>
                <a:close/>
              </a:path>
            </a:pathLst>
          </a:custGeom>
          <a:solidFill>
            <a:srgbClr val="8FA3B7"/>
          </a:solidFill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35" name="LLM answer"/>
          <p:cNvSpPr/>
          <p:nvPr/>
        </p:nvSpPr>
        <p:spPr>
          <a:xfrm>
            <a:off x="1155600" y="1097640"/>
            <a:ext cx="331200" cy="149040"/>
          </a:xfrm>
          <a:prstGeom prst="roundRect">
            <a:avLst>
              <a:gd name="adj" fmla="val 24154"/>
            </a:avLst>
          </a:prstGeom>
          <a:solidFill>
            <a:srgbClr val="FDECEB"/>
          </a:solidFill>
          <a:ln w="6350" cap="flat">
            <a:solidFill>
              <a:srgbClr val="F0C4C0"/>
            </a:solidFill>
            <a:round/>
          </a:ln>
          <a:effectLst/>
        </p:spPr>
        <p:txBody>
          <a:bodyPr wrap="none" lIns="7200" tIns="0" rIns="720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DMSO</a:t>
            </a:r>
            <a:endParaRPr lang="en-US" sz="700" dirty="0"/>
          </a:p>
        </p:txBody>
      </p:sp>
      <p:grpSp>
        <p:nvGrpSpPr>
          <p:cNvPr id="36" name="LLM (robot)"/>
          <p:cNvGrpSpPr/>
          <p:nvPr/>
        </p:nvGrpSpPr>
        <p:grpSpPr>
          <a:xfrm>
            <a:off x="921600" y="775680"/>
            <a:ext cx="180000" cy="197234"/>
            <a:chOff x="1800860" y="1327150"/>
            <a:chExt cx="492125" cy="539242"/>
          </a:xfrm>
        </p:grpSpPr>
        <p:sp>
          <p:nvSpPr>
            <p:cNvPr id="37" name="046 circle"/>
            <p:cNvSpPr/>
            <p:nvPr/>
          </p:nvSpPr>
          <p:spPr>
            <a:xfrm>
              <a:off x="1800860" y="1665732"/>
              <a:ext cx="492125" cy="2006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047 circle"/>
            <p:cNvSpPr/>
            <p:nvPr/>
          </p:nvSpPr>
          <p:spPr>
            <a:xfrm>
              <a:off x="1807210" y="1672082"/>
              <a:ext cx="479425" cy="1879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048 circle"/>
            <p:cNvSpPr/>
            <p:nvPr/>
          </p:nvSpPr>
          <p:spPr>
            <a:xfrm>
              <a:off x="1813560" y="1678432"/>
              <a:ext cx="466725" cy="1752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049 circle"/>
            <p:cNvSpPr/>
            <p:nvPr/>
          </p:nvSpPr>
          <p:spPr>
            <a:xfrm>
              <a:off x="1819910" y="1684782"/>
              <a:ext cx="454025" cy="1625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050 circle"/>
            <p:cNvSpPr/>
            <p:nvPr/>
          </p:nvSpPr>
          <p:spPr>
            <a:xfrm>
              <a:off x="1826260" y="1691132"/>
              <a:ext cx="441325" cy="1498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051 box"/>
            <p:cNvSpPr/>
            <p:nvPr/>
          </p:nvSpPr>
          <p:spPr>
            <a:xfrm>
              <a:off x="1901189" y="1327150"/>
              <a:ext cx="308610" cy="229743"/>
            </a:xfrm>
            <a:prstGeom prst="roundRect">
              <a:avLst>
                <a:gd name="adj" fmla="val 23880"/>
              </a:avLst>
            </a:prstGeom>
            <a:gradFill rotWithShape="1">
              <a:gsLst>
                <a:gs pos="0">
                  <a:srgbClr val="F9FCFE"/>
                </a:gs>
                <a:gs pos="100000">
                  <a:srgbClr val="DFEAF1"/>
                </a:gs>
              </a:gsLst>
              <a:lin ang="5400000" scaled="1"/>
            </a:gra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052 box"/>
            <p:cNvSpPr/>
            <p:nvPr/>
          </p:nvSpPr>
          <p:spPr>
            <a:xfrm>
              <a:off x="1884045" y="1409446"/>
              <a:ext cx="20574" cy="6858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053 box"/>
            <p:cNvSpPr/>
            <p:nvPr/>
          </p:nvSpPr>
          <p:spPr>
            <a:xfrm>
              <a:off x="2209800" y="1409446"/>
              <a:ext cx="20574" cy="6858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054 box"/>
            <p:cNvSpPr/>
            <p:nvPr/>
          </p:nvSpPr>
          <p:spPr>
            <a:xfrm>
              <a:off x="1942338" y="1371727"/>
              <a:ext cx="226314" cy="13716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365568"/>
                </a:gs>
                <a:gs pos="100000">
                  <a:srgbClr val="183449"/>
                </a:gs>
              </a:gsLst>
              <a:lin ang="5400000" scaled="1"/>
            </a:gra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055 circle"/>
            <p:cNvSpPr/>
            <p:nvPr/>
          </p:nvSpPr>
          <p:spPr>
            <a:xfrm>
              <a:off x="1986914" y="1419733"/>
              <a:ext cx="34290" cy="34290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056 circle"/>
            <p:cNvSpPr/>
            <p:nvPr/>
          </p:nvSpPr>
          <p:spPr>
            <a:xfrm>
              <a:off x="2093214" y="1419733"/>
              <a:ext cx="34290" cy="34290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057 path"/>
            <p:cNvSpPr/>
            <p:nvPr/>
          </p:nvSpPr>
          <p:spPr>
            <a:xfrm>
              <a:off x="2034920" y="1478026"/>
              <a:ext cx="44577" cy="13716"/>
            </a:xfrm>
            <a:custGeom>
              <a:avLst/>
              <a:gdLst/>
              <a:ahLst/>
              <a:cxnLst/>
              <a:rect l="l" t="t" r="r" b="b"/>
              <a:pathLst>
                <a:path w="7020" h="2160" fill="none" stroke="1">
                  <a:moveTo>
                    <a:pt x="0" y="0"/>
                  </a:moveTo>
                  <a:quadBezTo>
                    <a:pt x="3240" y="2160"/>
                    <a:pt x="7020" y="0"/>
                  </a:quadBezTo>
                </a:path>
              </a:pathLst>
            </a:custGeom>
            <a:noFill/>
            <a:ln w="2314">
              <a:solidFill>
                <a:srgbClr val="76B3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058 robot body"/>
            <p:cNvSpPr/>
            <p:nvPr/>
          </p:nvSpPr>
          <p:spPr>
            <a:xfrm>
              <a:off x="1877187" y="1550035"/>
              <a:ext cx="356615" cy="253746"/>
            </a:xfrm>
            <a:custGeom>
              <a:avLst/>
              <a:gdLst/>
              <a:ahLst/>
              <a:cxnLst/>
              <a:rect l="l" t="t" r="r" b="b"/>
              <a:pathLst>
                <a:path w="56159" h="39960" fill="norm" stroke="1">
                  <a:moveTo>
                    <a:pt x="0" y="39960"/>
                  </a:moveTo>
                  <a:lnTo>
                    <a:pt x="0" y="18360"/>
                  </a:lnTo>
                  <a:cubicBezTo>
                    <a:pt x="0" y="0"/>
                    <a:pt x="12420" y="1620"/>
                    <a:pt x="27000" y="1620"/>
                  </a:cubicBezTo>
                  <a:cubicBezTo>
                    <a:pt x="46440" y="1620"/>
                    <a:pt x="55620" y="2160"/>
                    <a:pt x="56160" y="17820"/>
                  </a:cubicBezTo>
                  <a:lnTo>
                    <a:pt x="56160" y="39960"/>
                  </a:lnTo>
                </a:path>
              </a:pathLst>
            </a:custGeom>
            <a:solidFill>
              <a:srgbClr val="E9F0F5"/>
            </a:solidFill>
            <a:ln w="3703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059 circle"/>
            <p:cNvSpPr/>
            <p:nvPr/>
          </p:nvSpPr>
          <p:spPr>
            <a:xfrm>
              <a:off x="1966341" y="1604899"/>
              <a:ext cx="178308" cy="178308"/>
            </a:xfrm>
            <a:prstGeom prst="ellipse">
              <a:avLst/>
            </a:prstGeom>
            <a:solidFill>
              <a:srgbClr val="2144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060 path"/>
            <p:cNvSpPr/>
            <p:nvPr/>
          </p:nvSpPr>
          <p:spPr>
            <a:xfrm>
              <a:off x="2010918" y="1639189"/>
              <a:ext cx="44576" cy="10287"/>
            </a:xfrm>
            <a:custGeom>
              <a:avLst/>
              <a:gdLst/>
              <a:ahLst/>
              <a:cxnLst/>
              <a:rect l="l" t="t" r="r" b="b"/>
              <a:pathLst>
                <a:path w="7019" h="1620" fill="none" stroke="1">
                  <a:moveTo>
                    <a:pt x="0" y="1620"/>
                  </a:moveTo>
                  <a:lnTo>
                    <a:pt x="702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061 path"/>
            <p:cNvSpPr/>
            <p:nvPr/>
          </p:nvSpPr>
          <p:spPr>
            <a:xfrm>
              <a:off x="2010918" y="1649476"/>
              <a:ext cx="44576" cy="34290"/>
            </a:xfrm>
            <a:custGeom>
              <a:avLst/>
              <a:gdLst/>
              <a:ahLst/>
              <a:cxnLst/>
              <a:rect l="l" t="t" r="r" b="b"/>
              <a:pathLst>
                <a:path w="7019" h="5400" fill="none" stroke="1">
                  <a:moveTo>
                    <a:pt x="0" y="0"/>
                  </a:moveTo>
                  <a:lnTo>
                    <a:pt x="7020" y="540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062 path"/>
            <p:cNvSpPr/>
            <p:nvPr/>
          </p:nvSpPr>
          <p:spPr>
            <a:xfrm>
              <a:off x="2010918" y="1649476"/>
              <a:ext cx="44576" cy="78867"/>
            </a:xfrm>
            <a:custGeom>
              <a:avLst/>
              <a:gdLst/>
              <a:ahLst/>
              <a:cxnLst/>
              <a:rect l="l" t="t" r="r" b="b"/>
              <a:pathLst>
                <a:path w="7019" h="12420" fill="none" stroke="1">
                  <a:moveTo>
                    <a:pt x="0" y="0"/>
                  </a:moveTo>
                  <a:lnTo>
                    <a:pt x="7020" y="1242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063 path"/>
            <p:cNvSpPr/>
            <p:nvPr/>
          </p:nvSpPr>
          <p:spPr>
            <a:xfrm>
              <a:off x="2010918" y="1639189"/>
              <a:ext cx="44576" cy="61722"/>
            </a:xfrm>
            <a:custGeom>
              <a:avLst/>
              <a:gdLst/>
              <a:ahLst/>
              <a:cxnLst/>
              <a:rect l="l" t="t" r="r" b="b"/>
              <a:pathLst>
                <a:path w="7019" h="9720" fill="none" stroke="1">
                  <a:moveTo>
                    <a:pt x="0" y="9720"/>
                  </a:moveTo>
                  <a:lnTo>
                    <a:pt x="702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064 path"/>
            <p:cNvSpPr/>
            <p:nvPr/>
          </p:nvSpPr>
          <p:spPr>
            <a:xfrm>
              <a:off x="2010918" y="1683766"/>
              <a:ext cx="44576" cy="17144"/>
            </a:xfrm>
            <a:custGeom>
              <a:avLst/>
              <a:gdLst/>
              <a:ahLst/>
              <a:cxnLst/>
              <a:rect l="l" t="t" r="r" b="b"/>
              <a:pathLst>
                <a:path w="7019" h="2699" fill="none" stroke="1">
                  <a:moveTo>
                    <a:pt x="0" y="2700"/>
                  </a:moveTo>
                  <a:lnTo>
                    <a:pt x="702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065 path"/>
            <p:cNvSpPr/>
            <p:nvPr/>
          </p:nvSpPr>
          <p:spPr>
            <a:xfrm>
              <a:off x="2010918" y="1700911"/>
              <a:ext cx="44576" cy="27431"/>
            </a:xfrm>
            <a:custGeom>
              <a:avLst/>
              <a:gdLst/>
              <a:ahLst/>
              <a:cxnLst/>
              <a:rect l="l" t="t" r="r" b="b"/>
              <a:pathLst>
                <a:path w="7019" h="4319" fill="none" stroke="1">
                  <a:moveTo>
                    <a:pt x="0" y="0"/>
                  </a:moveTo>
                  <a:lnTo>
                    <a:pt x="7020" y="432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066 path"/>
            <p:cNvSpPr/>
            <p:nvPr/>
          </p:nvSpPr>
          <p:spPr>
            <a:xfrm>
              <a:off x="2055495" y="1639189"/>
              <a:ext cx="48006" cy="24003"/>
            </a:xfrm>
            <a:custGeom>
              <a:avLst/>
              <a:gdLst/>
              <a:ahLst/>
              <a:cxnLst/>
              <a:rect l="l" t="t" r="r" b="b"/>
              <a:pathLst>
                <a:path w="7560" h="3780" fill="none" stroke="1">
                  <a:moveTo>
                    <a:pt x="0" y="0"/>
                  </a:moveTo>
                  <a:lnTo>
                    <a:pt x="7560" y="378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067 path"/>
            <p:cNvSpPr/>
            <p:nvPr/>
          </p:nvSpPr>
          <p:spPr>
            <a:xfrm>
              <a:off x="2055495" y="1639189"/>
              <a:ext cx="48006" cy="72009"/>
            </a:xfrm>
            <a:custGeom>
              <a:avLst/>
              <a:gdLst/>
              <a:ahLst/>
              <a:cxnLst/>
              <a:rect l="l" t="t" r="r" b="b"/>
              <a:pathLst>
                <a:path w="7560" h="11340" fill="none" stroke="1">
                  <a:moveTo>
                    <a:pt x="0" y="0"/>
                  </a:moveTo>
                  <a:lnTo>
                    <a:pt x="7560" y="1134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068 path"/>
            <p:cNvSpPr/>
            <p:nvPr/>
          </p:nvSpPr>
          <p:spPr>
            <a:xfrm>
              <a:off x="2055495" y="1663192"/>
              <a:ext cx="48006" cy="20574"/>
            </a:xfrm>
            <a:custGeom>
              <a:avLst/>
              <a:gdLst/>
              <a:ahLst/>
              <a:cxnLst/>
              <a:rect l="l" t="t" r="r" b="b"/>
              <a:pathLst>
                <a:path w="7560" h="3240" fill="none" stroke="1">
                  <a:moveTo>
                    <a:pt x="0" y="3240"/>
                  </a:moveTo>
                  <a:lnTo>
                    <a:pt x="756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069 path"/>
            <p:cNvSpPr/>
            <p:nvPr/>
          </p:nvSpPr>
          <p:spPr>
            <a:xfrm>
              <a:off x="2055495" y="1683766"/>
              <a:ext cx="48006" cy="27431"/>
            </a:xfrm>
            <a:custGeom>
              <a:avLst/>
              <a:gdLst/>
              <a:ahLst/>
              <a:cxnLst/>
              <a:rect l="l" t="t" r="r" b="b"/>
              <a:pathLst>
                <a:path w="7560" h="4319" fill="none" stroke="1">
                  <a:moveTo>
                    <a:pt x="0" y="0"/>
                  </a:moveTo>
                  <a:lnTo>
                    <a:pt x="7560" y="432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070 path"/>
            <p:cNvSpPr/>
            <p:nvPr/>
          </p:nvSpPr>
          <p:spPr>
            <a:xfrm>
              <a:off x="2055495" y="1663192"/>
              <a:ext cx="48006" cy="65150"/>
            </a:xfrm>
            <a:custGeom>
              <a:avLst/>
              <a:gdLst/>
              <a:ahLst/>
              <a:cxnLst/>
              <a:rect l="l" t="t" r="r" b="b"/>
              <a:pathLst>
                <a:path w="7560" h="10259" fill="none" stroke="1">
                  <a:moveTo>
                    <a:pt x="0" y="10260"/>
                  </a:moveTo>
                  <a:lnTo>
                    <a:pt x="756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071 path"/>
            <p:cNvSpPr/>
            <p:nvPr/>
          </p:nvSpPr>
          <p:spPr>
            <a:xfrm>
              <a:off x="2055495" y="1711198"/>
              <a:ext cx="48006" cy="17144"/>
            </a:xfrm>
            <a:custGeom>
              <a:avLst/>
              <a:gdLst/>
              <a:ahLst/>
              <a:cxnLst/>
              <a:rect l="l" t="t" r="r" b="b"/>
              <a:pathLst>
                <a:path w="7560" h="2699" fill="none" stroke="1">
                  <a:moveTo>
                    <a:pt x="0" y="2700"/>
                  </a:moveTo>
                  <a:lnTo>
                    <a:pt x="756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072 circle"/>
            <p:cNvSpPr/>
            <p:nvPr/>
          </p:nvSpPr>
          <p:spPr>
            <a:xfrm>
              <a:off x="2000631" y="1639189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073 circle"/>
            <p:cNvSpPr/>
            <p:nvPr/>
          </p:nvSpPr>
          <p:spPr>
            <a:xfrm>
              <a:off x="2000631" y="1690624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074 circle"/>
            <p:cNvSpPr/>
            <p:nvPr/>
          </p:nvSpPr>
          <p:spPr>
            <a:xfrm>
              <a:off x="2045208" y="1628902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075 circle"/>
            <p:cNvSpPr/>
            <p:nvPr/>
          </p:nvSpPr>
          <p:spPr>
            <a:xfrm>
              <a:off x="2045208" y="1673479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076 circle"/>
            <p:cNvSpPr/>
            <p:nvPr/>
          </p:nvSpPr>
          <p:spPr>
            <a:xfrm>
              <a:off x="2045208" y="1718056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077 circle"/>
            <p:cNvSpPr/>
            <p:nvPr/>
          </p:nvSpPr>
          <p:spPr>
            <a:xfrm>
              <a:off x="2093214" y="1652905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078 circle"/>
            <p:cNvSpPr/>
            <p:nvPr/>
          </p:nvSpPr>
          <p:spPr>
            <a:xfrm>
              <a:off x="2093214" y="1700911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bullet"/>
          <p:cNvSpPr/>
          <p:nvPr/>
        </p:nvSpPr>
        <p:spPr>
          <a:xfrm>
            <a:off x="54000" y="1372140"/>
            <a:ext cx="21600" cy="21600"/>
          </a:xfrm>
          <a:prstGeom prst="ellipse">
            <a:avLst/>
          </a:prstGeom>
          <a:solidFill>
            <a:srgbClr val="2576BE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71" name="label only the most informative pairs"/>
          <p:cNvSpPr txBox="1"/>
          <p:nvPr/>
        </p:nvSpPr>
        <p:spPr>
          <a:xfrm>
            <a:off x="97200" y="1339200"/>
            <a:ext cx="1040551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>only the most informative pairs</a:t>
            </a:r>
            <a:endParaRPr lang="en-US" sz="600" dirty="0"/>
          </a:p>
        </p:txBody>
      </p:sp>
      <p:sp>
        <p:nvSpPr>
          <p:cNvPr id="72" name="bullet"/>
          <p:cNvSpPr/>
          <p:nvPr/>
        </p:nvSpPr>
        <p:spPr>
          <a:xfrm>
            <a:off x="54000" y="1459620"/>
            <a:ext cx="21600" cy="21600"/>
          </a:xfrm>
          <a:prstGeom prst="ellipse">
            <a:avLst/>
          </a:prstGeom>
          <a:solidFill>
            <a:srgbClr val="2576BE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73" name="label answers: a, b or “about equal”"/>
          <p:cNvSpPr txBox="1"/>
          <p:nvPr/>
        </p:nvSpPr>
        <p:spPr>
          <a:xfrm>
            <a:off x="97200" y="1426680"/>
            <a:ext cx="1010972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answers: </a:t>
            </a:r>
            <a:r>
              <a:rPr lang="en-US" sz="600" b="0" i="1" dirty="0">
                <a:solidFill>
                  <a:srgbClr val="3E5163"/>
                </a:solidFill>
                <a:latin typeface="Times New Roman"/>
                <a:cs typeface="Times New Roman"/>
              </a:rPr>
              <a:t>a</a:t>
            </a: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, </a:t>
            </a:r>
            <a:r>
              <a:rPr lang="en-US" sz="600" b="0" i="1" dirty="0">
                <a:solidFill>
                  <a:srgbClr val="3E5163"/>
                </a:solidFill>
                <a:latin typeface="Times New Roman"/>
                <a:cs typeface="Times New Roman"/>
              </a:rPr>
              <a:t>b</a:t>
            </a: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 or “about equal”</a:t>
            </a:r>
            <a:endParaRPr lang="en-US" sz="600" dirty="0"/>
          </a:p>
        </p:txBody>
      </p:sp>
      <p:sp>
        <p:nvSpPr>
          <p:cNvPr id="74" name="bullet"/>
          <p:cNvSpPr/>
          <p:nvPr/>
        </p:nvSpPr>
        <p:spPr>
          <a:xfrm>
            <a:off x="54000" y="1547100"/>
            <a:ext cx="21600" cy="21600"/>
          </a:xfrm>
          <a:prstGeom prst="ellipse">
            <a:avLst/>
          </a:prstGeom>
          <a:solidFill>
            <a:srgbClr val="2576BE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75" name="label every pair is asked in both orders"/>
          <p:cNvSpPr txBox="1"/>
          <p:nvPr/>
        </p:nvSpPr>
        <p:spPr>
          <a:xfrm>
            <a:off x="97200" y="1514160"/>
            <a:ext cx="1129586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>every pair is asked in both orders</a:t>
            </a:r>
            <a:endParaRPr lang="en-US" sz="600" dirty="0"/>
          </a:p>
        </p:txBody>
      </p:sp>
      <p:sp>
        <p:nvSpPr>
          <p:cNvPr id="76" name="subtitle"/>
          <p:cNvSpPr txBox="1"/>
          <p:nvPr/>
        </p:nvSpPr>
        <p:spPr>
          <a:xfrm>
            <a:off x="1817525" y="219600"/>
            <a:ext cx="1048550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Jointly model experiments</a:t>
            </a:r>
            <a:endParaRPr lang="en-US" sz="650" dirty="0"/>
          </a:p>
        </p:txBody>
      </p:sp>
      <p:sp>
        <p:nvSpPr>
          <p:cNvPr id="77" name="subtitle"/>
          <p:cNvSpPr txBox="1"/>
          <p:nvPr/>
        </p:nvSpPr>
        <p:spPr>
          <a:xfrm>
            <a:off x="1996451" y="314280"/>
            <a:ext cx="690698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and comparisons</a:t>
            </a:r>
            <a:endParaRPr lang="en-US" sz="650" dirty="0"/>
          </a:p>
        </p:txBody>
      </p:sp>
      <p:sp>
        <p:nvSpPr>
          <p:cNvPr id="78" name="named axis"/>
          <p:cNvSpPr/>
          <p:nvPr/>
        </p:nvSpPr>
        <p:spPr>
          <a:xfrm>
            <a:off x="1774800" y="1224000"/>
            <a:ext cx="1220400" cy="36"/>
          </a:xfrm>
          <a:custGeom>
            <a:avLst/>
            <a:gdLst/>
            <a:ahLst/>
            <a:cxnLst/>
            <a:rect l="0" t="0" r="r" b="b"/>
            <a:pathLst>
              <a:path w="1220400" h="36" fill="none">
                <a:moveTo>
                  <a:pt x="0" y="0"/>
                </a:moveTo>
                <a:lnTo>
                  <a:pt x="1220400" y="0"/>
                </a:lnTo>
              </a:path>
            </a:pathLst>
          </a:custGeom>
          <a:noFill/>
          <a:ln w="7620" cap="rnd">
            <a:solidFill>
              <a:srgbClr val="5A6B7C"/>
            </a:solidFill>
            <a:round/>
            <a:tailEnd type="triangle" w="sm" len="sm"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79" name="free axis"/>
          <p:cNvSpPr/>
          <p:nvPr/>
        </p:nvSpPr>
        <p:spPr>
          <a:xfrm>
            <a:off x="1774800" y="452160"/>
            <a:ext cx="36" cy="771840"/>
          </a:xfrm>
          <a:custGeom>
            <a:avLst/>
            <a:gdLst/>
            <a:ahLst/>
            <a:cxnLst/>
            <a:rect l="0" t="0" r="r" b="b"/>
            <a:pathLst>
              <a:path w="36" h="771840" fill="none">
                <a:moveTo>
                  <a:pt x="0" y="771840"/>
                </a:moveTo>
                <a:lnTo>
                  <a:pt x="0" y="0"/>
                </a:lnTo>
              </a:path>
            </a:pathLst>
          </a:custGeom>
          <a:noFill/>
          <a:ln w="7620" cap="rnd">
            <a:solidFill>
              <a:srgbClr val="5A6B7C"/>
            </a:solidFill>
            <a:round/>
            <a:tailEnd type="triangle" w="sm" len="sm"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0" name="label named axis: steric bulk"/>
          <p:cNvSpPr txBox="1"/>
          <p:nvPr/>
        </p:nvSpPr>
        <p:spPr>
          <a:xfrm>
            <a:off x="2212979" y="1242000"/>
            <a:ext cx="782221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named axis: steric bulk</a:t>
            </a:r>
            <a:endParaRPr lang="en-US" sz="600" dirty="0"/>
          </a:p>
        </p:txBody>
      </p:sp>
      <p:sp>
        <p:nvSpPr>
          <p:cNvPr id="81" name="free axis label"/>
          <p:cNvSpPr txBox="1"/>
          <p:nvPr/>
        </p:nvSpPr>
        <p:spPr>
          <a:xfrm rot="-5400000">
            <a:off x="1587609" y="742830"/>
            <a:ext cx="295182" cy="95250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free axis</a:t>
            </a:r>
            <a:endParaRPr lang="en-US" sz="600" dirty="0"/>
          </a:p>
        </p:txBody>
      </p:sp>
      <p:sp>
        <p:nvSpPr>
          <p:cNvPr id="82" name="LLM comparison"/>
          <p:cNvSpPr/>
          <p:nvPr/>
        </p:nvSpPr>
        <p:spPr>
          <a:xfrm>
            <a:off x="2194524" y="709546"/>
            <a:ext cx="313956" cy="309053"/>
          </a:xfrm>
          <a:custGeom>
            <a:avLst/>
            <a:gdLst/>
            <a:ahLst/>
            <a:cxnLst/>
            <a:rect l="0" t="0" r="r" b="b"/>
            <a:pathLst>
              <a:path w="313956" h="309053" fill="none">
                <a:moveTo>
                  <a:pt x="313956" y="309053"/>
                </a:moveTo>
                <a:lnTo>
                  <a:pt x="0" y="0"/>
                </a:lnTo>
              </a:path>
            </a:pathLst>
          </a:custGeom>
          <a:noFill/>
          <a:ln w="7620" cap="rnd">
            <a:solidFill>
              <a:srgbClr val="97A6B8"/>
            </a:solidFill>
            <a:prstDash val="dash"/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3" name="LLM comparison"/>
          <p:cNvSpPr/>
          <p:nvPr/>
        </p:nvSpPr>
        <p:spPr>
          <a:xfrm>
            <a:off x="2508480" y="900864"/>
            <a:ext cx="406980" cy="117734"/>
          </a:xfrm>
          <a:custGeom>
            <a:avLst/>
            <a:gdLst/>
            <a:ahLst/>
            <a:cxnLst/>
            <a:rect l="0" t="0" r="r" b="b"/>
            <a:pathLst>
              <a:path w="406980" h="117734" fill="none">
                <a:moveTo>
                  <a:pt x="406980" y="0"/>
                </a:moveTo>
                <a:lnTo>
                  <a:pt x="0" y="117734"/>
                </a:lnTo>
              </a:path>
            </a:pathLst>
          </a:custGeom>
          <a:noFill/>
          <a:ln w="7620" cap="rnd">
            <a:solidFill>
              <a:srgbClr val="97A6B8"/>
            </a:solidFill>
            <a:prstDash val="dash"/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4" name="LLM comparison"/>
          <p:cNvSpPr/>
          <p:nvPr/>
        </p:nvSpPr>
        <p:spPr>
          <a:xfrm>
            <a:off x="1927080" y="709546"/>
            <a:ext cx="267444" cy="176602"/>
          </a:xfrm>
          <a:custGeom>
            <a:avLst/>
            <a:gdLst/>
            <a:ahLst/>
            <a:cxnLst/>
            <a:rect l="0" t="0" r="r" b="b"/>
            <a:pathLst>
              <a:path w="267444" h="176602" fill="none">
                <a:moveTo>
                  <a:pt x="0" y="176602"/>
                </a:moveTo>
                <a:lnTo>
                  <a:pt x="267444" y="0"/>
                </a:lnTo>
              </a:path>
            </a:pathLst>
          </a:custGeom>
          <a:noFill/>
          <a:ln w="7620" cap="rnd">
            <a:solidFill>
              <a:srgbClr val="97A6B8"/>
            </a:solidFill>
            <a:prstDash val="dash"/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5" name="LLM comparison"/>
          <p:cNvSpPr/>
          <p:nvPr/>
        </p:nvSpPr>
        <p:spPr>
          <a:xfrm>
            <a:off x="2194524" y="650678"/>
            <a:ext cx="523260" cy="58867"/>
          </a:xfrm>
          <a:custGeom>
            <a:avLst/>
            <a:gdLst/>
            <a:ahLst/>
            <a:cxnLst/>
            <a:rect l="0" t="0" r="r" b="b"/>
            <a:pathLst>
              <a:path w="523260" h="58867" fill="none">
                <a:moveTo>
                  <a:pt x="523260" y="0"/>
                </a:moveTo>
                <a:lnTo>
                  <a:pt x="0" y="58867"/>
                </a:lnTo>
              </a:path>
            </a:pathLst>
          </a:custGeom>
          <a:noFill/>
          <a:ln w="7620" cap="rnd">
            <a:solidFill>
              <a:srgbClr val="97A6B8"/>
            </a:solidFill>
            <a:prstDash val="dash"/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6" name="posterior uncertainty"/>
          <p:cNvSpPr/>
          <p:nvPr/>
        </p:nvSpPr>
        <p:spPr>
          <a:xfrm>
            <a:off x="1886382" y="830959"/>
            <a:ext cx="81396" cy="110376"/>
          </a:xfrm>
          <a:prstGeom prst="ellipse">
            <a:avLst/>
          </a:prstGeom>
          <a:solidFill>
            <a:srgbClr val="E7E0F7">
              <a:alpha val="80000"/>
            </a:srgbClr>
          </a:solidFill>
          <a:ln w="5080" cap="flat">
            <a:solidFill>
              <a:srgbClr val="BCAEE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7" name="posterior uncertainty"/>
          <p:cNvSpPr/>
          <p:nvPr/>
        </p:nvSpPr>
        <p:spPr>
          <a:xfrm>
            <a:off x="2153826" y="654358"/>
            <a:ext cx="81396" cy="110376"/>
          </a:xfrm>
          <a:prstGeom prst="ellipse">
            <a:avLst/>
          </a:prstGeom>
          <a:solidFill>
            <a:srgbClr val="E7E0F7">
              <a:alpha val="80000"/>
            </a:srgbClr>
          </a:solidFill>
          <a:ln w="5080" cap="flat">
            <a:solidFill>
              <a:srgbClr val="BCAEE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8" name="posterior uncertainty"/>
          <p:cNvSpPr/>
          <p:nvPr/>
        </p:nvSpPr>
        <p:spPr>
          <a:xfrm>
            <a:off x="2467782" y="963410"/>
            <a:ext cx="81396" cy="110376"/>
          </a:xfrm>
          <a:prstGeom prst="ellipse">
            <a:avLst/>
          </a:prstGeom>
          <a:solidFill>
            <a:srgbClr val="E7E0F7">
              <a:alpha val="80000"/>
            </a:srgbClr>
          </a:solidFill>
          <a:ln w="5080" cap="flat">
            <a:solidFill>
              <a:srgbClr val="BCAEE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89" name="posterior uncertainty"/>
          <p:cNvSpPr/>
          <p:nvPr/>
        </p:nvSpPr>
        <p:spPr>
          <a:xfrm>
            <a:off x="2671272" y="496152"/>
            <a:ext cx="93024" cy="309053"/>
          </a:xfrm>
          <a:prstGeom prst="ellipse">
            <a:avLst/>
          </a:prstGeom>
          <a:solidFill>
            <a:srgbClr val="E7E0F7">
              <a:alpha val="80000"/>
            </a:srgbClr>
          </a:solidFill>
          <a:ln w="5080" cap="flat">
            <a:solidFill>
              <a:srgbClr val="BCAEE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90" name="posterior uncertainty"/>
          <p:cNvSpPr/>
          <p:nvPr/>
        </p:nvSpPr>
        <p:spPr>
          <a:xfrm>
            <a:off x="2868948" y="746338"/>
            <a:ext cx="93024" cy="309053"/>
          </a:xfrm>
          <a:prstGeom prst="ellipse">
            <a:avLst/>
          </a:prstGeom>
          <a:solidFill>
            <a:srgbClr val="E7E0F7">
              <a:alpha val="80000"/>
            </a:srgbClr>
          </a:solidFill>
          <a:ln w="5080" cap="flat">
            <a:solidFill>
              <a:srgbClr val="BCAEE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91" name="tested PPhMe_{2}"/>
          <p:cNvSpPr/>
          <p:nvPr/>
        </p:nvSpPr>
        <p:spPr>
          <a:xfrm>
            <a:off x="1904760" y="863827"/>
            <a:ext cx="44640" cy="44640"/>
          </a:xfrm>
          <a:prstGeom prst="ellipse">
            <a:avLst/>
          </a:prstGeom>
          <a:solidFill>
            <a:srgbClr val="7350AF"/>
          </a:solidFill>
          <a:ln w="8890" cap="flat">
            <a:solidFill>
              <a:srgbClr val="7350A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92" name="ligand label"/>
          <p:cNvSpPr txBox="1"/>
          <p:nvPr/>
        </p:nvSpPr>
        <p:spPr>
          <a:xfrm>
            <a:off x="1820553" y="914122"/>
            <a:ext cx="285054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PPhMe</a:t>
            </a:r>
            <a:r>
              <a:rPr lang="en-US" sz="6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endParaRPr lang="en-US" sz="600" dirty="0"/>
          </a:p>
        </p:txBody>
      </p:sp>
      <p:sp>
        <p:nvSpPr>
          <p:cNvPr id="93" name="tested PPh_{3}"/>
          <p:cNvSpPr/>
          <p:nvPr/>
        </p:nvSpPr>
        <p:spPr>
          <a:xfrm>
            <a:off x="2172204" y="687226"/>
            <a:ext cx="44640" cy="44640"/>
          </a:xfrm>
          <a:prstGeom prst="ellipse">
            <a:avLst/>
          </a:prstGeom>
          <a:solidFill>
            <a:srgbClr val="7350AF"/>
          </a:solidFill>
          <a:ln w="8890" cap="flat">
            <a:solidFill>
              <a:srgbClr val="7350A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94" name="ligand label"/>
          <p:cNvSpPr txBox="1"/>
          <p:nvPr/>
        </p:nvSpPr>
        <p:spPr>
          <a:xfrm>
            <a:off x="2104924" y="589921"/>
            <a:ext cx="179200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PPh</a:t>
            </a:r>
            <a:r>
              <a:rPr lang="en-US" sz="6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600" dirty="0"/>
          </a:p>
        </p:txBody>
      </p:sp>
      <p:sp>
        <p:nvSpPr>
          <p:cNvPr id="95" name="tested PCy_{3}"/>
          <p:cNvSpPr/>
          <p:nvPr/>
        </p:nvSpPr>
        <p:spPr>
          <a:xfrm>
            <a:off x="2486160" y="996278"/>
            <a:ext cx="44640" cy="44640"/>
          </a:xfrm>
          <a:prstGeom prst="ellipse">
            <a:avLst/>
          </a:prstGeom>
          <a:solidFill>
            <a:srgbClr val="7350AF"/>
          </a:solidFill>
          <a:ln w="8890" cap="flat">
            <a:solidFill>
              <a:srgbClr val="7350A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96" name="ligand label"/>
          <p:cNvSpPr txBox="1"/>
          <p:nvPr/>
        </p:nvSpPr>
        <p:spPr>
          <a:xfrm>
            <a:off x="2418918" y="1042973"/>
            <a:ext cx="179124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PCy</a:t>
            </a:r>
            <a:r>
              <a:rPr lang="en-US" sz="6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600" dirty="0"/>
          </a:p>
        </p:txBody>
      </p:sp>
      <p:sp>
        <p:nvSpPr>
          <p:cNvPr id="97" name="untested XPhos"/>
          <p:cNvSpPr/>
          <p:nvPr/>
        </p:nvSpPr>
        <p:spPr>
          <a:xfrm>
            <a:off x="2695464" y="628358"/>
            <a:ext cx="44640" cy="44640"/>
          </a:xfrm>
          <a:prstGeom prst="ellipse">
            <a:avLst/>
          </a:prstGeom>
          <a:solidFill>
            <a:srgbClr val="FFFFFF"/>
          </a:solidFill>
          <a:ln w="8890" cap="flat">
            <a:solidFill>
              <a:srgbClr val="7350A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98" name="ligand label"/>
          <p:cNvSpPr txBox="1"/>
          <p:nvPr/>
        </p:nvSpPr>
        <p:spPr>
          <a:xfrm>
            <a:off x="2453676" y="527453"/>
            <a:ext cx="231708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XPhos</a:t>
            </a:r>
            <a:endParaRPr lang="en-US" sz="600" dirty="0"/>
          </a:p>
        </p:txBody>
      </p:sp>
      <p:sp>
        <p:nvSpPr>
          <p:cNvPr id="99" name="untested P(*t*Bu)_{3}"/>
          <p:cNvSpPr/>
          <p:nvPr/>
        </p:nvSpPr>
        <p:spPr>
          <a:xfrm>
            <a:off x="2893140" y="878544"/>
            <a:ext cx="44640" cy="44640"/>
          </a:xfrm>
          <a:prstGeom prst="ellipse">
            <a:avLst/>
          </a:prstGeom>
          <a:solidFill>
            <a:srgbClr val="FFFFFF"/>
          </a:solidFill>
          <a:ln w="8890" cap="flat">
            <a:solidFill>
              <a:srgbClr val="7350A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00" name="ligand label"/>
          <p:cNvSpPr txBox="1"/>
          <p:nvPr/>
        </p:nvSpPr>
        <p:spPr>
          <a:xfrm>
            <a:off x="2771898" y="1029639"/>
            <a:ext cx="251123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P(</a:t>
            </a:r>
            <a:r>
              <a:rPr lang="en-US" sz="600" b="0" i="1" dirty="0">
                <a:solidFill>
                  <a:srgbClr val="10283B"/>
                </a:solidFill>
                <a:latin typeface="Times New Roman"/>
                <a:cs typeface="Times New Roman"/>
              </a:rPr>
              <a:t>t</a:t>
            </a: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Bu)</a:t>
            </a:r>
            <a:r>
              <a:rPr lang="en-US" sz="6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600" dirty="0"/>
          </a:p>
        </p:txBody>
      </p:sp>
      <p:sp>
        <p:nvSpPr>
          <p:cNvPr id="101" name="label ligands"/>
          <p:cNvSpPr txBox="1"/>
          <p:nvPr/>
        </p:nvSpPr>
        <p:spPr>
          <a:xfrm>
            <a:off x="1818000" y="448560"/>
            <a:ext cx="248671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1" dirty="0">
                <a:solidFill>
                  <a:srgbClr val="6B7C8C"/>
                </a:solidFill>
                <a:latin typeface="Arial"/>
                <a:cs typeface="Arial"/>
              </a:rPr>
              <a:t>ligands</a:t>
            </a:r>
            <a:endParaRPr lang="en-US" sz="600" dirty="0"/>
          </a:p>
        </p:txBody>
      </p:sp>
      <p:sp>
        <p:nvSpPr>
          <p:cNvPr id="102" name="legend"/>
          <p:cNvSpPr/>
          <p:nvPr/>
        </p:nvSpPr>
        <p:spPr>
          <a:xfrm>
            <a:off x="1688400" y="1371600"/>
            <a:ext cx="43200" cy="43200"/>
          </a:xfrm>
          <a:prstGeom prst="ellipse">
            <a:avLst/>
          </a:prstGeom>
          <a:solidFill>
            <a:srgbClr val="7350AF"/>
          </a:solidFill>
          <a:ln w="7620" cap="flat">
            <a:solidFill>
              <a:srgbClr val="7350A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03" name="label tested"/>
          <p:cNvSpPr txBox="1"/>
          <p:nvPr/>
        </p:nvSpPr>
        <p:spPr>
          <a:xfrm>
            <a:off x="1749600" y="1345575"/>
            <a:ext cx="214778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tested</a:t>
            </a:r>
            <a:endParaRPr lang="en-US" sz="600" dirty="0"/>
          </a:p>
        </p:txBody>
      </p:sp>
      <p:sp>
        <p:nvSpPr>
          <p:cNvPr id="104" name="legend"/>
          <p:cNvSpPr/>
          <p:nvPr/>
        </p:nvSpPr>
        <p:spPr>
          <a:xfrm>
            <a:off x="2005200" y="1371600"/>
            <a:ext cx="43200" cy="43200"/>
          </a:xfrm>
          <a:prstGeom prst="ellipse">
            <a:avLst/>
          </a:prstGeom>
          <a:solidFill>
            <a:srgbClr val="FFFFFF"/>
          </a:solidFill>
          <a:ln w="8890" cap="flat">
            <a:solidFill>
              <a:srgbClr val="7350A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05" name="label untested"/>
          <p:cNvSpPr txBox="1"/>
          <p:nvPr/>
        </p:nvSpPr>
        <p:spPr>
          <a:xfrm>
            <a:off x="2066400" y="1345575"/>
            <a:ext cx="299534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untested</a:t>
            </a:r>
            <a:endParaRPr lang="en-US" sz="600" dirty="0"/>
          </a:p>
        </p:txBody>
      </p:sp>
      <p:sp>
        <p:nvSpPr>
          <p:cNvPr id="106" name="legend"/>
          <p:cNvSpPr/>
          <p:nvPr/>
        </p:nvSpPr>
        <p:spPr>
          <a:xfrm>
            <a:off x="2408400" y="1393200"/>
            <a:ext cx="108000" cy="36"/>
          </a:xfrm>
          <a:custGeom>
            <a:avLst/>
            <a:gdLst/>
            <a:ahLst/>
            <a:cxnLst/>
            <a:rect l="0" t="0" r="r" b="b"/>
            <a:pathLst>
              <a:path w="108000" h="36" fill="none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7620" cap="rnd">
            <a:solidFill>
              <a:srgbClr val="97A6B8"/>
            </a:solidFill>
            <a:prstDash val="dash"/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07" name="label compared"/>
          <p:cNvSpPr txBox="1"/>
          <p:nvPr/>
        </p:nvSpPr>
        <p:spPr>
          <a:xfrm>
            <a:off x="2538000" y="1345575"/>
            <a:ext cx="346044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compared</a:t>
            </a:r>
            <a:endParaRPr lang="en-US" sz="600" dirty="0"/>
          </a:p>
        </p:txBody>
      </p:sp>
      <p:sp>
        <p:nvSpPr>
          <p:cNvPr id="108" name="bullet"/>
          <p:cNvSpPr/>
          <p:nvPr/>
        </p:nvSpPr>
        <p:spPr>
          <a:xfrm>
            <a:off x="1674000" y="1498140"/>
            <a:ext cx="21600" cy="21600"/>
          </a:xfrm>
          <a:prstGeom prst="ellipse">
            <a:avLst/>
          </a:prstGeom>
          <a:solidFill>
            <a:srgbClr val="7350AF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09" name="label experiments: GP likelihood on z"/>
          <p:cNvSpPr txBox="1"/>
          <p:nvPr/>
        </p:nvSpPr>
        <p:spPr>
          <a:xfrm>
            <a:off x="1717200" y="1465200"/>
            <a:ext cx="1068938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experiments: GP likelihood on </a:t>
            </a:r>
            <a:r>
              <a:rPr lang="en-US" sz="600" b="0" i="1" dirty="0">
                <a:solidFill>
                  <a:srgbClr val="3E5163"/>
                </a:solidFill>
                <a:latin typeface="Times New Roman"/>
                <a:cs typeface="Times New Roman"/>
              </a:rPr>
              <a:t>z</a:t>
            </a:r>
            <a:endParaRPr lang="en-US" sz="600" dirty="0"/>
          </a:p>
        </p:txBody>
      </p:sp>
      <p:sp>
        <p:nvSpPr>
          <p:cNvPr id="110" name="bullet"/>
          <p:cNvSpPr/>
          <p:nvPr/>
        </p:nvSpPr>
        <p:spPr>
          <a:xfrm>
            <a:off x="1674000" y="1585620"/>
            <a:ext cx="21600" cy="21600"/>
          </a:xfrm>
          <a:prstGeom prst="ellipse">
            <a:avLst/>
          </a:prstGeom>
          <a:solidFill>
            <a:srgbClr val="7350AF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11" name="label answers: probit, weighted by λk"/>
          <p:cNvSpPr txBox="1"/>
          <p:nvPr/>
        </p:nvSpPr>
        <p:spPr>
          <a:xfrm>
            <a:off x="1717200" y="1552680"/>
            <a:ext cx="1049402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answers: probit, weighted by </a:t>
            </a:r>
            <a:r>
              <a:rPr lang="en-US" sz="600" b="0" i="1" dirty="0">
                <a:solidFill>
                  <a:srgbClr val="3E5163"/>
                </a:solidFill>
                <a:latin typeface="Times New Roman"/>
                <a:cs typeface="Times New Roman"/>
              </a:rPr>
              <a:t>λ</a:t>
            </a:r>
            <a:r>
              <a:rPr lang="en-US" sz="600" b="0" i="1" dirty="0" baseline="-25000">
                <a:solidFill>
                  <a:srgbClr val="3E5163"/>
                </a:solidFill>
                <a:latin typeface="Times New Roman"/>
                <a:cs typeface="Times New Roman"/>
              </a:rPr>
              <a:t>k</a:t>
            </a:r>
            <a:endParaRPr lang="en-US" sz="600" dirty="0"/>
          </a:p>
        </p:txBody>
      </p:sp>
      <p:sp>
        <p:nvSpPr>
          <p:cNvPr id="112" name="subtitle"/>
          <p:cNvSpPr txBox="1"/>
          <p:nvPr/>
        </p:nvSpPr>
        <p:spPr>
          <a:xfrm>
            <a:off x="3217573" y="219600"/>
            <a:ext cx="1135655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Suggest the next experiment</a:t>
            </a:r>
            <a:endParaRPr lang="en-US" sz="650" dirty="0"/>
          </a:p>
        </p:txBody>
      </p:sp>
      <p:sp>
        <p:nvSpPr>
          <p:cNvPr id="113" name="subtitle"/>
          <p:cNvSpPr txBox="1"/>
          <p:nvPr/>
        </p:nvSpPr>
        <p:spPr>
          <a:xfrm>
            <a:off x="3495071" y="314280"/>
            <a:ext cx="580659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in latent space</a:t>
            </a:r>
            <a:endParaRPr lang="en-US" sz="650" dirty="0"/>
          </a:p>
        </p:txBody>
      </p:sp>
      <p:grpSp>
        <p:nvGrpSpPr>
          <p:cNvPr id="124" name="acquisition landscape"/>
          <p:cNvGrpSpPr/>
          <p:nvPr/>
        </p:nvGrpSpPr>
        <p:grpSpPr>
          <a:xfrm>
            <a:off x="3196800" y="452160"/>
            <a:ext cx="1177200" cy="793440"/>
            <a:chOff x="3196800" y="452160"/>
            <a:chExt cx="1177200" cy="793440"/>
          </a:xfrm>
        </p:grpSpPr>
        <p:sp>
          <p:nvSpPr>
            <p:cNvPr id="114" name="acquisition landscape background"/>
            <p:cNvSpPr/>
            <p:nvPr/>
          </p:nvSpPr>
          <p:spPr>
            <a:xfrm>
              <a:off x="3196800" y="452160"/>
              <a:ext cx="1177200" cy="793440"/>
            </a:xfrm>
            <a:prstGeom prst="roundRect">
              <a:avLst>
                <a:gd name="adj" fmla="val 4537"/>
              </a:avLst>
            </a:prstGeom>
            <a:solidFill>
              <a:srgbClr val="F2F6FA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5" name="acquisition landscape band 1"/>
            <p:cNvSpPr/>
            <p:nvPr/>
          </p:nvSpPr>
          <p:spPr>
            <a:xfrm>
              <a:off x="3249786" y="479963"/>
              <a:ext cx="1082614" cy="729689"/>
            </a:xfrm>
            <a:custGeom>
              <a:avLst/>
              <a:gdLst/>
              <a:ahLst/>
              <a:cxnLst/>
              <a:rect l="0" t="0" r="r" b="b"/>
              <a:pathLst>
                <a:path w="1082614" h="729689">
                  <a:moveTo>
                    <a:pt x="387896" y="729162"/>
                  </a:moveTo>
                  <a:lnTo>
                    <a:pt x="242451" y="729689"/>
                  </a:lnTo>
                  <a:lnTo>
                    <a:pt x="135239" y="720037"/>
                  </a:lnTo>
                  <a:lnTo>
                    <a:pt x="106096" y="712713"/>
                  </a:lnTo>
                  <a:lnTo>
                    <a:pt x="69734" y="695610"/>
                  </a:lnTo>
                  <a:lnTo>
                    <a:pt x="42463" y="671051"/>
                  </a:lnTo>
                  <a:lnTo>
                    <a:pt x="23295" y="633397"/>
                  </a:lnTo>
                  <a:lnTo>
                    <a:pt x="9319" y="583237"/>
                  </a:lnTo>
                  <a:lnTo>
                    <a:pt x="1174" y="519397"/>
                  </a:lnTo>
                  <a:lnTo>
                    <a:pt x="0" y="455557"/>
                  </a:lnTo>
                  <a:lnTo>
                    <a:pt x="5300" y="387157"/>
                  </a:lnTo>
                  <a:lnTo>
                    <a:pt x="18091" y="318757"/>
                  </a:lnTo>
                  <a:lnTo>
                    <a:pt x="35089" y="268597"/>
                  </a:lnTo>
                  <a:lnTo>
                    <a:pt x="55058" y="236677"/>
                  </a:lnTo>
                  <a:lnTo>
                    <a:pt x="87915" y="217618"/>
                  </a:lnTo>
                  <a:lnTo>
                    <a:pt x="147002" y="193699"/>
                  </a:lnTo>
                  <a:lnTo>
                    <a:pt x="369716" y="126313"/>
                  </a:lnTo>
                  <a:lnTo>
                    <a:pt x="565158" y="29864"/>
                  </a:lnTo>
                  <a:lnTo>
                    <a:pt x="600589" y="17797"/>
                  </a:lnTo>
                  <a:lnTo>
                    <a:pt x="710604" y="3739"/>
                  </a:lnTo>
                  <a:lnTo>
                    <a:pt x="846959" y="0"/>
                  </a:lnTo>
                  <a:lnTo>
                    <a:pt x="978769" y="7489"/>
                  </a:lnTo>
                  <a:lnTo>
                    <a:pt x="1014345" y="13237"/>
                  </a:lnTo>
                  <a:lnTo>
                    <a:pt x="1032754" y="22357"/>
                  </a:lnTo>
                  <a:lnTo>
                    <a:pt x="1055135" y="63397"/>
                  </a:lnTo>
                  <a:lnTo>
                    <a:pt x="1072386" y="127237"/>
                  </a:lnTo>
                  <a:lnTo>
                    <a:pt x="1081682" y="209317"/>
                  </a:lnTo>
                  <a:lnTo>
                    <a:pt x="1082614" y="305077"/>
                  </a:lnTo>
                  <a:lnTo>
                    <a:pt x="1075505" y="400837"/>
                  </a:lnTo>
                  <a:lnTo>
                    <a:pt x="1059622" y="496597"/>
                  </a:lnTo>
                  <a:lnTo>
                    <a:pt x="1039685" y="564997"/>
                  </a:lnTo>
                  <a:lnTo>
                    <a:pt x="1015130" y="609228"/>
                  </a:lnTo>
                  <a:lnTo>
                    <a:pt x="965133" y="640181"/>
                  </a:lnTo>
                  <a:lnTo>
                    <a:pt x="901501" y="668750"/>
                  </a:lnTo>
                  <a:lnTo>
                    <a:pt x="833323" y="691619"/>
                  </a:lnTo>
                  <a:lnTo>
                    <a:pt x="756055" y="709954"/>
                  </a:lnTo>
                  <a:lnTo>
                    <a:pt x="660607" y="719232"/>
                  </a:lnTo>
                  <a:lnTo>
                    <a:pt x="387896" y="729162"/>
                  </a:lnTo>
                  <a:close/>
                </a:path>
              </a:pathLst>
            </a:custGeom>
            <a:solidFill>
              <a:srgbClr val="DCE6F4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6" name="acquisition landscape band 2"/>
            <p:cNvSpPr/>
            <p:nvPr/>
          </p:nvSpPr>
          <p:spPr>
            <a:xfrm>
              <a:off x="3279109" y="498705"/>
              <a:ext cx="1032354" cy="674146"/>
            </a:xfrm>
            <a:custGeom>
              <a:avLst/>
              <a:gdLst/>
              <a:ahLst/>
              <a:cxnLst/>
              <a:rect l="0" t="0" r="r" b="b"/>
              <a:pathLst>
                <a:path w="1032354" h="674146">
                  <a:moveTo>
                    <a:pt x="281304" y="674146"/>
                  </a:moveTo>
                  <a:lnTo>
                    <a:pt x="204036" y="670584"/>
                  </a:lnTo>
                  <a:lnTo>
                    <a:pt x="135859" y="653825"/>
                  </a:lnTo>
                  <a:lnTo>
                    <a:pt x="72226" y="622512"/>
                  </a:lnTo>
                  <a:lnTo>
                    <a:pt x="26775" y="583047"/>
                  </a:lnTo>
                  <a:lnTo>
                    <a:pt x="13542" y="555375"/>
                  </a:lnTo>
                  <a:lnTo>
                    <a:pt x="5085" y="523455"/>
                  </a:lnTo>
                  <a:lnTo>
                    <a:pt x="0" y="441375"/>
                  </a:lnTo>
                  <a:lnTo>
                    <a:pt x="13371" y="363855"/>
                  </a:lnTo>
                  <a:lnTo>
                    <a:pt x="26775" y="333725"/>
                  </a:lnTo>
                  <a:lnTo>
                    <a:pt x="40554" y="318255"/>
                  </a:lnTo>
                  <a:lnTo>
                    <a:pt x="81317" y="288437"/>
                  </a:lnTo>
                  <a:lnTo>
                    <a:pt x="135859" y="261373"/>
                  </a:lnTo>
                  <a:lnTo>
                    <a:pt x="190401" y="243061"/>
                  </a:lnTo>
                  <a:lnTo>
                    <a:pt x="294940" y="216274"/>
                  </a:lnTo>
                  <a:lnTo>
                    <a:pt x="340392" y="198934"/>
                  </a:lnTo>
                  <a:lnTo>
                    <a:pt x="385843" y="172983"/>
                  </a:lnTo>
                  <a:lnTo>
                    <a:pt x="544925" y="65979"/>
                  </a:lnTo>
                  <a:lnTo>
                    <a:pt x="613102" y="33087"/>
                  </a:lnTo>
                  <a:lnTo>
                    <a:pt x="676735" y="11674"/>
                  </a:lnTo>
                  <a:lnTo>
                    <a:pt x="763093" y="0"/>
                  </a:lnTo>
                  <a:lnTo>
                    <a:pt x="869445" y="3615"/>
                  </a:lnTo>
                  <a:lnTo>
                    <a:pt x="940355" y="25330"/>
                  </a:lnTo>
                  <a:lnTo>
                    <a:pt x="976716" y="45069"/>
                  </a:lnTo>
                  <a:lnTo>
                    <a:pt x="990352" y="57735"/>
                  </a:lnTo>
                  <a:lnTo>
                    <a:pt x="1010514" y="94815"/>
                  </a:lnTo>
                  <a:lnTo>
                    <a:pt x="1024340" y="144975"/>
                  </a:lnTo>
                  <a:lnTo>
                    <a:pt x="1032000" y="208815"/>
                  </a:lnTo>
                  <a:lnTo>
                    <a:pt x="1032354" y="281775"/>
                  </a:lnTo>
                  <a:lnTo>
                    <a:pt x="1024356" y="359295"/>
                  </a:lnTo>
                  <a:lnTo>
                    <a:pt x="1009897" y="423135"/>
                  </a:lnTo>
                  <a:lnTo>
                    <a:pt x="990352" y="470893"/>
                  </a:lnTo>
                  <a:lnTo>
                    <a:pt x="968409" y="496095"/>
                  </a:lnTo>
                  <a:lnTo>
                    <a:pt x="922174" y="530885"/>
                  </a:lnTo>
                  <a:lnTo>
                    <a:pt x="876722" y="557158"/>
                  </a:lnTo>
                  <a:lnTo>
                    <a:pt x="822180" y="581122"/>
                  </a:lnTo>
                  <a:lnTo>
                    <a:pt x="763093" y="599791"/>
                  </a:lnTo>
                  <a:lnTo>
                    <a:pt x="672189" y="616882"/>
                  </a:lnTo>
                  <a:lnTo>
                    <a:pt x="504018" y="632584"/>
                  </a:lnTo>
                  <a:lnTo>
                    <a:pt x="354027" y="665447"/>
                  </a:lnTo>
                  <a:lnTo>
                    <a:pt x="281304" y="674146"/>
                  </a:lnTo>
                  <a:close/>
                </a:path>
              </a:pathLst>
            </a:custGeom>
            <a:solidFill>
              <a:srgbClr val="C1D4EC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7" name="acquisition landscape band 3"/>
            <p:cNvSpPr/>
            <p:nvPr/>
          </p:nvSpPr>
          <p:spPr>
            <a:xfrm>
              <a:off x="3308617" y="529214"/>
              <a:ext cx="985937" cy="603715"/>
            </a:xfrm>
            <a:custGeom>
              <a:avLst/>
              <a:gdLst/>
              <a:ahLst/>
              <a:cxnLst/>
              <a:rect l="0" t="0" r="r" b="b"/>
              <a:pathLst>
                <a:path w="985937" h="603715">
                  <a:moveTo>
                    <a:pt x="265432" y="602878"/>
                  </a:moveTo>
                  <a:lnTo>
                    <a:pt x="192709" y="603715"/>
                  </a:lnTo>
                  <a:lnTo>
                    <a:pt x="124532" y="587982"/>
                  </a:lnTo>
                  <a:lnTo>
                    <a:pt x="66591" y="556786"/>
                  </a:lnTo>
                  <a:lnTo>
                    <a:pt x="26125" y="515746"/>
                  </a:lnTo>
                  <a:lnTo>
                    <a:pt x="3148" y="465586"/>
                  </a:lnTo>
                  <a:lnTo>
                    <a:pt x="0" y="438226"/>
                  </a:lnTo>
                  <a:lnTo>
                    <a:pt x="2282" y="406306"/>
                  </a:lnTo>
                  <a:lnTo>
                    <a:pt x="8875" y="383506"/>
                  </a:lnTo>
                  <a:lnTo>
                    <a:pt x="23350" y="356146"/>
                  </a:lnTo>
                  <a:lnTo>
                    <a:pt x="65444" y="311728"/>
                  </a:lnTo>
                  <a:lnTo>
                    <a:pt x="101806" y="288676"/>
                  </a:lnTo>
                  <a:lnTo>
                    <a:pt x="147257" y="269694"/>
                  </a:lnTo>
                  <a:lnTo>
                    <a:pt x="288158" y="239865"/>
                  </a:lnTo>
                  <a:lnTo>
                    <a:pt x="332352" y="223906"/>
                  </a:lnTo>
                  <a:lnTo>
                    <a:pt x="369971" y="198862"/>
                  </a:lnTo>
                  <a:lnTo>
                    <a:pt x="459384" y="119026"/>
                  </a:lnTo>
                  <a:lnTo>
                    <a:pt x="515417" y="77354"/>
                  </a:lnTo>
                  <a:lnTo>
                    <a:pt x="583594" y="39539"/>
                  </a:lnTo>
                  <a:lnTo>
                    <a:pt x="656317" y="13368"/>
                  </a:lnTo>
                  <a:lnTo>
                    <a:pt x="742675" y="0"/>
                  </a:lnTo>
                  <a:lnTo>
                    <a:pt x="824488" y="6062"/>
                  </a:lnTo>
                  <a:lnTo>
                    <a:pt x="897211" y="31101"/>
                  </a:lnTo>
                  <a:lnTo>
                    <a:pt x="929027" y="50692"/>
                  </a:lnTo>
                  <a:lnTo>
                    <a:pt x="954258" y="73426"/>
                  </a:lnTo>
                  <a:lnTo>
                    <a:pt x="973140" y="114466"/>
                  </a:lnTo>
                  <a:lnTo>
                    <a:pt x="983624" y="169186"/>
                  </a:lnTo>
                  <a:lnTo>
                    <a:pt x="985937" y="233026"/>
                  </a:lnTo>
                  <a:lnTo>
                    <a:pt x="979090" y="301426"/>
                  </a:lnTo>
                  <a:lnTo>
                    <a:pt x="968053" y="347026"/>
                  </a:lnTo>
                  <a:lnTo>
                    <a:pt x="951753" y="383420"/>
                  </a:lnTo>
                  <a:lnTo>
                    <a:pt x="923248" y="415426"/>
                  </a:lnTo>
                  <a:lnTo>
                    <a:pt x="888121" y="445639"/>
                  </a:lnTo>
                  <a:lnTo>
                    <a:pt x="810853" y="491813"/>
                  </a:lnTo>
                  <a:lnTo>
                    <a:pt x="724495" y="521975"/>
                  </a:lnTo>
                  <a:lnTo>
                    <a:pt x="642681" y="535488"/>
                  </a:lnTo>
                  <a:lnTo>
                    <a:pt x="469965" y="544443"/>
                  </a:lnTo>
                  <a:lnTo>
                    <a:pt x="324519" y="590861"/>
                  </a:lnTo>
                  <a:lnTo>
                    <a:pt x="265432" y="602878"/>
                  </a:lnTo>
                  <a:close/>
                </a:path>
              </a:pathLst>
            </a:custGeom>
            <a:solidFill>
              <a:srgbClr val="AACAE4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8" name="acquisition landscape band 4"/>
            <p:cNvSpPr/>
            <p:nvPr/>
          </p:nvSpPr>
          <p:spPr>
            <a:xfrm>
              <a:off x="3354265" y="557352"/>
              <a:ext cx="922428" cy="542607"/>
            </a:xfrm>
            <a:custGeom>
              <a:avLst/>
              <a:gdLst/>
              <a:ahLst/>
              <a:cxnLst/>
              <a:rect l="0" t="0" r="r" b="b"/>
              <a:pathLst>
                <a:path w="922428" h="542607">
                  <a:moveTo>
                    <a:pt x="201603" y="542607"/>
                  </a:moveTo>
                  <a:lnTo>
                    <a:pt x="147061" y="542169"/>
                  </a:lnTo>
                  <a:lnTo>
                    <a:pt x="92519" y="528328"/>
                  </a:lnTo>
                  <a:lnTo>
                    <a:pt x="46305" y="501288"/>
                  </a:lnTo>
                  <a:lnTo>
                    <a:pt x="14627" y="464808"/>
                  </a:lnTo>
                  <a:lnTo>
                    <a:pt x="0" y="423768"/>
                  </a:lnTo>
                  <a:lnTo>
                    <a:pt x="3511" y="378168"/>
                  </a:lnTo>
                  <a:lnTo>
                    <a:pt x="25503" y="337128"/>
                  </a:lnTo>
                  <a:lnTo>
                    <a:pt x="65248" y="302153"/>
                  </a:lnTo>
                  <a:lnTo>
                    <a:pt x="97064" y="285696"/>
                  </a:lnTo>
                  <a:lnTo>
                    <a:pt x="137971" y="272630"/>
                  </a:lnTo>
                  <a:lnTo>
                    <a:pt x="269781" y="257351"/>
                  </a:lnTo>
                  <a:lnTo>
                    <a:pt x="310688" y="243954"/>
                  </a:lnTo>
                  <a:lnTo>
                    <a:pt x="342504" y="219183"/>
                  </a:lnTo>
                  <a:lnTo>
                    <a:pt x="418754" y="131928"/>
                  </a:lnTo>
                  <a:lnTo>
                    <a:pt x="475316" y="81768"/>
                  </a:lnTo>
                  <a:lnTo>
                    <a:pt x="547037" y="38031"/>
                  </a:lnTo>
                  <a:lnTo>
                    <a:pt x="619759" y="11338"/>
                  </a:lnTo>
                  <a:lnTo>
                    <a:pt x="706118" y="0"/>
                  </a:lnTo>
                  <a:lnTo>
                    <a:pt x="783386" y="9921"/>
                  </a:lnTo>
                  <a:lnTo>
                    <a:pt x="819747" y="23005"/>
                  </a:lnTo>
                  <a:lnTo>
                    <a:pt x="851563" y="40748"/>
                  </a:lnTo>
                  <a:lnTo>
                    <a:pt x="879430" y="63528"/>
                  </a:lnTo>
                  <a:lnTo>
                    <a:pt x="901560" y="89990"/>
                  </a:lnTo>
                  <a:lnTo>
                    <a:pt x="915196" y="122824"/>
                  </a:lnTo>
                  <a:lnTo>
                    <a:pt x="922428" y="172968"/>
                  </a:lnTo>
                  <a:lnTo>
                    <a:pt x="920878" y="227688"/>
                  </a:lnTo>
                  <a:lnTo>
                    <a:pt x="910651" y="278074"/>
                  </a:lnTo>
                  <a:lnTo>
                    <a:pt x="895327" y="309768"/>
                  </a:lnTo>
                  <a:lnTo>
                    <a:pt x="867946" y="346248"/>
                  </a:lnTo>
                  <a:lnTo>
                    <a:pt x="835390" y="378168"/>
                  </a:lnTo>
                  <a:lnTo>
                    <a:pt x="797021" y="406480"/>
                  </a:lnTo>
                  <a:lnTo>
                    <a:pt x="724298" y="442597"/>
                  </a:lnTo>
                  <a:lnTo>
                    <a:pt x="642485" y="463961"/>
                  </a:lnTo>
                  <a:lnTo>
                    <a:pt x="574308" y="469428"/>
                  </a:lnTo>
                  <a:lnTo>
                    <a:pt x="451588" y="462629"/>
                  </a:lnTo>
                  <a:lnTo>
                    <a:pt x="406136" y="466332"/>
                  </a:lnTo>
                  <a:lnTo>
                    <a:pt x="369775" y="478630"/>
                  </a:lnTo>
                  <a:lnTo>
                    <a:pt x="274326" y="524987"/>
                  </a:lnTo>
                  <a:lnTo>
                    <a:pt x="201603" y="542607"/>
                  </a:lnTo>
                  <a:close/>
                </a:path>
              </a:pathLst>
            </a:custGeom>
            <a:solidFill>
              <a:srgbClr val="9ACED8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9" name="acquisition landscape band 5"/>
            <p:cNvSpPr/>
            <p:nvPr/>
          </p:nvSpPr>
          <p:spPr>
            <a:xfrm>
              <a:off x="3395063" y="580659"/>
              <a:ext cx="861512" cy="490417"/>
            </a:xfrm>
            <a:custGeom>
              <a:avLst/>
              <a:gdLst/>
              <a:ahLst/>
              <a:cxnLst/>
              <a:rect l="0" t="0" r="r" b="b"/>
              <a:pathLst>
                <a:path w="861512" h="490417">
                  <a:moveTo>
                    <a:pt x="169896" y="487198"/>
                  </a:moveTo>
                  <a:lnTo>
                    <a:pt x="124445" y="490417"/>
                  </a:lnTo>
                  <a:lnTo>
                    <a:pt x="78993" y="482107"/>
                  </a:lnTo>
                  <a:lnTo>
                    <a:pt x="42631" y="464286"/>
                  </a:lnTo>
                  <a:lnTo>
                    <a:pt x="14470" y="436941"/>
                  </a:lnTo>
                  <a:lnTo>
                    <a:pt x="0" y="405021"/>
                  </a:lnTo>
                  <a:lnTo>
                    <a:pt x="173" y="368541"/>
                  </a:lnTo>
                  <a:lnTo>
                    <a:pt x="14842" y="336621"/>
                  </a:lnTo>
                  <a:lnTo>
                    <a:pt x="42509" y="309261"/>
                  </a:lnTo>
                  <a:lnTo>
                    <a:pt x="78993" y="290026"/>
                  </a:lnTo>
                  <a:lnTo>
                    <a:pt x="124445" y="278789"/>
                  </a:lnTo>
                  <a:lnTo>
                    <a:pt x="169896" y="276437"/>
                  </a:lnTo>
                  <a:lnTo>
                    <a:pt x="260800" y="282455"/>
                  </a:lnTo>
                  <a:lnTo>
                    <a:pt x="292616" y="274960"/>
                  </a:lnTo>
                  <a:lnTo>
                    <a:pt x="315342" y="254626"/>
                  </a:lnTo>
                  <a:lnTo>
                    <a:pt x="377674" y="154221"/>
                  </a:lnTo>
                  <a:lnTo>
                    <a:pt x="429611" y="94941"/>
                  </a:lnTo>
                  <a:lnTo>
                    <a:pt x="501694" y="42848"/>
                  </a:lnTo>
                  <a:lnTo>
                    <a:pt x="578962" y="11350"/>
                  </a:lnTo>
                  <a:lnTo>
                    <a:pt x="660775" y="0"/>
                  </a:lnTo>
                  <a:lnTo>
                    <a:pt x="733498" y="9968"/>
                  </a:lnTo>
                  <a:lnTo>
                    <a:pt x="765314" y="22052"/>
                  </a:lnTo>
                  <a:lnTo>
                    <a:pt x="797130" y="41105"/>
                  </a:lnTo>
                  <a:lnTo>
                    <a:pt x="821382" y="63021"/>
                  </a:lnTo>
                  <a:lnTo>
                    <a:pt x="841357" y="90381"/>
                  </a:lnTo>
                  <a:lnTo>
                    <a:pt x="855137" y="122301"/>
                  </a:lnTo>
                  <a:lnTo>
                    <a:pt x="861512" y="158781"/>
                  </a:lnTo>
                  <a:lnTo>
                    <a:pt x="859765" y="195261"/>
                  </a:lnTo>
                  <a:lnTo>
                    <a:pt x="848584" y="236301"/>
                  </a:lnTo>
                  <a:lnTo>
                    <a:pt x="830228" y="272781"/>
                  </a:lnTo>
                  <a:lnTo>
                    <a:pt x="802669" y="309261"/>
                  </a:lnTo>
                  <a:lnTo>
                    <a:pt x="769859" y="340238"/>
                  </a:lnTo>
                  <a:lnTo>
                    <a:pt x="733498" y="365600"/>
                  </a:lnTo>
                  <a:lnTo>
                    <a:pt x="656230" y="399754"/>
                  </a:lnTo>
                  <a:lnTo>
                    <a:pt x="569872" y="415079"/>
                  </a:lnTo>
                  <a:lnTo>
                    <a:pt x="501694" y="412882"/>
                  </a:lnTo>
                  <a:lnTo>
                    <a:pt x="378974" y="388706"/>
                  </a:lnTo>
                  <a:lnTo>
                    <a:pt x="342613" y="389272"/>
                  </a:lnTo>
                  <a:lnTo>
                    <a:pt x="315342" y="402023"/>
                  </a:lnTo>
                  <a:lnTo>
                    <a:pt x="233529" y="463771"/>
                  </a:lnTo>
                  <a:lnTo>
                    <a:pt x="201712" y="478408"/>
                  </a:lnTo>
                  <a:lnTo>
                    <a:pt x="169896" y="487198"/>
                  </a:lnTo>
                  <a:close/>
                </a:path>
              </a:pathLst>
            </a:custGeom>
            <a:solidFill>
              <a:srgbClr val="A8D8C0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0" name="acquisition landscape band 6"/>
            <p:cNvSpPr/>
            <p:nvPr/>
          </p:nvSpPr>
          <p:spPr>
            <a:xfrm>
              <a:off x="3439576" y="603339"/>
              <a:ext cx="788234" cy="432567"/>
            </a:xfrm>
            <a:custGeom>
              <a:avLst/>
              <a:gdLst/>
              <a:ahLst/>
              <a:cxnLst/>
              <a:rect l="0" t="0" r="r" b="b"/>
              <a:pathLst>
                <a:path w="788234" h="432567">
                  <a:moveTo>
                    <a:pt x="538993" y="364335"/>
                  </a:moveTo>
                  <a:lnTo>
                    <a:pt x="484451" y="363289"/>
                  </a:lnTo>
                  <a:lnTo>
                    <a:pt x="429909" y="351972"/>
                  </a:lnTo>
                  <a:lnTo>
                    <a:pt x="382876" y="332181"/>
                  </a:lnTo>
                  <a:lnTo>
                    <a:pt x="346682" y="304821"/>
                  </a:lnTo>
                  <a:lnTo>
                    <a:pt x="330404" y="277461"/>
                  </a:lnTo>
                  <a:lnTo>
                    <a:pt x="326348" y="245541"/>
                  </a:lnTo>
                  <a:lnTo>
                    <a:pt x="333333" y="204501"/>
                  </a:lnTo>
                  <a:lnTo>
                    <a:pt x="349310" y="163461"/>
                  </a:lnTo>
                  <a:lnTo>
                    <a:pt x="377787" y="117861"/>
                  </a:lnTo>
                  <a:lnTo>
                    <a:pt x="411729" y="80839"/>
                  </a:lnTo>
                  <a:lnTo>
                    <a:pt x="457180" y="46193"/>
                  </a:lnTo>
                  <a:lnTo>
                    <a:pt x="507177" y="20816"/>
                  </a:lnTo>
                  <a:lnTo>
                    <a:pt x="557174" y="5741"/>
                  </a:lnTo>
                  <a:lnTo>
                    <a:pt x="611716" y="0"/>
                  </a:lnTo>
                  <a:lnTo>
                    <a:pt x="661713" y="5197"/>
                  </a:lnTo>
                  <a:lnTo>
                    <a:pt x="707165" y="21019"/>
                  </a:lnTo>
                  <a:lnTo>
                    <a:pt x="752617" y="54681"/>
                  </a:lnTo>
                  <a:lnTo>
                    <a:pt x="769364" y="76821"/>
                  </a:lnTo>
                  <a:lnTo>
                    <a:pt x="782036" y="104181"/>
                  </a:lnTo>
                  <a:lnTo>
                    <a:pt x="788080" y="131541"/>
                  </a:lnTo>
                  <a:lnTo>
                    <a:pt x="788234" y="163461"/>
                  </a:lnTo>
                  <a:lnTo>
                    <a:pt x="781637" y="195381"/>
                  </a:lnTo>
                  <a:lnTo>
                    <a:pt x="770618" y="222741"/>
                  </a:lnTo>
                  <a:lnTo>
                    <a:pt x="734436" y="274459"/>
                  </a:lnTo>
                  <a:lnTo>
                    <a:pt x="679894" y="319056"/>
                  </a:lnTo>
                  <a:lnTo>
                    <a:pt x="611716" y="350389"/>
                  </a:lnTo>
                  <a:lnTo>
                    <a:pt x="538993" y="364335"/>
                  </a:lnTo>
                  <a:close/>
                  <a:moveTo>
                    <a:pt x="93566" y="432567"/>
                  </a:moveTo>
                  <a:lnTo>
                    <a:pt x="48115" y="425442"/>
                  </a:lnTo>
                  <a:lnTo>
                    <a:pt x="27227" y="414261"/>
                  </a:lnTo>
                  <a:lnTo>
                    <a:pt x="12761" y="400581"/>
                  </a:lnTo>
                  <a:lnTo>
                    <a:pt x="0" y="368661"/>
                  </a:lnTo>
                  <a:lnTo>
                    <a:pt x="2033" y="350421"/>
                  </a:lnTo>
                  <a:lnTo>
                    <a:pt x="10981" y="332181"/>
                  </a:lnTo>
                  <a:lnTo>
                    <a:pt x="43570" y="305685"/>
                  </a:lnTo>
                  <a:lnTo>
                    <a:pt x="84476" y="294259"/>
                  </a:lnTo>
                  <a:lnTo>
                    <a:pt x="134473" y="297256"/>
                  </a:lnTo>
                  <a:lnTo>
                    <a:pt x="173950" y="313941"/>
                  </a:lnTo>
                  <a:lnTo>
                    <a:pt x="188236" y="327621"/>
                  </a:lnTo>
                  <a:lnTo>
                    <a:pt x="195865" y="345861"/>
                  </a:lnTo>
                  <a:lnTo>
                    <a:pt x="194748" y="364101"/>
                  </a:lnTo>
                  <a:lnTo>
                    <a:pt x="183730" y="386901"/>
                  </a:lnTo>
                  <a:lnTo>
                    <a:pt x="166573" y="405141"/>
                  </a:lnTo>
                  <a:lnTo>
                    <a:pt x="145741" y="418821"/>
                  </a:lnTo>
                  <a:lnTo>
                    <a:pt x="120838" y="428400"/>
                  </a:lnTo>
                  <a:lnTo>
                    <a:pt x="93566" y="432567"/>
                  </a:lnTo>
                  <a:close/>
                </a:path>
              </a:pathLst>
            </a:custGeom>
            <a:solidFill>
              <a:srgbClr val="C0E0A5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1" name="acquisition landscape band 7"/>
            <p:cNvSpPr/>
            <p:nvPr/>
          </p:nvSpPr>
          <p:spPr>
            <a:xfrm>
              <a:off x="3809472" y="626260"/>
              <a:ext cx="390523" cy="314428"/>
            </a:xfrm>
            <a:custGeom>
              <a:avLst/>
              <a:gdLst/>
              <a:ahLst/>
              <a:cxnLst/>
              <a:rect l="0" t="0" r="r" b="b"/>
              <a:pathLst>
                <a:path w="390523" h="314428">
                  <a:moveTo>
                    <a:pt x="182734" y="314125"/>
                  </a:moveTo>
                  <a:lnTo>
                    <a:pt x="137282" y="314428"/>
                  </a:lnTo>
                  <a:lnTo>
                    <a:pt x="91830" y="305776"/>
                  </a:lnTo>
                  <a:lnTo>
                    <a:pt x="55469" y="290338"/>
                  </a:lnTo>
                  <a:lnTo>
                    <a:pt x="26348" y="268220"/>
                  </a:lnTo>
                  <a:lnTo>
                    <a:pt x="7515" y="240860"/>
                  </a:lnTo>
                  <a:lnTo>
                    <a:pt x="0" y="213500"/>
                  </a:lnTo>
                  <a:lnTo>
                    <a:pt x="1492" y="177020"/>
                  </a:lnTo>
                  <a:lnTo>
                    <a:pt x="13025" y="140540"/>
                  </a:lnTo>
                  <a:lnTo>
                    <a:pt x="34156" y="104060"/>
                  </a:lnTo>
                  <a:lnTo>
                    <a:pt x="64559" y="69747"/>
                  </a:lnTo>
                  <a:lnTo>
                    <a:pt x="100921" y="41480"/>
                  </a:lnTo>
                  <a:lnTo>
                    <a:pt x="141827" y="19889"/>
                  </a:lnTo>
                  <a:lnTo>
                    <a:pt x="187279" y="5455"/>
                  </a:lnTo>
                  <a:lnTo>
                    <a:pt x="232731" y="0"/>
                  </a:lnTo>
                  <a:lnTo>
                    <a:pt x="273637" y="3108"/>
                  </a:lnTo>
                  <a:lnTo>
                    <a:pt x="314544" y="15634"/>
                  </a:lnTo>
                  <a:lnTo>
                    <a:pt x="356876" y="44780"/>
                  </a:lnTo>
                  <a:lnTo>
                    <a:pt x="383228" y="85820"/>
                  </a:lnTo>
                  <a:lnTo>
                    <a:pt x="390523" y="135980"/>
                  </a:lnTo>
                  <a:lnTo>
                    <a:pt x="377798" y="186140"/>
                  </a:lnTo>
                  <a:lnTo>
                    <a:pt x="346360" y="234015"/>
                  </a:lnTo>
                  <a:lnTo>
                    <a:pt x="300908" y="272827"/>
                  </a:lnTo>
                  <a:lnTo>
                    <a:pt x="246366" y="299849"/>
                  </a:lnTo>
                  <a:lnTo>
                    <a:pt x="182734" y="314125"/>
                  </a:lnTo>
                  <a:close/>
                </a:path>
              </a:pathLst>
            </a:custGeom>
            <a:solidFill>
              <a:srgbClr val="E3E290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2" name="acquisition landscape band 8"/>
            <p:cNvSpPr/>
            <p:nvPr/>
          </p:nvSpPr>
          <p:spPr>
            <a:xfrm>
              <a:off x="3846011" y="650432"/>
              <a:ext cx="324617" cy="263622"/>
            </a:xfrm>
            <a:custGeom>
              <a:avLst/>
              <a:gdLst/>
              <a:ahLst/>
              <a:cxnLst/>
              <a:rect l="0" t="0" r="r" b="b"/>
              <a:pathLst>
                <a:path w="324617" h="263622">
                  <a:moveTo>
                    <a:pt x="155285" y="262542"/>
                  </a:moveTo>
                  <a:lnTo>
                    <a:pt x="118923" y="263622"/>
                  </a:lnTo>
                  <a:lnTo>
                    <a:pt x="82562" y="257705"/>
                  </a:lnTo>
                  <a:lnTo>
                    <a:pt x="50746" y="244937"/>
                  </a:lnTo>
                  <a:lnTo>
                    <a:pt x="28020" y="228568"/>
                  </a:lnTo>
                  <a:lnTo>
                    <a:pt x="11175" y="207568"/>
                  </a:lnTo>
                  <a:lnTo>
                    <a:pt x="1069" y="180208"/>
                  </a:lnTo>
                  <a:lnTo>
                    <a:pt x="0" y="152848"/>
                  </a:lnTo>
                  <a:lnTo>
                    <a:pt x="7734" y="120928"/>
                  </a:lnTo>
                  <a:lnTo>
                    <a:pt x="24641" y="89008"/>
                  </a:lnTo>
                  <a:lnTo>
                    <a:pt x="47561" y="61648"/>
                  </a:lnTo>
                  <a:lnTo>
                    <a:pt x="75003" y="38848"/>
                  </a:lnTo>
                  <a:lnTo>
                    <a:pt x="109833" y="19015"/>
                  </a:lnTo>
                  <a:lnTo>
                    <a:pt x="146194" y="6181"/>
                  </a:lnTo>
                  <a:lnTo>
                    <a:pt x="187101" y="0"/>
                  </a:lnTo>
                  <a:lnTo>
                    <a:pt x="223462" y="1980"/>
                  </a:lnTo>
                  <a:lnTo>
                    <a:pt x="255278" y="10696"/>
                  </a:lnTo>
                  <a:lnTo>
                    <a:pt x="291640" y="33068"/>
                  </a:lnTo>
                  <a:lnTo>
                    <a:pt x="315977" y="66208"/>
                  </a:lnTo>
                  <a:lnTo>
                    <a:pt x="324617" y="107248"/>
                  </a:lnTo>
                  <a:lnTo>
                    <a:pt x="316816" y="148288"/>
                  </a:lnTo>
                  <a:lnTo>
                    <a:pt x="292964" y="189328"/>
                  </a:lnTo>
                  <a:lnTo>
                    <a:pt x="255278" y="224379"/>
                  </a:lnTo>
                  <a:lnTo>
                    <a:pt x="209827" y="248814"/>
                  </a:lnTo>
                  <a:lnTo>
                    <a:pt x="155285" y="262542"/>
                  </a:lnTo>
                  <a:close/>
                </a:path>
              </a:pathLst>
            </a:custGeom>
            <a:solidFill>
              <a:srgbClr val="F2D47B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3" name="acquisition landscape band 9"/>
            <p:cNvSpPr/>
            <p:nvPr/>
          </p:nvSpPr>
          <p:spPr>
            <a:xfrm>
              <a:off x="3882985" y="676969"/>
              <a:ext cx="253805" cy="208175"/>
            </a:xfrm>
            <a:custGeom>
              <a:avLst/>
              <a:gdLst/>
              <a:ahLst/>
              <a:cxnLst/>
              <a:rect l="0" t="0" r="r" b="b"/>
              <a:pathLst>
                <a:path w="253805" h="208175">
                  <a:moveTo>
                    <a:pt x="136491" y="204635"/>
                  </a:moveTo>
                  <a:lnTo>
                    <a:pt x="104675" y="208175"/>
                  </a:lnTo>
                  <a:lnTo>
                    <a:pt x="77404" y="205974"/>
                  </a:lnTo>
                  <a:lnTo>
                    <a:pt x="53554" y="199271"/>
                  </a:lnTo>
                  <a:lnTo>
                    <a:pt x="31952" y="187565"/>
                  </a:lnTo>
                  <a:lnTo>
                    <a:pt x="15440" y="171911"/>
                  </a:lnTo>
                  <a:lnTo>
                    <a:pt x="4920" y="153671"/>
                  </a:lnTo>
                  <a:lnTo>
                    <a:pt x="0" y="130871"/>
                  </a:lnTo>
                  <a:lnTo>
                    <a:pt x="1937" y="108071"/>
                  </a:lnTo>
                  <a:lnTo>
                    <a:pt x="9904" y="85271"/>
                  </a:lnTo>
                  <a:lnTo>
                    <a:pt x="24141" y="62471"/>
                  </a:lnTo>
                  <a:lnTo>
                    <a:pt x="68314" y="23974"/>
                  </a:lnTo>
                  <a:lnTo>
                    <a:pt x="122856" y="2982"/>
                  </a:lnTo>
                  <a:lnTo>
                    <a:pt x="154672" y="0"/>
                  </a:lnTo>
                  <a:lnTo>
                    <a:pt x="181943" y="3036"/>
                  </a:lnTo>
                  <a:lnTo>
                    <a:pt x="216416" y="16871"/>
                  </a:lnTo>
                  <a:lnTo>
                    <a:pt x="240778" y="39671"/>
                  </a:lnTo>
                  <a:lnTo>
                    <a:pt x="253805" y="71591"/>
                  </a:lnTo>
                  <a:lnTo>
                    <a:pt x="252706" y="103511"/>
                  </a:lnTo>
                  <a:lnTo>
                    <a:pt x="239652" y="135431"/>
                  </a:lnTo>
                  <a:lnTo>
                    <a:pt x="212437" y="167351"/>
                  </a:lnTo>
                  <a:lnTo>
                    <a:pt x="177398" y="190523"/>
                  </a:lnTo>
                  <a:lnTo>
                    <a:pt x="136491" y="204635"/>
                  </a:lnTo>
                  <a:close/>
                </a:path>
              </a:pathLst>
            </a:custGeom>
            <a:solidFill>
              <a:srgbClr val="F5BC66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125" name="observed experiment"/>
          <p:cNvSpPr/>
          <p:nvPr/>
        </p:nvSpPr>
        <p:spPr>
          <a:xfrm>
            <a:off x="3367152" y="1053043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26" name="observed experiment"/>
          <p:cNvSpPr/>
          <p:nvPr/>
        </p:nvSpPr>
        <p:spPr>
          <a:xfrm>
            <a:off x="3496644" y="878486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27" name="observed experiment"/>
          <p:cNvSpPr/>
          <p:nvPr/>
        </p:nvSpPr>
        <p:spPr>
          <a:xfrm>
            <a:off x="3614364" y="1037174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28" name="observed experiment"/>
          <p:cNvSpPr/>
          <p:nvPr/>
        </p:nvSpPr>
        <p:spPr>
          <a:xfrm>
            <a:off x="3708540" y="767405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29" name="observed experiment"/>
          <p:cNvSpPr/>
          <p:nvPr/>
        </p:nvSpPr>
        <p:spPr>
          <a:xfrm>
            <a:off x="3838032" y="941962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0" name="observed experiment"/>
          <p:cNvSpPr/>
          <p:nvPr/>
        </p:nvSpPr>
        <p:spPr>
          <a:xfrm>
            <a:off x="3437784" y="688061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1" name="observed experiment"/>
          <p:cNvSpPr/>
          <p:nvPr/>
        </p:nvSpPr>
        <p:spPr>
          <a:xfrm>
            <a:off x="3955752" y="1100650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2" name="observed experiment"/>
          <p:cNvSpPr/>
          <p:nvPr/>
        </p:nvSpPr>
        <p:spPr>
          <a:xfrm>
            <a:off x="4191192" y="1005437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3" name="observed experiment"/>
          <p:cNvSpPr/>
          <p:nvPr/>
        </p:nvSpPr>
        <p:spPr>
          <a:xfrm>
            <a:off x="3649680" y="624586"/>
            <a:ext cx="36000" cy="36000"/>
          </a:xfrm>
          <a:prstGeom prst="ellipse">
            <a:avLst/>
          </a:prstGeom>
          <a:solidFill>
            <a:srgbClr val="4F6070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4" name="to next experiment"/>
          <p:cNvSpPr/>
          <p:nvPr/>
        </p:nvSpPr>
        <p:spPr>
          <a:xfrm>
            <a:off x="3874032" y="783936"/>
            <a:ext cx="96408" cy="154426"/>
          </a:xfrm>
          <a:custGeom>
            <a:avLst/>
            <a:gdLst/>
            <a:ahLst/>
            <a:cxnLst/>
            <a:rect l="0" t="0" r="r" b="b"/>
            <a:pathLst>
              <a:path w="96408" h="154426" fill="none">
                <a:moveTo>
                  <a:pt x="0" y="154426"/>
                </a:moveTo>
                <a:cubicBezTo>
                  <a:pt x="46800" y="68026"/>
                  <a:pt x="38808" y="28800"/>
                  <a:pt x="96408" y="0"/>
                </a:cubicBezTo>
              </a:path>
            </a:pathLst>
          </a:custGeom>
          <a:noFill/>
          <a:ln w="11430" cap="rnd">
            <a:solidFill>
              <a:srgbClr val="D3612A"/>
            </a:solidFill>
            <a:round/>
            <a:tailEnd type="triangle" w="sm" len="sm"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5" name="next experiment"/>
          <p:cNvSpPr/>
          <p:nvPr/>
        </p:nvSpPr>
        <p:spPr>
          <a:xfrm>
            <a:off x="3969483" y="715536"/>
            <a:ext cx="102714" cy="97687"/>
          </a:xfrm>
          <a:custGeom>
            <a:avLst/>
            <a:gdLst/>
            <a:ahLst/>
            <a:cxnLst/>
            <a:rect l="0" t="0" r="r" b="b"/>
            <a:pathLst>
              <a:path w="102714" h="97687">
                <a:moveTo>
                  <a:pt x="51357" y="0"/>
                </a:moveTo>
                <a:lnTo>
                  <a:pt x="65640" y="34341"/>
                </a:lnTo>
                <a:lnTo>
                  <a:pt x="102714" y="37313"/>
                </a:lnTo>
                <a:lnTo>
                  <a:pt x="74468" y="61509"/>
                </a:lnTo>
                <a:lnTo>
                  <a:pt x="83097" y="97687"/>
                </a:lnTo>
                <a:lnTo>
                  <a:pt x="51357" y="78300"/>
                </a:lnTo>
                <a:lnTo>
                  <a:pt x="19617" y="97687"/>
                </a:lnTo>
                <a:lnTo>
                  <a:pt x="28246" y="61509"/>
                </a:lnTo>
                <a:lnTo>
                  <a:pt x="0" y="37313"/>
                </a:lnTo>
                <a:lnTo>
                  <a:pt x="37074" y="34341"/>
                </a:lnTo>
                <a:close/>
              </a:path>
            </a:pathLst>
          </a:custGeom>
          <a:solidFill>
            <a:srgbClr val="FFD54A"/>
          </a:solidFill>
          <a:ln w="7620" cap="rnd">
            <a:solidFill>
              <a:srgbClr val="132432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6" name="next experiment label"/>
          <p:cNvSpPr txBox="1"/>
          <p:nvPr/>
        </p:nvSpPr>
        <p:spPr>
          <a:xfrm>
            <a:off x="3864294" y="602286"/>
            <a:ext cx="457092" cy="95250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1" dirty="0">
                <a:solidFill>
                  <a:srgbClr val="10283B"/>
                </a:solidFill>
                <a:latin typeface="Times New Roman"/>
                <a:cs typeface="Times New Roman"/>
              </a:rPr>
              <a:t>x</a:t>
            </a:r>
            <a:r>
              <a:rPr lang="en-US" sz="600" b="0" i="1" dirty="0" baseline="-25000">
                <a:solidFill>
                  <a:srgbClr val="10283B"/>
                </a:solidFill>
                <a:latin typeface="Times New Roman"/>
                <a:cs typeface="Times New Roman"/>
              </a:rPr>
              <a:t>t</a:t>
            </a: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 xml:space="preserve"> = argmax </a:t>
            </a:r>
            <a:r>
              <a:rPr lang="en-US" sz="600" b="0" i="1" dirty="0">
                <a:solidFill>
                  <a:srgbClr val="10283B"/>
                </a:solidFill>
                <a:latin typeface="Times New Roman"/>
                <a:cs typeface="Times New Roman"/>
              </a:rPr>
              <a:t>α</a:t>
            </a:r>
            <a:endParaRPr lang="en-US" sz="600" dirty="0"/>
          </a:p>
        </p:txBody>
      </p:sp>
      <p:sp>
        <p:nvSpPr>
          <p:cNvPr id="137" name="bullet"/>
          <p:cNvSpPr/>
          <p:nvPr/>
        </p:nvSpPr>
        <p:spPr>
          <a:xfrm>
            <a:off x="3204000" y="1314540"/>
            <a:ext cx="21600" cy="21600"/>
          </a:xfrm>
          <a:prstGeom prst="ellipse">
            <a:avLst/>
          </a:prstGeom>
          <a:solidFill>
            <a:srgbClr val="369D60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38" name="label α: qLogNEI averaged over"/>
          <p:cNvSpPr txBox="1"/>
          <p:nvPr/>
        </p:nvSpPr>
        <p:spPr>
          <a:xfrm>
            <a:off x="3247200" y="1281600"/>
            <a:ext cx="894400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1" dirty="0">
                <a:solidFill>
                  <a:srgbClr val="3E5163"/>
                </a:solidFill>
                <a:latin typeface="Times New Roman"/>
                <a:cs typeface="Times New Roman"/>
              </a:rPr>
              <a:t>α</a:t>
            </a: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>: qLogNEI averaged over</a:t>
            </a:r>
            <a:endParaRPr lang="en-US" sz="600" dirty="0"/>
          </a:p>
        </p:txBody>
      </p:sp>
      <p:sp>
        <p:nvSpPr>
          <p:cNvPr id="139" name="bullet"/>
          <p:cNvSpPr/>
          <p:nvPr/>
        </p:nvSpPr>
        <p:spPr>
          <a:xfrm>
            <a:off x="3204000" y="1402020"/>
            <a:ext cx="21600" cy="21600"/>
          </a:xfrm>
          <a:prstGeom prst="ellipse">
            <a:avLst/>
          </a:prstGeom>
          <a:solidFill>
            <a:srgbClr val="369D60"/>
          </a:solidFill>
          <a:ln>
            <a:noFill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40" name="label S = 32 coordinate samples"/>
          <p:cNvSpPr txBox="1"/>
          <p:nvPr/>
        </p:nvSpPr>
        <p:spPr>
          <a:xfrm>
            <a:off x="3247200" y="1369080"/>
            <a:ext cx="898827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1" dirty="0">
                <a:solidFill>
                  <a:srgbClr val="3E5163"/>
                </a:solidFill>
                <a:latin typeface="Times New Roman"/>
                <a:cs typeface="Times New Roman"/>
              </a:rPr>
              <a:t>S</a:t>
            </a: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 = 32 coordinate samples</a:t>
            </a:r>
            <a:endParaRPr lang="en-US" sz="600" dirty="0"/>
          </a:p>
        </p:txBody>
      </p:sp>
      <p:grpSp>
        <p:nvGrpSpPr>
          <p:cNvPr id="144" name="flask"/>
          <p:cNvGrpSpPr/>
          <p:nvPr/>
        </p:nvGrpSpPr>
        <p:grpSpPr>
          <a:xfrm>
            <a:off x="3207600" y="1485360"/>
            <a:ext cx="98743" cy="129600"/>
            <a:chOff x="2717800" y="787400"/>
            <a:chExt cx="304800" cy="400050"/>
          </a:xfrm>
        </p:grpSpPr>
        <p:sp>
          <p:nvSpPr>
            <p:cNvPr id="141" name="033 chemistry flask"/>
            <p:cNvSpPr/>
            <p:nvPr/>
          </p:nvSpPr>
          <p:spPr>
            <a:xfrm>
              <a:off x="2717800" y="787400"/>
              <a:ext cx="304800" cy="400050"/>
            </a:xfrm>
            <a:custGeom>
              <a:avLst/>
              <a:gdLst/>
              <a:ahLst/>
              <a:cxnLst/>
              <a:rect l="l" t="t" r="r" b="b"/>
              <a:pathLst>
                <a:path w="48000" h="63000" fill="norm" stroke="1">
                  <a:moveTo>
                    <a:pt x="15000" y="0"/>
                  </a:moveTo>
                  <a:lnTo>
                    <a:pt x="34000" y="0"/>
                  </a:lnTo>
                  <a:lnTo>
                    <a:pt x="34000" y="5000"/>
                  </a:lnTo>
                  <a:lnTo>
                    <a:pt x="31000" y="5000"/>
                  </a:lnTo>
                  <a:lnTo>
                    <a:pt x="31000" y="27000"/>
                  </a:lnTo>
                  <a:lnTo>
                    <a:pt x="45000" y="53000"/>
                  </a:lnTo>
                  <a:quadBezTo>
                    <a:pt x="48000" y="63000"/>
                    <a:pt x="37000" y="63000"/>
                  </a:quadBezTo>
                  <a:lnTo>
                    <a:pt x="12000" y="63000"/>
                  </a:lnTo>
                  <a:quadBezTo>
                    <a:pt x="0" y="63000"/>
                    <a:pt x="5000" y="53000"/>
                  </a:quadBezTo>
                  <a:lnTo>
                    <a:pt x="18000" y="27000"/>
                  </a:lnTo>
                  <a:lnTo>
                    <a:pt x="18000" y="5000"/>
                  </a:lnTo>
                  <a:lnTo>
                    <a:pt x="15000" y="5000"/>
                  </a:lnTo>
                  <a:close/>
                </a:path>
              </a:pathLst>
            </a:custGeom>
            <a:solidFill>
              <a:srgbClr val="F5FAFF"/>
            </a:solidFill>
            <a:ln w="5715">
              <a:solidFill>
                <a:srgbClr val="6A9E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034 path"/>
            <p:cNvSpPr/>
            <p:nvPr/>
          </p:nvSpPr>
          <p:spPr>
            <a:xfrm>
              <a:off x="2749550" y="1041400"/>
              <a:ext cx="241300" cy="127000"/>
            </a:xfrm>
            <a:custGeom>
              <a:avLst/>
              <a:gdLst/>
              <a:ahLst/>
              <a:cxnLst/>
              <a:rect l="l" t="t" r="r" b="b"/>
              <a:pathLst>
                <a:path w="38000" h="20000" fill="norm" stroke="1">
                  <a:moveTo>
                    <a:pt x="8000" y="1000"/>
                  </a:moveTo>
                  <a:quadBezTo>
                    <a:pt x="15000" y="4000"/>
                    <a:pt x="30000" y="0"/>
                  </a:quadBezTo>
                  <a:lnTo>
                    <a:pt x="37000" y="15000"/>
                  </a:lnTo>
                  <a:quadBezTo>
                    <a:pt x="38000" y="20000"/>
                    <a:pt x="30000" y="20000"/>
                  </a:quadBezTo>
                  <a:lnTo>
                    <a:pt x="8000" y="20000"/>
                  </a:lnTo>
                  <a:quadBezTo>
                    <a:pt x="0" y="20000"/>
                    <a:pt x="5000" y="11000"/>
                  </a:quadBezTo>
                  <a:close/>
                </a:path>
              </a:pathLst>
            </a:custGeom>
            <a:solidFill>
              <a:srgbClr val="A19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035 path"/>
            <p:cNvSpPr/>
            <p:nvPr/>
          </p:nvSpPr>
          <p:spPr>
            <a:xfrm>
              <a:off x="2774950" y="1092200"/>
              <a:ext cx="25400" cy="44450"/>
            </a:xfrm>
            <a:custGeom>
              <a:avLst/>
              <a:gdLst/>
              <a:ahLst/>
              <a:cxnLst/>
              <a:rect l="l" t="t" r="r" b="b"/>
              <a:pathLst>
                <a:path w="4000" h="7000" fill="none" stroke="1">
                  <a:moveTo>
                    <a:pt x="4000" y="0"/>
                  </a:moveTo>
                  <a:lnTo>
                    <a:pt x="0" y="7000"/>
                  </a:lnTo>
                </a:path>
              </a:pathLst>
            </a:custGeom>
            <a:noFill/>
            <a:ln w="7143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5" name="label run xt in the lab, observe yt"/>
          <p:cNvSpPr txBox="1"/>
          <p:nvPr/>
        </p:nvSpPr>
        <p:spPr>
          <a:xfrm>
            <a:off x="3342343" y="1502535"/>
            <a:ext cx="899129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 xml:space="preserve">run </a:t>
            </a:r>
            <a:r>
              <a:rPr lang="en-US" sz="600" b="0" i="1" dirty="0">
                <a:solidFill>
                  <a:srgbClr val="10283B"/>
                </a:solidFill>
                <a:latin typeface="Times New Roman"/>
                <a:cs typeface="Times New Roman"/>
              </a:rPr>
              <a:t>x</a:t>
            </a:r>
            <a:r>
              <a:rPr lang="en-US" sz="600" b="0" i="1" dirty="0" baseline="-25000">
                <a:solidFill>
                  <a:srgbClr val="10283B"/>
                </a:solidFill>
                <a:latin typeface="Times New Roman"/>
                <a:cs typeface="Times New Roman"/>
              </a:rPr>
              <a:t>t</a:t>
            </a: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 xml:space="preserve"> in the lab, observe </a:t>
            </a:r>
            <a:r>
              <a:rPr lang="en-US" sz="600" b="0" i="1" dirty="0">
                <a:solidFill>
                  <a:srgbClr val="10283B"/>
                </a:solidFill>
                <a:latin typeface="Times New Roman"/>
                <a:cs typeface="Times New Roman"/>
              </a:rPr>
              <a:t>y</a:t>
            </a:r>
            <a:r>
              <a:rPr lang="en-US" sz="600" b="0" i="1" dirty="0" baseline="-25000">
                <a:solidFill>
                  <a:srgbClr val="10283B"/>
                </a:solidFill>
                <a:latin typeface="Times New Roman"/>
                <a:cs typeface="Times New Roman"/>
              </a:rPr>
              <a:t>t</a:t>
            </a:r>
            <a:endParaRPr lang="en-US" sz="600" dirty="0"/>
          </a:p>
        </p:txBody>
      </p:sp>
      <p:sp>
        <p:nvSpPr>
          <p:cNvPr id="146" name="label Name new axes"/>
          <p:cNvSpPr txBox="1"/>
          <p:nvPr/>
        </p:nvSpPr>
        <p:spPr>
          <a:xfrm>
            <a:off x="4822553" y="219600"/>
            <a:ext cx="622094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Name new axes</a:t>
            </a:r>
            <a:endParaRPr lang="en-US" sz="650" dirty="0"/>
          </a:p>
        </p:txBody>
      </p:sp>
      <p:sp>
        <p:nvSpPr>
          <p:cNvPr id="147" name="label once a free dimension matters"/>
          <p:cNvSpPr txBox="1"/>
          <p:nvPr/>
        </p:nvSpPr>
        <p:spPr>
          <a:xfrm>
            <a:off x="4617510" y="314280"/>
            <a:ext cx="1032179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>once a free dimension matters</a:t>
            </a:r>
            <a:endParaRPr lang="en-US" sz="600" dirty="0"/>
          </a:p>
        </p:txBody>
      </p:sp>
      <p:sp>
        <p:nvSpPr>
          <p:cNvPr id="148" name="free dimension axis"/>
          <p:cNvSpPr/>
          <p:nvPr/>
        </p:nvSpPr>
        <p:spPr>
          <a:xfrm>
            <a:off x="4582800" y="624960"/>
            <a:ext cx="1101600" cy="36"/>
          </a:xfrm>
          <a:custGeom>
            <a:avLst/>
            <a:gdLst/>
            <a:ahLst/>
            <a:cxnLst/>
            <a:rect l="0" t="0" r="r" b="b"/>
            <a:pathLst>
              <a:path w="1101600" h="36" fill="none">
                <a:moveTo>
                  <a:pt x="0" y="0"/>
                </a:moveTo>
                <a:lnTo>
                  <a:pt x="1101600" y="0"/>
                </a:lnTo>
              </a:path>
            </a:pathLst>
          </a:custGeom>
          <a:noFill/>
          <a:ln w="7620" cap="rnd">
            <a:solidFill>
              <a:srgbClr val="5A6B7C"/>
            </a:solidFill>
            <a:round/>
            <a:tailEnd type="triangle" w="sm" len="sm"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49" name="label free dimension r"/>
          <p:cNvSpPr txBox="1"/>
          <p:nvPr/>
        </p:nvSpPr>
        <p:spPr>
          <a:xfrm>
            <a:off x="5126574" y="642960"/>
            <a:ext cx="557826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 xml:space="preserve">free dimension </a:t>
            </a:r>
            <a:r>
              <a:rPr lang="en-US" sz="600" b="0" i="1" dirty="0">
                <a:solidFill>
                  <a:srgbClr val="10283B"/>
                </a:solidFill>
                <a:latin typeface="Times New Roman"/>
                <a:cs typeface="Times New Roman"/>
              </a:rPr>
              <a:t>r</a:t>
            </a:r>
            <a:endParaRPr lang="en-US" sz="600" dirty="0"/>
          </a:p>
        </p:txBody>
      </p:sp>
      <p:sp>
        <p:nvSpPr>
          <p:cNvPr id="150" name="reagent group"/>
          <p:cNvSpPr/>
          <p:nvPr/>
        </p:nvSpPr>
        <p:spPr>
          <a:xfrm>
            <a:off x="4582800" y="506160"/>
            <a:ext cx="330480" cy="79200"/>
          </a:xfrm>
          <a:prstGeom prst="roundRect">
            <a:avLst>
              <a:gd name="adj" fmla="val 50000"/>
            </a:avLst>
          </a:prstGeom>
          <a:noFill/>
          <a:ln w="6350" cap="flat">
            <a:solidFill>
              <a:srgbClr val="5E8FCC"/>
            </a:solidFill>
            <a:prstDash val="dash"/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1" name="reagent"/>
          <p:cNvSpPr/>
          <p:nvPr/>
        </p:nvSpPr>
        <p:spPr>
          <a:xfrm>
            <a:off x="4630896" y="527760"/>
            <a:ext cx="36000" cy="36000"/>
          </a:xfrm>
          <a:prstGeom prst="ellipse">
            <a:avLst/>
          </a:prstGeom>
          <a:solidFill>
            <a:srgbClr val="5E8FCC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2" name="reagent"/>
          <p:cNvSpPr/>
          <p:nvPr/>
        </p:nvSpPr>
        <p:spPr>
          <a:xfrm>
            <a:off x="4730040" y="527760"/>
            <a:ext cx="36000" cy="36000"/>
          </a:xfrm>
          <a:prstGeom prst="ellipse">
            <a:avLst/>
          </a:prstGeom>
          <a:solidFill>
            <a:srgbClr val="5E8FCC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3" name="reagent"/>
          <p:cNvSpPr/>
          <p:nvPr/>
        </p:nvSpPr>
        <p:spPr>
          <a:xfrm>
            <a:off x="4829184" y="527760"/>
            <a:ext cx="36000" cy="36000"/>
          </a:xfrm>
          <a:prstGeom prst="ellipse">
            <a:avLst/>
          </a:prstGeom>
          <a:solidFill>
            <a:srgbClr val="5E8FCC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4" name="label 3 lowest"/>
          <p:cNvSpPr txBox="1"/>
          <p:nvPr/>
        </p:nvSpPr>
        <p:spPr>
          <a:xfrm>
            <a:off x="4604673" y="396510"/>
            <a:ext cx="286735" cy="95250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5E8FCC"/>
                </a:solidFill>
                <a:latin typeface="Arial"/>
                <a:cs typeface="Arial"/>
              </a:rPr>
              <a:t>3 lowest</a:t>
            </a:r>
            <a:endParaRPr lang="en-US" sz="600" dirty="0"/>
          </a:p>
        </p:txBody>
      </p:sp>
      <p:sp>
        <p:nvSpPr>
          <p:cNvPr id="155" name="reagent group"/>
          <p:cNvSpPr/>
          <p:nvPr/>
        </p:nvSpPr>
        <p:spPr>
          <a:xfrm>
            <a:off x="5287824" y="506160"/>
            <a:ext cx="330480" cy="79200"/>
          </a:xfrm>
          <a:prstGeom prst="roundRect">
            <a:avLst>
              <a:gd name="adj" fmla="val 50000"/>
            </a:avLst>
          </a:prstGeom>
          <a:noFill/>
          <a:ln w="6350" cap="flat">
            <a:solidFill>
              <a:srgbClr val="E0702F"/>
            </a:solidFill>
            <a:prstDash val="dash"/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6" name="reagent"/>
          <p:cNvSpPr/>
          <p:nvPr/>
        </p:nvSpPr>
        <p:spPr>
          <a:xfrm>
            <a:off x="5335920" y="527760"/>
            <a:ext cx="36000" cy="36000"/>
          </a:xfrm>
          <a:prstGeom prst="ellipse">
            <a:avLst/>
          </a:prstGeom>
          <a:solidFill>
            <a:srgbClr val="E0702F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7" name="reagent"/>
          <p:cNvSpPr/>
          <p:nvPr/>
        </p:nvSpPr>
        <p:spPr>
          <a:xfrm>
            <a:off x="5435064" y="527760"/>
            <a:ext cx="36000" cy="36000"/>
          </a:xfrm>
          <a:prstGeom prst="ellipse">
            <a:avLst/>
          </a:prstGeom>
          <a:solidFill>
            <a:srgbClr val="E0702F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8" name="reagent"/>
          <p:cNvSpPr/>
          <p:nvPr/>
        </p:nvSpPr>
        <p:spPr>
          <a:xfrm>
            <a:off x="5534208" y="527760"/>
            <a:ext cx="36000" cy="36000"/>
          </a:xfrm>
          <a:prstGeom prst="ellipse">
            <a:avLst/>
          </a:prstGeom>
          <a:solidFill>
            <a:srgbClr val="E0702F"/>
          </a:solidFill>
          <a:ln w="508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59" name="label 3 highest"/>
          <p:cNvSpPr txBox="1"/>
          <p:nvPr/>
        </p:nvSpPr>
        <p:spPr>
          <a:xfrm>
            <a:off x="5294833" y="396510"/>
            <a:ext cx="316463" cy="95250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E0702F"/>
                </a:solidFill>
                <a:latin typeface="Arial"/>
                <a:cs typeface="Arial"/>
              </a:rPr>
              <a:t>3 highest</a:t>
            </a:r>
            <a:endParaRPr lang="en-US" sz="600" dirty="0"/>
          </a:p>
        </p:txBody>
      </p:sp>
      <p:grpSp>
        <p:nvGrpSpPr>
          <p:cNvPr id="162" name="LLM (robot)"/>
          <p:cNvGrpSpPr/>
          <p:nvPr/>
        </p:nvGrpSpPr>
        <p:grpSpPr>
          <a:xfrm>
            <a:off x="4675014" y="813240"/>
            <a:ext cx="136800" cy="149897"/>
            <a:chOff x="1800860" y="1327150"/>
            <a:chExt cx="492125" cy="539242"/>
          </a:xfrm>
        </p:grpSpPr>
        <p:sp>
          <p:nvSpPr>
            <p:cNvPr id="163" name="046 circle"/>
            <p:cNvSpPr/>
            <p:nvPr/>
          </p:nvSpPr>
          <p:spPr>
            <a:xfrm>
              <a:off x="1800860" y="1665732"/>
              <a:ext cx="492125" cy="2006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047 circle"/>
            <p:cNvSpPr/>
            <p:nvPr/>
          </p:nvSpPr>
          <p:spPr>
            <a:xfrm>
              <a:off x="1807210" y="1672082"/>
              <a:ext cx="479425" cy="1879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048 circle"/>
            <p:cNvSpPr/>
            <p:nvPr/>
          </p:nvSpPr>
          <p:spPr>
            <a:xfrm>
              <a:off x="1813560" y="1678432"/>
              <a:ext cx="466725" cy="1752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049 circle"/>
            <p:cNvSpPr/>
            <p:nvPr/>
          </p:nvSpPr>
          <p:spPr>
            <a:xfrm>
              <a:off x="1819910" y="1684782"/>
              <a:ext cx="454025" cy="1625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050 circle"/>
            <p:cNvSpPr/>
            <p:nvPr/>
          </p:nvSpPr>
          <p:spPr>
            <a:xfrm>
              <a:off x="1826260" y="1691132"/>
              <a:ext cx="441325" cy="14986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051 box"/>
            <p:cNvSpPr/>
            <p:nvPr/>
          </p:nvSpPr>
          <p:spPr>
            <a:xfrm>
              <a:off x="1901189" y="1327150"/>
              <a:ext cx="308610" cy="229743"/>
            </a:xfrm>
            <a:prstGeom prst="roundRect">
              <a:avLst>
                <a:gd name="adj" fmla="val 23880"/>
              </a:avLst>
            </a:prstGeom>
            <a:gradFill rotWithShape="1">
              <a:gsLst>
                <a:gs pos="0">
                  <a:srgbClr val="F9FCFE"/>
                </a:gs>
                <a:gs pos="100000">
                  <a:srgbClr val="DFEAF1"/>
                </a:gs>
              </a:gsLst>
              <a:lin ang="5400000" scaled="1"/>
            </a:gra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052 box"/>
            <p:cNvSpPr/>
            <p:nvPr/>
          </p:nvSpPr>
          <p:spPr>
            <a:xfrm>
              <a:off x="1884045" y="1409446"/>
              <a:ext cx="20574" cy="6858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053 box"/>
            <p:cNvSpPr/>
            <p:nvPr/>
          </p:nvSpPr>
          <p:spPr>
            <a:xfrm>
              <a:off x="2209800" y="1409446"/>
              <a:ext cx="20574" cy="6858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054 box"/>
            <p:cNvSpPr/>
            <p:nvPr/>
          </p:nvSpPr>
          <p:spPr>
            <a:xfrm>
              <a:off x="1942338" y="1371727"/>
              <a:ext cx="226314" cy="13716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365568"/>
                </a:gs>
                <a:gs pos="100000">
                  <a:srgbClr val="183449"/>
                </a:gs>
              </a:gsLst>
              <a:lin ang="5400000" scaled="1"/>
            </a:gradFill>
            <a:ln w="308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055 circle"/>
            <p:cNvSpPr/>
            <p:nvPr/>
          </p:nvSpPr>
          <p:spPr>
            <a:xfrm>
              <a:off x="1986914" y="1419733"/>
              <a:ext cx="34290" cy="34290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056 circle"/>
            <p:cNvSpPr/>
            <p:nvPr/>
          </p:nvSpPr>
          <p:spPr>
            <a:xfrm>
              <a:off x="2093214" y="1419733"/>
              <a:ext cx="34290" cy="34290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057 path"/>
            <p:cNvSpPr/>
            <p:nvPr/>
          </p:nvSpPr>
          <p:spPr>
            <a:xfrm>
              <a:off x="2034920" y="1478026"/>
              <a:ext cx="44577" cy="13716"/>
            </a:xfrm>
            <a:custGeom>
              <a:avLst/>
              <a:gdLst/>
              <a:ahLst/>
              <a:cxnLst/>
              <a:rect l="l" t="t" r="r" b="b"/>
              <a:pathLst>
                <a:path w="7020" h="2160" fill="none" stroke="1">
                  <a:moveTo>
                    <a:pt x="0" y="0"/>
                  </a:moveTo>
                  <a:quadBezTo>
                    <a:pt x="3240" y="2160"/>
                    <a:pt x="7020" y="0"/>
                  </a:quadBezTo>
                </a:path>
              </a:pathLst>
            </a:custGeom>
            <a:noFill/>
            <a:ln w="2314">
              <a:solidFill>
                <a:srgbClr val="76B3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058 robot body"/>
            <p:cNvSpPr/>
            <p:nvPr/>
          </p:nvSpPr>
          <p:spPr>
            <a:xfrm>
              <a:off x="1877187" y="1550035"/>
              <a:ext cx="356615" cy="253746"/>
            </a:xfrm>
            <a:custGeom>
              <a:avLst/>
              <a:gdLst/>
              <a:ahLst/>
              <a:cxnLst/>
              <a:rect l="l" t="t" r="r" b="b"/>
              <a:pathLst>
                <a:path w="56159" h="39960" fill="norm" stroke="1">
                  <a:moveTo>
                    <a:pt x="0" y="39960"/>
                  </a:moveTo>
                  <a:lnTo>
                    <a:pt x="0" y="18360"/>
                  </a:lnTo>
                  <a:cubicBezTo>
                    <a:pt x="0" y="0"/>
                    <a:pt x="12420" y="1620"/>
                    <a:pt x="27000" y="1620"/>
                  </a:cubicBezTo>
                  <a:cubicBezTo>
                    <a:pt x="46440" y="1620"/>
                    <a:pt x="55620" y="2160"/>
                    <a:pt x="56160" y="17820"/>
                  </a:cubicBezTo>
                  <a:lnTo>
                    <a:pt x="56160" y="39960"/>
                  </a:lnTo>
                </a:path>
              </a:pathLst>
            </a:custGeom>
            <a:solidFill>
              <a:srgbClr val="E9F0F5"/>
            </a:solidFill>
            <a:ln w="3703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059 circle"/>
            <p:cNvSpPr/>
            <p:nvPr/>
          </p:nvSpPr>
          <p:spPr>
            <a:xfrm>
              <a:off x="1966341" y="1604899"/>
              <a:ext cx="178308" cy="178308"/>
            </a:xfrm>
            <a:prstGeom prst="ellipse">
              <a:avLst/>
            </a:prstGeom>
            <a:solidFill>
              <a:srgbClr val="2144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060 path"/>
            <p:cNvSpPr/>
            <p:nvPr/>
          </p:nvSpPr>
          <p:spPr>
            <a:xfrm>
              <a:off x="2010918" y="1639189"/>
              <a:ext cx="44576" cy="10287"/>
            </a:xfrm>
            <a:custGeom>
              <a:avLst/>
              <a:gdLst/>
              <a:ahLst/>
              <a:cxnLst/>
              <a:rect l="l" t="t" r="r" b="b"/>
              <a:pathLst>
                <a:path w="7019" h="1620" fill="none" stroke="1">
                  <a:moveTo>
                    <a:pt x="0" y="1620"/>
                  </a:moveTo>
                  <a:lnTo>
                    <a:pt x="702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061 path"/>
            <p:cNvSpPr/>
            <p:nvPr/>
          </p:nvSpPr>
          <p:spPr>
            <a:xfrm>
              <a:off x="2010918" y="1649476"/>
              <a:ext cx="44576" cy="34290"/>
            </a:xfrm>
            <a:custGeom>
              <a:avLst/>
              <a:gdLst/>
              <a:ahLst/>
              <a:cxnLst/>
              <a:rect l="l" t="t" r="r" b="b"/>
              <a:pathLst>
                <a:path w="7019" h="5400" fill="none" stroke="1">
                  <a:moveTo>
                    <a:pt x="0" y="0"/>
                  </a:moveTo>
                  <a:lnTo>
                    <a:pt x="7020" y="540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062 path"/>
            <p:cNvSpPr/>
            <p:nvPr/>
          </p:nvSpPr>
          <p:spPr>
            <a:xfrm>
              <a:off x="2010918" y="1649476"/>
              <a:ext cx="44576" cy="78867"/>
            </a:xfrm>
            <a:custGeom>
              <a:avLst/>
              <a:gdLst/>
              <a:ahLst/>
              <a:cxnLst/>
              <a:rect l="l" t="t" r="r" b="b"/>
              <a:pathLst>
                <a:path w="7019" h="12420" fill="none" stroke="1">
                  <a:moveTo>
                    <a:pt x="0" y="0"/>
                  </a:moveTo>
                  <a:lnTo>
                    <a:pt x="7020" y="1242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063 path"/>
            <p:cNvSpPr/>
            <p:nvPr/>
          </p:nvSpPr>
          <p:spPr>
            <a:xfrm>
              <a:off x="2010918" y="1639189"/>
              <a:ext cx="44576" cy="61722"/>
            </a:xfrm>
            <a:custGeom>
              <a:avLst/>
              <a:gdLst/>
              <a:ahLst/>
              <a:cxnLst/>
              <a:rect l="l" t="t" r="r" b="b"/>
              <a:pathLst>
                <a:path w="7019" h="9720" fill="none" stroke="1">
                  <a:moveTo>
                    <a:pt x="0" y="9720"/>
                  </a:moveTo>
                  <a:lnTo>
                    <a:pt x="702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064 path"/>
            <p:cNvSpPr/>
            <p:nvPr/>
          </p:nvSpPr>
          <p:spPr>
            <a:xfrm>
              <a:off x="2010918" y="1683766"/>
              <a:ext cx="44576" cy="17144"/>
            </a:xfrm>
            <a:custGeom>
              <a:avLst/>
              <a:gdLst/>
              <a:ahLst/>
              <a:cxnLst/>
              <a:rect l="l" t="t" r="r" b="b"/>
              <a:pathLst>
                <a:path w="7019" h="2699" fill="none" stroke="1">
                  <a:moveTo>
                    <a:pt x="0" y="2700"/>
                  </a:moveTo>
                  <a:lnTo>
                    <a:pt x="702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065 path"/>
            <p:cNvSpPr/>
            <p:nvPr/>
          </p:nvSpPr>
          <p:spPr>
            <a:xfrm>
              <a:off x="2010918" y="1700911"/>
              <a:ext cx="44576" cy="27431"/>
            </a:xfrm>
            <a:custGeom>
              <a:avLst/>
              <a:gdLst/>
              <a:ahLst/>
              <a:cxnLst/>
              <a:rect l="l" t="t" r="r" b="b"/>
              <a:pathLst>
                <a:path w="7019" h="4319" fill="none" stroke="1">
                  <a:moveTo>
                    <a:pt x="0" y="0"/>
                  </a:moveTo>
                  <a:lnTo>
                    <a:pt x="7020" y="432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066 path"/>
            <p:cNvSpPr/>
            <p:nvPr/>
          </p:nvSpPr>
          <p:spPr>
            <a:xfrm>
              <a:off x="2055495" y="1639189"/>
              <a:ext cx="48006" cy="24003"/>
            </a:xfrm>
            <a:custGeom>
              <a:avLst/>
              <a:gdLst/>
              <a:ahLst/>
              <a:cxnLst/>
              <a:rect l="l" t="t" r="r" b="b"/>
              <a:pathLst>
                <a:path w="7560" h="3780" fill="none" stroke="1">
                  <a:moveTo>
                    <a:pt x="0" y="0"/>
                  </a:moveTo>
                  <a:lnTo>
                    <a:pt x="7560" y="378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067 path"/>
            <p:cNvSpPr/>
            <p:nvPr/>
          </p:nvSpPr>
          <p:spPr>
            <a:xfrm>
              <a:off x="2055495" y="1639189"/>
              <a:ext cx="48006" cy="72009"/>
            </a:xfrm>
            <a:custGeom>
              <a:avLst/>
              <a:gdLst/>
              <a:ahLst/>
              <a:cxnLst/>
              <a:rect l="l" t="t" r="r" b="b"/>
              <a:pathLst>
                <a:path w="7560" h="11340" fill="none" stroke="1">
                  <a:moveTo>
                    <a:pt x="0" y="0"/>
                  </a:moveTo>
                  <a:lnTo>
                    <a:pt x="7560" y="1134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068 path"/>
            <p:cNvSpPr/>
            <p:nvPr/>
          </p:nvSpPr>
          <p:spPr>
            <a:xfrm>
              <a:off x="2055495" y="1663192"/>
              <a:ext cx="48006" cy="20574"/>
            </a:xfrm>
            <a:custGeom>
              <a:avLst/>
              <a:gdLst/>
              <a:ahLst/>
              <a:cxnLst/>
              <a:rect l="l" t="t" r="r" b="b"/>
              <a:pathLst>
                <a:path w="7560" h="3240" fill="none" stroke="1">
                  <a:moveTo>
                    <a:pt x="0" y="3240"/>
                  </a:moveTo>
                  <a:lnTo>
                    <a:pt x="756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069 path"/>
            <p:cNvSpPr/>
            <p:nvPr/>
          </p:nvSpPr>
          <p:spPr>
            <a:xfrm>
              <a:off x="2055495" y="1683766"/>
              <a:ext cx="48006" cy="27431"/>
            </a:xfrm>
            <a:custGeom>
              <a:avLst/>
              <a:gdLst/>
              <a:ahLst/>
              <a:cxnLst/>
              <a:rect l="l" t="t" r="r" b="b"/>
              <a:pathLst>
                <a:path w="7560" h="4319" fill="none" stroke="1">
                  <a:moveTo>
                    <a:pt x="0" y="0"/>
                  </a:moveTo>
                  <a:lnTo>
                    <a:pt x="7560" y="432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070 path"/>
            <p:cNvSpPr/>
            <p:nvPr/>
          </p:nvSpPr>
          <p:spPr>
            <a:xfrm>
              <a:off x="2055495" y="1663192"/>
              <a:ext cx="48006" cy="65150"/>
            </a:xfrm>
            <a:custGeom>
              <a:avLst/>
              <a:gdLst/>
              <a:ahLst/>
              <a:cxnLst/>
              <a:rect l="l" t="t" r="r" b="b"/>
              <a:pathLst>
                <a:path w="7560" h="10259" fill="none" stroke="1">
                  <a:moveTo>
                    <a:pt x="0" y="10260"/>
                  </a:moveTo>
                  <a:lnTo>
                    <a:pt x="756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071 path"/>
            <p:cNvSpPr/>
            <p:nvPr/>
          </p:nvSpPr>
          <p:spPr>
            <a:xfrm>
              <a:off x="2055495" y="1711198"/>
              <a:ext cx="48006" cy="17144"/>
            </a:xfrm>
            <a:custGeom>
              <a:avLst/>
              <a:gdLst/>
              <a:ahLst/>
              <a:cxnLst/>
              <a:rect l="l" t="t" r="r" b="b"/>
              <a:pathLst>
                <a:path w="7560" h="2699" fill="none" stroke="1">
                  <a:moveTo>
                    <a:pt x="0" y="2700"/>
                  </a:moveTo>
                  <a:lnTo>
                    <a:pt x="7560" y="0"/>
                  </a:lnTo>
                </a:path>
              </a:pathLst>
            </a:custGeom>
            <a:noFill/>
            <a:ln w="2005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072 circle"/>
            <p:cNvSpPr/>
            <p:nvPr/>
          </p:nvSpPr>
          <p:spPr>
            <a:xfrm>
              <a:off x="2000631" y="1639189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073 circle"/>
            <p:cNvSpPr/>
            <p:nvPr/>
          </p:nvSpPr>
          <p:spPr>
            <a:xfrm>
              <a:off x="2000631" y="1690624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074 circle"/>
            <p:cNvSpPr/>
            <p:nvPr/>
          </p:nvSpPr>
          <p:spPr>
            <a:xfrm>
              <a:off x="2045208" y="1628902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075 circle"/>
            <p:cNvSpPr/>
            <p:nvPr/>
          </p:nvSpPr>
          <p:spPr>
            <a:xfrm>
              <a:off x="2045208" y="1673479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076 circle"/>
            <p:cNvSpPr/>
            <p:nvPr/>
          </p:nvSpPr>
          <p:spPr>
            <a:xfrm>
              <a:off x="2045208" y="1718056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077 circle"/>
            <p:cNvSpPr/>
            <p:nvPr/>
          </p:nvSpPr>
          <p:spPr>
            <a:xfrm>
              <a:off x="2093214" y="1652905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078 circle"/>
            <p:cNvSpPr/>
            <p:nvPr/>
          </p:nvSpPr>
          <p:spPr>
            <a:xfrm>
              <a:off x="2093214" y="1700911"/>
              <a:ext cx="20574" cy="20574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1" name="new named axis"/>
          <p:cNvSpPr/>
          <p:nvPr/>
        </p:nvSpPr>
        <p:spPr>
          <a:xfrm>
            <a:off x="4891014" y="829020"/>
            <a:ext cx="701171" cy="123480"/>
          </a:xfrm>
          <a:prstGeom prst="wedgeRoundRectCallout">
            <a:avLst>
              <a:gd name="adj1" fmla="val -56674"/>
              <a:gd name="adj2" fmla="val 0"/>
              <a:gd name="adj3" fmla="val 32069"/>
            </a:avLst>
          </a:prstGeom>
          <a:solidFill>
            <a:srgbClr val="FFF4EC"/>
          </a:solidFill>
          <a:ln w="7620" cap="flat">
            <a:solidFill>
              <a:srgbClr val="F2C4A6"/>
            </a:solidFill>
            <a:round/>
          </a:ln>
          <a:effectLst/>
        </p:spPr>
        <p:txBody>
          <a:bodyPr wrap="none" lIns="25200" tIns="10800" rIns="252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“cation solubility”</a:t>
            </a:r>
            <a:endParaRPr lang="en-US" sz="650" dirty="0"/>
          </a:p>
        </p:txBody>
      </p:sp>
      <p:sp>
        <p:nvSpPr>
          <p:cNvPr id="196" name="separator"/>
          <p:cNvSpPr/>
          <p:nvPr/>
        </p:nvSpPr>
        <p:spPr>
          <a:xfrm>
            <a:off x="4554000" y="1022280"/>
            <a:ext cx="1159200" cy="36"/>
          </a:xfrm>
          <a:custGeom>
            <a:avLst/>
            <a:gdLst/>
            <a:ahLst/>
            <a:cxnLst/>
            <a:rect l="0" t="0" r="r" b="b"/>
            <a:pathLst>
              <a:path w="1159200" h="36" fill="none">
                <a:moveTo>
                  <a:pt x="0" y="0"/>
                </a:moveTo>
                <a:lnTo>
                  <a:pt x="1159200" y="0"/>
                </a:lnTo>
              </a:path>
            </a:pathLst>
          </a:custGeom>
          <a:noFill/>
          <a:ln w="6350" cap="rnd">
            <a:solidFill>
              <a:srgbClr val="F1D8C7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97" name="label Learn trust λk per axis"/>
          <p:cNvSpPr txBox="1"/>
          <p:nvPr/>
        </p:nvSpPr>
        <p:spPr>
          <a:xfrm>
            <a:off x="4703507" y="1040280"/>
            <a:ext cx="860186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 xml:space="preserve">Learn trust </a:t>
            </a:r>
            <a:r>
              <a:rPr lang="en-US" sz="650" b="1" i="1" dirty="0">
                <a:solidFill>
                  <a:srgbClr val="10283B"/>
                </a:solidFill>
                <a:latin typeface="Times New Roman"/>
                <a:cs typeface="Times New Roman"/>
              </a:rPr>
              <a:t>λ</a:t>
            </a:r>
            <a:r>
              <a:rPr lang="en-US" sz="650" b="1" i="1" dirty="0" baseline="-25000">
                <a:solidFill>
                  <a:srgbClr val="10283B"/>
                </a:solidFill>
                <a:latin typeface="Times New Roman"/>
                <a:cs typeface="Times New Roman"/>
              </a:rPr>
              <a:t>k</a:t>
            </a: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 xml:space="preserve"> per axis</a:t>
            </a:r>
            <a:endParaRPr lang="en-US" sz="650" dirty="0"/>
          </a:p>
        </p:txBody>
      </p:sp>
      <p:sp>
        <p:nvSpPr>
          <p:cNvPr id="198" name="trust scale"/>
          <p:cNvSpPr/>
          <p:nvPr/>
        </p:nvSpPr>
        <p:spPr>
          <a:xfrm>
            <a:off x="4618800" y="1278960"/>
            <a:ext cx="1022400" cy="36"/>
          </a:xfrm>
          <a:custGeom>
            <a:avLst/>
            <a:gdLst/>
            <a:ahLst/>
            <a:cxnLst/>
            <a:rect l="0" t="0" r="r" b="b"/>
            <a:pathLst>
              <a:path w="1022400" h="36" fill="none">
                <a:moveTo>
                  <a:pt x="0" y="0"/>
                </a:moveTo>
                <a:lnTo>
                  <a:pt x="1022400" y="0"/>
                </a:lnTo>
              </a:path>
            </a:pathLst>
          </a:custGeom>
          <a:noFill/>
          <a:ln w="30480" cap="rnd">
            <a:solidFill>
              <a:srgbClr val="C3CCD5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99" name="open end"/>
          <p:cNvSpPr/>
          <p:nvPr/>
        </p:nvSpPr>
        <p:spPr>
          <a:xfrm>
            <a:off x="5626800" y="1278960"/>
            <a:ext cx="61200" cy="36"/>
          </a:xfrm>
          <a:custGeom>
            <a:avLst/>
            <a:gdLst/>
            <a:ahLst/>
            <a:cxnLst/>
            <a:rect l="0" t="0" r="r" b="b"/>
            <a:pathLst>
              <a:path w="61200" h="36" fill="none">
                <a:moveTo>
                  <a:pt x="0" y="0"/>
                </a:moveTo>
                <a:lnTo>
                  <a:pt x="61200" y="0"/>
                </a:lnTo>
              </a:path>
            </a:pathLst>
          </a:custGeom>
          <a:noFill/>
          <a:ln w="12700" cap="rnd">
            <a:solidFill>
              <a:srgbClr val="C3CCD5"/>
            </a:solidFill>
            <a:round/>
            <a:tailEnd type="triangle" w="sm" len="sm"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00" name="label 0"/>
          <p:cNvSpPr txBox="1"/>
          <p:nvPr/>
        </p:nvSpPr>
        <p:spPr>
          <a:xfrm>
            <a:off x="4594011" y="1318560"/>
            <a:ext cx="49578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>0</a:t>
            </a:r>
            <a:endParaRPr lang="en-US" sz="600" dirty="0"/>
          </a:p>
        </p:txBody>
      </p:sp>
      <p:sp>
        <p:nvSpPr>
          <p:cNvPr id="201" name="label skeptic"/>
          <p:cNvSpPr txBox="1"/>
          <p:nvPr/>
        </p:nvSpPr>
        <p:spPr>
          <a:xfrm>
            <a:off x="4676400" y="1318560"/>
            <a:ext cx="244357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>skeptic</a:t>
            </a:r>
            <a:endParaRPr lang="en-US" sz="600" dirty="0"/>
          </a:p>
        </p:txBody>
      </p:sp>
      <p:sp>
        <p:nvSpPr>
          <p:cNvPr id="202" name="label believer"/>
          <p:cNvSpPr txBox="1"/>
          <p:nvPr/>
        </p:nvSpPr>
        <p:spPr>
          <a:xfrm>
            <a:off x="5395953" y="1318560"/>
            <a:ext cx="274047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>believer</a:t>
            </a:r>
            <a:endParaRPr lang="en-US" sz="600" dirty="0"/>
          </a:p>
        </p:txBody>
      </p:sp>
      <p:sp>
        <p:nvSpPr>
          <p:cNvPr id="203" name="learned reliability"/>
          <p:cNvSpPr/>
          <p:nvPr/>
        </p:nvSpPr>
        <p:spPr>
          <a:xfrm>
            <a:off x="4644720" y="1253760"/>
            <a:ext cx="50400" cy="50400"/>
          </a:xfrm>
          <a:prstGeom prst="ellipse">
            <a:avLst/>
          </a:prstGeom>
          <a:solidFill>
            <a:srgbClr val="5A6B7C"/>
          </a:solidFill>
          <a:ln w="762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04" name="label LLM wrong"/>
          <p:cNvSpPr txBox="1"/>
          <p:nvPr/>
        </p:nvSpPr>
        <p:spPr>
          <a:xfrm>
            <a:off x="4644720" y="1144110"/>
            <a:ext cx="384144" cy="95250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5A6B7C"/>
                </a:solidFill>
                <a:latin typeface="Arial"/>
                <a:cs typeface="Arial"/>
              </a:rPr>
              <a:t>LLM wrong</a:t>
            </a:r>
            <a:endParaRPr lang="en-US" sz="600" dirty="0"/>
          </a:p>
        </p:txBody>
      </p:sp>
      <p:sp>
        <p:nvSpPr>
          <p:cNvPr id="205" name="learned reliability"/>
          <p:cNvSpPr/>
          <p:nvPr/>
        </p:nvSpPr>
        <p:spPr>
          <a:xfrm>
            <a:off x="5391072" y="1253760"/>
            <a:ext cx="50400" cy="50400"/>
          </a:xfrm>
          <a:prstGeom prst="ellipse">
            <a:avLst/>
          </a:prstGeom>
          <a:solidFill>
            <a:srgbClr val="E0702F"/>
          </a:solidFill>
          <a:ln w="762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06" name="label LLM right"/>
          <p:cNvSpPr txBox="1"/>
          <p:nvPr/>
        </p:nvSpPr>
        <p:spPr>
          <a:xfrm>
            <a:off x="5253854" y="1144110"/>
            <a:ext cx="324837" cy="95250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E0702F"/>
                </a:solidFill>
                <a:latin typeface="Arial"/>
                <a:cs typeface="Arial"/>
              </a:rPr>
              <a:t>LLM right</a:t>
            </a:r>
            <a:endParaRPr lang="en-US" sz="600" dirty="0"/>
          </a:p>
        </p:txBody>
      </p:sp>
      <p:sp>
        <p:nvSpPr>
          <p:cNvPr id="207" name="label all λk = 0: reduces to LVGP"/>
          <p:cNvSpPr txBox="1"/>
          <p:nvPr/>
        </p:nvSpPr>
        <p:spPr>
          <a:xfrm>
            <a:off x="4680539" y="1424040"/>
            <a:ext cx="906122" cy="95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all </a:t>
            </a:r>
            <a:r>
              <a:rPr lang="en-US" sz="600" b="0" i="1" dirty="0">
                <a:solidFill>
                  <a:srgbClr val="3E5163"/>
                </a:solidFill>
                <a:latin typeface="Times New Roman"/>
                <a:cs typeface="Times New Roman"/>
              </a:rPr>
              <a:t>λ</a:t>
            </a:r>
            <a:r>
              <a:rPr lang="en-US" sz="600" b="0" i="1" dirty="0" baseline="-25000">
                <a:solidFill>
                  <a:srgbClr val="3E5163"/>
                </a:solidFill>
                <a:latin typeface="Times New Roman"/>
                <a:cs typeface="Times New Roman"/>
              </a:rPr>
              <a:t>k</a:t>
            </a:r>
            <a:r>
              <a:rPr lang="en-US" sz="600" b="0" i="0" dirty="0">
                <a:solidFill>
                  <a:srgbClr val="3E5163"/>
                </a:solidFill>
                <a:latin typeface="Arial"/>
                <a:cs typeface="Arial"/>
              </a:rPr>
              <a:t xml:space="preserve"> = 0: reduces to LVGP</a:t>
            </a:r>
            <a:endParaRPr lang="en-US" sz="600" dirty="0"/>
          </a:p>
        </p:txBody>
      </p:sp>
      <p:sp>
        <p:nvSpPr>
          <p:cNvPr id="208" name="feedback loop"/>
          <p:cNvSpPr/>
          <p:nvPr/>
        </p:nvSpPr>
        <p:spPr>
          <a:xfrm>
            <a:off x="766800" y="1663200"/>
            <a:ext cx="4366800" cy="129600"/>
          </a:xfrm>
          <a:custGeom>
            <a:avLst/>
            <a:gdLst/>
            <a:ahLst/>
            <a:cxnLst/>
            <a:rect l="0" t="0" r="r" b="b"/>
            <a:pathLst>
              <a:path w="4366800" h="129600" fill="none">
                <a:moveTo>
                  <a:pt x="4366800" y="0"/>
                </a:moveTo>
                <a:lnTo>
                  <a:pt x="4366800" y="129600"/>
                </a:lnTo>
                <a:lnTo>
                  <a:pt x="0" y="129600"/>
                </a:lnTo>
                <a:lnTo>
                  <a:pt x="0" y="7200"/>
                </a:lnTo>
              </a:path>
            </a:pathLst>
          </a:custGeom>
          <a:noFill/>
          <a:ln w="10160" cap="rnd">
            <a:solidFill>
              <a:srgbClr val="7F93A6"/>
            </a:solidFill>
            <a:round/>
            <a:tailEnd type="triangle" w="sm" len="sm"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09" name="loop label"/>
          <p:cNvSpPr/>
          <p:nvPr/>
        </p:nvSpPr>
        <p:spPr>
          <a:xfrm>
            <a:off x="1802285" y="1735200"/>
            <a:ext cx="2295831" cy="1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next iteration: add (</a:t>
            </a:r>
            <a:r>
              <a:rPr lang="en-US" sz="650" b="0" i="1" dirty="0">
                <a:solidFill>
                  <a:srgbClr val="10283B"/>
                </a:solidFill>
                <a:latin typeface="Times New Roman"/>
                <a:cs typeface="Times New Roman"/>
              </a:rPr>
              <a:t>x</a:t>
            </a:r>
            <a:r>
              <a:rPr lang="en-US" sz="650" b="0" i="1" dirty="0" baseline="-25000">
                <a:solidFill>
                  <a:srgbClr val="10283B"/>
                </a:solidFill>
                <a:latin typeface="Times New Roman"/>
                <a:cs typeface="Times New Roman"/>
              </a:rPr>
              <a:t>t</a:t>
            </a: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 xml:space="preserve">, </a:t>
            </a:r>
            <a:r>
              <a:rPr lang="en-US" sz="650" b="0" i="1" dirty="0">
                <a:solidFill>
                  <a:srgbClr val="10283B"/>
                </a:solidFill>
                <a:latin typeface="Times New Roman"/>
                <a:cs typeface="Times New Roman"/>
              </a:rPr>
              <a:t>y</a:t>
            </a:r>
            <a:r>
              <a:rPr lang="en-US" sz="650" b="0" i="1" dirty="0" baseline="-25000">
                <a:solidFill>
                  <a:srgbClr val="10283B"/>
                </a:solidFill>
                <a:latin typeface="Times New Roman"/>
                <a:cs typeface="Times New Roman"/>
              </a:rPr>
              <a:t>t</a:t>
            </a: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), refit, ask the most informative pairs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