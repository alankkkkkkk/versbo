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000" cy="202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header: Chemical reaction optimization"/>
          <p:cNvGrpSpPr/>
          <p:nvPr/>
        </p:nvGrpSpPr>
        <p:grpSpPr>
          <a:xfrm>
            <a:off x="10800" y="10800"/>
            <a:ext cx="1897200" cy="169200"/>
            <a:chOff x="10800" y="10800"/>
            <a:chExt cx="1897200" cy="169200"/>
          </a:xfrm>
        </p:grpSpPr>
        <p:sp>
          <p:nvSpPr>
            <p:cNvPr id="2" name="panel header"/>
            <p:cNvSpPr/>
            <p:nvPr/>
          </p:nvSpPr>
          <p:spPr>
            <a:xfrm>
              <a:off x="10800" y="10800"/>
              <a:ext cx="1897200" cy="169200"/>
            </a:xfrm>
            <a:prstGeom prst="roundRect">
              <a:avLst>
                <a:gd name="adj" fmla="val 25531"/>
              </a:avLst>
            </a:prstGeom>
            <a:solidFill>
              <a:srgbClr val="E6F1FC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" name="panel title"/>
            <p:cNvSpPr txBox="1"/>
            <p:nvPr/>
          </p:nvSpPr>
          <p:spPr>
            <a:xfrm>
              <a:off x="251894" y="35869"/>
              <a:ext cx="1415013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10283B"/>
                  </a:solidFill>
                  <a:latin typeface="Arial"/>
                  <a:cs typeface="Arial"/>
                </a:rPr>
                <a:t>Chemical reaction optimization</a:t>
              </a:r>
              <a:endParaRPr lang="en-US" sz="750" dirty="0"/>
            </a:p>
          </p:txBody>
        </p:sp>
      </p:grpSp>
      <p:grpSp>
        <p:nvGrpSpPr>
          <p:cNvPr id="7" name="header: LLMs know chemistry, but…"/>
          <p:cNvGrpSpPr/>
          <p:nvPr/>
        </p:nvGrpSpPr>
        <p:grpSpPr>
          <a:xfrm>
            <a:off x="1958400" y="10800"/>
            <a:ext cx="1692000" cy="169200"/>
            <a:chOff x="1958400" y="10800"/>
            <a:chExt cx="1692000" cy="169200"/>
          </a:xfrm>
        </p:grpSpPr>
        <p:sp>
          <p:nvSpPr>
            <p:cNvPr id="5" name="panel header"/>
            <p:cNvSpPr/>
            <p:nvPr/>
          </p:nvSpPr>
          <p:spPr>
            <a:xfrm>
              <a:off x="1958400" y="10800"/>
              <a:ext cx="1692000" cy="169200"/>
            </a:xfrm>
            <a:prstGeom prst="roundRect">
              <a:avLst>
                <a:gd name="adj" fmla="val 25531"/>
              </a:avLst>
            </a:prstGeom>
            <a:solidFill>
              <a:srgbClr val="ECEAFA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" name="panel title"/>
            <p:cNvSpPr txBox="1"/>
            <p:nvPr/>
          </p:nvSpPr>
          <p:spPr>
            <a:xfrm>
              <a:off x="2158680" y="35869"/>
              <a:ext cx="1291440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10283B"/>
                  </a:solidFill>
                  <a:latin typeface="Arial"/>
                  <a:cs typeface="Arial"/>
                </a:rPr>
                <a:t>LLMs know chemistry, but…</a:t>
              </a:r>
              <a:endParaRPr lang="en-US" sz="750" dirty="0"/>
            </a:p>
          </p:txBody>
        </p:sp>
      </p:grpSp>
      <p:grpSp>
        <p:nvGrpSpPr>
          <p:cNvPr id="10" name="header: Comparative questions are more reliable"/>
          <p:cNvGrpSpPr/>
          <p:nvPr/>
        </p:nvGrpSpPr>
        <p:grpSpPr>
          <a:xfrm>
            <a:off x="3700800" y="10800"/>
            <a:ext cx="2048400" cy="169200"/>
            <a:chOff x="3700800" y="10800"/>
            <a:chExt cx="2048400" cy="169200"/>
          </a:xfrm>
        </p:grpSpPr>
        <p:sp>
          <p:nvSpPr>
            <p:cNvPr id="8" name="panel header"/>
            <p:cNvSpPr/>
            <p:nvPr/>
          </p:nvSpPr>
          <p:spPr>
            <a:xfrm>
              <a:off x="3700800" y="10800"/>
              <a:ext cx="2048400" cy="169200"/>
            </a:xfrm>
            <a:prstGeom prst="roundRect">
              <a:avLst>
                <a:gd name="adj" fmla="val 25531"/>
              </a:avLst>
            </a:prstGeom>
            <a:solidFill>
              <a:srgbClr val="E3F3E7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" name="panel title"/>
            <p:cNvSpPr txBox="1"/>
            <p:nvPr/>
          </p:nvSpPr>
          <p:spPr>
            <a:xfrm>
              <a:off x="3800322" y="35869"/>
              <a:ext cx="1849357" cy="11906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50" b="1" i="0" dirty="0">
                  <a:solidFill>
                    <a:srgbClr val="10283B"/>
                  </a:solidFill>
                  <a:latin typeface="Arial"/>
                  <a:cs typeface="Arial"/>
                </a:rPr>
                <a:t>Comparative questions are more reliable</a:t>
              </a:r>
              <a:endParaRPr lang="en-US" sz="750" dirty="0"/>
            </a:p>
          </p:txBody>
        </p:sp>
      </p:grpSp>
      <p:sp>
        <p:nvSpPr>
          <p:cNvPr id="11" name="panel divider"/>
          <p:cNvSpPr/>
          <p:nvPr/>
        </p:nvSpPr>
        <p:spPr>
          <a:xfrm>
            <a:off x="1933200" y="226800"/>
            <a:ext cx="36" cy="1782000"/>
          </a:xfrm>
          <a:custGeom>
            <a:avLst/>
            <a:gdLst/>
            <a:ahLst/>
            <a:cxnLst/>
            <a:rect l="0" t="0" r="r" b="b"/>
            <a:pathLst>
              <a:path w="36" h="1782000" fill="none">
                <a:moveTo>
                  <a:pt x="0" y="0"/>
                </a:moveTo>
                <a:lnTo>
                  <a:pt x="0" y="1782000"/>
                </a:lnTo>
              </a:path>
            </a:pathLst>
          </a:custGeom>
          <a:noFill/>
          <a:ln w="6350" cap="rnd">
            <a:solidFill>
              <a:srgbClr val="DDE5EC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12" name="panel divider"/>
          <p:cNvSpPr/>
          <p:nvPr/>
        </p:nvSpPr>
        <p:spPr>
          <a:xfrm>
            <a:off x="3675600" y="226800"/>
            <a:ext cx="36" cy="1782000"/>
          </a:xfrm>
          <a:custGeom>
            <a:avLst/>
            <a:gdLst/>
            <a:ahLst/>
            <a:cxnLst/>
            <a:rect l="0" t="0" r="r" b="b"/>
            <a:pathLst>
              <a:path w="36" h="1782000" fill="none">
                <a:moveTo>
                  <a:pt x="0" y="0"/>
                </a:moveTo>
                <a:lnTo>
                  <a:pt x="0" y="1782000"/>
                </a:lnTo>
              </a:path>
            </a:pathLst>
          </a:custGeom>
          <a:noFill/>
          <a:ln w="6350" cap="rnd">
            <a:solidFill>
              <a:srgbClr val="DDE5EC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26" name="aryl halide"/>
          <p:cNvGrpSpPr/>
          <p:nvPr/>
        </p:nvGrpSpPr>
        <p:grpSpPr>
          <a:xfrm>
            <a:off x="83427" y="299015"/>
            <a:ext cx="305893" cy="247926"/>
            <a:chOff x="83427" y="299015"/>
            <a:chExt cx="305893" cy="247926"/>
          </a:xfrm>
        </p:grpSpPr>
        <p:sp>
          <p:nvSpPr>
            <p:cNvPr id="13" name="bond"/>
            <p:cNvSpPr/>
            <p:nvPr/>
          </p:nvSpPr>
          <p:spPr>
            <a:xfrm>
              <a:off x="145784" y="455407"/>
              <a:ext cx="32580" cy="18806"/>
            </a:xfrm>
            <a:custGeom>
              <a:avLst/>
              <a:gdLst/>
              <a:ahLst/>
              <a:cxnLst/>
              <a:rect l="0" t="0" r="r" b="b"/>
              <a:pathLst>
                <a:path w="32580" h="18806" fill="none">
                  <a:moveTo>
                    <a:pt x="0" y="18806"/>
                  </a:moveTo>
                  <a:lnTo>
                    <a:pt x="3258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4" name="bond"/>
            <p:cNvSpPr/>
            <p:nvPr/>
          </p:nvSpPr>
          <p:spPr>
            <a:xfrm>
              <a:off x="178364" y="387005"/>
              <a:ext cx="36" cy="68402"/>
            </a:xfrm>
            <a:custGeom>
              <a:avLst/>
              <a:gdLst/>
              <a:ahLst/>
              <a:cxnLst/>
              <a:rect l="0" t="0" r="r" b="b"/>
              <a:pathLst>
                <a:path w="36" h="68402" fill="none">
                  <a:moveTo>
                    <a:pt x="0" y="68402"/>
                  </a:moveTo>
                  <a:lnTo>
                    <a:pt x="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5" name="bond"/>
            <p:cNvSpPr/>
            <p:nvPr/>
          </p:nvSpPr>
          <p:spPr>
            <a:xfrm>
              <a:off x="178364" y="352798"/>
              <a:ext cx="59236" cy="34207"/>
            </a:xfrm>
            <a:custGeom>
              <a:avLst/>
              <a:gdLst/>
              <a:ahLst/>
              <a:cxnLst/>
              <a:rect l="0" t="0" r="r" b="b"/>
              <a:pathLst>
                <a:path w="59236" h="34207" fill="none">
                  <a:moveTo>
                    <a:pt x="0" y="34207"/>
                  </a:moveTo>
                  <a:lnTo>
                    <a:pt x="59236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" name="bond (inner)"/>
            <p:cNvSpPr/>
            <p:nvPr/>
          </p:nvSpPr>
          <p:spPr>
            <a:xfrm>
              <a:off x="194683" y="370118"/>
              <a:ext cx="40281" cy="23261"/>
            </a:xfrm>
            <a:custGeom>
              <a:avLst/>
              <a:gdLst/>
              <a:ahLst/>
              <a:cxnLst/>
              <a:rect l="0" t="0" r="r" b="b"/>
              <a:pathLst>
                <a:path w="40281" h="23261" fill="none">
                  <a:moveTo>
                    <a:pt x="0" y="23261"/>
                  </a:moveTo>
                  <a:lnTo>
                    <a:pt x="40281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7" name="bond"/>
            <p:cNvSpPr/>
            <p:nvPr/>
          </p:nvSpPr>
          <p:spPr>
            <a:xfrm>
              <a:off x="237600" y="352798"/>
              <a:ext cx="59236" cy="34195"/>
            </a:xfrm>
            <a:custGeom>
              <a:avLst/>
              <a:gdLst/>
              <a:ahLst/>
              <a:cxnLst/>
              <a:rect l="0" t="0" r="r" b="b"/>
              <a:pathLst>
                <a:path w="59236" h="34195" fill="none">
                  <a:moveTo>
                    <a:pt x="0" y="0"/>
                  </a:moveTo>
                  <a:lnTo>
                    <a:pt x="59236" y="34195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8" name="bond"/>
            <p:cNvSpPr/>
            <p:nvPr/>
          </p:nvSpPr>
          <p:spPr>
            <a:xfrm>
              <a:off x="296836" y="368187"/>
              <a:ext cx="32580" cy="18806"/>
            </a:xfrm>
            <a:custGeom>
              <a:avLst/>
              <a:gdLst/>
              <a:ahLst/>
              <a:cxnLst/>
              <a:rect l="0" t="0" r="r" b="b"/>
              <a:pathLst>
                <a:path w="32580" h="18806" fill="none">
                  <a:moveTo>
                    <a:pt x="0" y="18806"/>
                  </a:moveTo>
                  <a:lnTo>
                    <a:pt x="3258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9" name="bond"/>
            <p:cNvSpPr/>
            <p:nvPr/>
          </p:nvSpPr>
          <p:spPr>
            <a:xfrm>
              <a:off x="296836" y="386993"/>
              <a:ext cx="36" cy="68402"/>
            </a:xfrm>
            <a:custGeom>
              <a:avLst/>
              <a:gdLst/>
              <a:ahLst/>
              <a:cxnLst/>
              <a:rect l="0" t="0" r="r" b="b"/>
              <a:pathLst>
                <a:path w="36" h="68402" fill="none">
                  <a:moveTo>
                    <a:pt x="0" y="0"/>
                  </a:moveTo>
                  <a:lnTo>
                    <a:pt x="0" y="68402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0" name="bond (inner)"/>
            <p:cNvSpPr/>
            <p:nvPr/>
          </p:nvSpPr>
          <p:spPr>
            <a:xfrm>
              <a:off x="283156" y="397937"/>
              <a:ext cx="36" cy="46513"/>
            </a:xfrm>
            <a:custGeom>
              <a:avLst/>
              <a:gdLst/>
              <a:ahLst/>
              <a:cxnLst/>
              <a:rect l="0" t="0" r="r" b="b"/>
              <a:pathLst>
                <a:path w="36" h="46513" fill="none">
                  <a:moveTo>
                    <a:pt x="0" y="0"/>
                  </a:moveTo>
                  <a:lnTo>
                    <a:pt x="0" y="46513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1" name="bond"/>
            <p:cNvSpPr/>
            <p:nvPr/>
          </p:nvSpPr>
          <p:spPr>
            <a:xfrm>
              <a:off x="237600" y="455395"/>
              <a:ext cx="59236" cy="34207"/>
            </a:xfrm>
            <a:custGeom>
              <a:avLst/>
              <a:gdLst/>
              <a:ahLst/>
              <a:cxnLst/>
              <a:rect l="0" t="0" r="r" b="b"/>
              <a:pathLst>
                <a:path w="59236" h="34207" fill="none">
                  <a:moveTo>
                    <a:pt x="59236" y="0"/>
                  </a:moveTo>
                  <a:lnTo>
                    <a:pt x="0" y="34207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2" name="bond"/>
            <p:cNvSpPr/>
            <p:nvPr/>
          </p:nvSpPr>
          <p:spPr>
            <a:xfrm>
              <a:off x="178364" y="455407"/>
              <a:ext cx="59236" cy="34195"/>
            </a:xfrm>
            <a:custGeom>
              <a:avLst/>
              <a:gdLst/>
              <a:ahLst/>
              <a:cxnLst/>
              <a:rect l="0" t="0" r="r" b="b"/>
              <a:pathLst>
                <a:path w="59236" h="34195" fill="none">
                  <a:moveTo>
                    <a:pt x="59236" y="34195"/>
                  </a:moveTo>
                  <a:lnTo>
                    <a:pt x="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3" name="bond (inner)"/>
            <p:cNvSpPr/>
            <p:nvPr/>
          </p:nvSpPr>
          <p:spPr>
            <a:xfrm>
              <a:off x="194681" y="449031"/>
              <a:ext cx="40280" cy="23253"/>
            </a:xfrm>
            <a:custGeom>
              <a:avLst/>
              <a:gdLst/>
              <a:ahLst/>
              <a:cxnLst/>
              <a:rect l="0" t="0" r="r" b="b"/>
              <a:pathLst>
                <a:path w="40280" h="23253" fill="none">
                  <a:moveTo>
                    <a:pt x="40280" y="23253"/>
                  </a:moveTo>
                  <a:lnTo>
                    <a:pt x="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4" name="atom R"/>
            <p:cNvSpPr txBox="1"/>
            <p:nvPr/>
          </p:nvSpPr>
          <p:spPr>
            <a:xfrm>
              <a:off x="83427" y="435816"/>
              <a:ext cx="71400" cy="1111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00" b="0" i="0" dirty="0">
                  <a:solidFill>
                    <a:srgbClr val="10283B"/>
                  </a:solidFill>
                  <a:latin typeface="Arial"/>
                  <a:cs typeface="Arial"/>
                </a:rPr>
                <a:t>R</a:t>
              </a:r>
              <a:endParaRPr lang="en-US" sz="700" dirty="0"/>
            </a:p>
          </p:txBody>
        </p:sp>
        <p:sp>
          <p:nvSpPr>
            <p:cNvPr id="25" name="atom X"/>
            <p:cNvSpPr txBox="1"/>
            <p:nvPr/>
          </p:nvSpPr>
          <p:spPr>
            <a:xfrm>
              <a:off x="322825" y="299015"/>
              <a:ext cx="66495" cy="1111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00" b="0" i="0" dirty="0">
                  <a:solidFill>
                    <a:srgbClr val="10283B"/>
                  </a:solidFill>
                  <a:latin typeface="Arial"/>
                  <a:cs typeface="Arial"/>
                </a:rPr>
                <a:t>X</a:t>
              </a:r>
              <a:endParaRPr lang="en-US" sz="700" dirty="0"/>
            </a:p>
          </p:txBody>
        </p:sp>
      </p:grpSp>
      <p:sp>
        <p:nvSpPr>
          <p:cNvPr id="27" name="label +"/>
          <p:cNvSpPr txBox="1"/>
          <p:nvPr/>
        </p:nvSpPr>
        <p:spPr>
          <a:xfrm>
            <a:off x="459934" y="357700"/>
            <a:ext cx="66533" cy="1270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10283B"/>
                </a:solidFill>
                <a:latin typeface="Arial"/>
                <a:cs typeface="Arial"/>
              </a:rPr>
              <a:t>+</a:t>
            </a:r>
            <a:endParaRPr lang="en-US" sz="800" dirty="0"/>
          </a:p>
        </p:txBody>
      </p:sp>
      <p:sp>
        <p:nvSpPr>
          <p:cNvPr id="28" name="nucleophile disc"/>
          <p:cNvSpPr/>
          <p:nvPr/>
        </p:nvSpPr>
        <p:spPr>
          <a:xfrm>
            <a:off x="558000" y="349200"/>
            <a:ext cx="144000" cy="144000"/>
          </a:xfrm>
          <a:prstGeom prst="ellipse">
            <a:avLst/>
          </a:prstGeom>
          <a:solidFill>
            <a:srgbClr val="CFE4F7"/>
          </a:solidFill>
          <a:ln w="6350" cap="flat">
            <a:solidFill>
              <a:srgbClr val="9CC3E8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9" name="Nu"/>
          <p:cNvSpPr txBox="1"/>
          <p:nvPr/>
        </p:nvSpPr>
        <p:spPr>
          <a:xfrm>
            <a:off x="569578" y="365637"/>
            <a:ext cx="120843" cy="11112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Nu</a:t>
            </a:r>
            <a:endParaRPr lang="en-US" sz="700" dirty="0"/>
          </a:p>
        </p:txBody>
      </p:sp>
      <p:sp>
        <p:nvSpPr>
          <p:cNvPr id="30" name="reaction arrow"/>
          <p:cNvSpPr/>
          <p:nvPr/>
        </p:nvSpPr>
        <p:spPr>
          <a:xfrm>
            <a:off x="766800" y="421200"/>
            <a:ext cx="432000" cy="36"/>
          </a:xfrm>
          <a:custGeom>
            <a:avLst/>
            <a:gdLst/>
            <a:ahLst/>
            <a:cxnLst/>
            <a:rect l="0" t="0" r="r" b="b"/>
            <a:pathLst>
              <a:path w="432000" h="36" fill="none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10160" cap="rnd">
            <a:solidFill>
              <a:srgbClr val="10283B"/>
            </a:solidFill>
            <a:round/>
            <a:tailEnd type="triangle" w="med" len="med"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31" name="label ligand, base"/>
          <p:cNvSpPr txBox="1"/>
          <p:nvPr/>
        </p:nvSpPr>
        <p:spPr>
          <a:xfrm>
            <a:off x="742201" y="292812"/>
            <a:ext cx="452398" cy="103188"/>
          </a:xfrm>
          <a:prstGeom prst="rect">
            <a:avLst/>
          </a:prstGeom>
          <a:noFill/>
        </p:spPr>
        <p:txBody>
          <a:bodyPr wrap="none" lIns="0" tIns="0" rIns="0" bIns="0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ligand, base</a:t>
            </a:r>
            <a:endParaRPr lang="en-US" sz="650" dirty="0"/>
          </a:p>
        </p:txBody>
      </p:sp>
      <p:sp>
        <p:nvSpPr>
          <p:cNvPr id="32" name="label solvent, …"/>
          <p:cNvSpPr txBox="1"/>
          <p:nvPr/>
        </p:nvSpPr>
        <p:spPr>
          <a:xfrm>
            <a:off x="769811" y="442800"/>
            <a:ext cx="397177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solvent, …</a:t>
            </a:r>
            <a:endParaRPr lang="en-US" sz="650" dirty="0"/>
          </a:p>
        </p:txBody>
      </p:sp>
      <p:grpSp>
        <p:nvGrpSpPr>
          <p:cNvPr id="46" name="coupling product"/>
          <p:cNvGrpSpPr/>
          <p:nvPr/>
        </p:nvGrpSpPr>
        <p:grpSpPr>
          <a:xfrm>
            <a:off x="1242627" y="299015"/>
            <a:ext cx="288596" cy="247926"/>
            <a:chOff x="1242627" y="299015"/>
            <a:chExt cx="288596" cy="247926"/>
          </a:xfrm>
        </p:grpSpPr>
        <p:sp>
          <p:nvSpPr>
            <p:cNvPr id="33" name="bond"/>
            <p:cNvSpPr/>
            <p:nvPr/>
          </p:nvSpPr>
          <p:spPr>
            <a:xfrm>
              <a:off x="1304984" y="455407"/>
              <a:ext cx="32580" cy="18806"/>
            </a:xfrm>
            <a:custGeom>
              <a:avLst/>
              <a:gdLst/>
              <a:ahLst/>
              <a:cxnLst/>
              <a:rect l="0" t="0" r="r" b="b"/>
              <a:pathLst>
                <a:path w="32580" h="18806" fill="none">
                  <a:moveTo>
                    <a:pt x="0" y="18806"/>
                  </a:moveTo>
                  <a:lnTo>
                    <a:pt x="3258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4" name="bond"/>
            <p:cNvSpPr/>
            <p:nvPr/>
          </p:nvSpPr>
          <p:spPr>
            <a:xfrm>
              <a:off x="1337564" y="387005"/>
              <a:ext cx="36" cy="68402"/>
            </a:xfrm>
            <a:custGeom>
              <a:avLst/>
              <a:gdLst/>
              <a:ahLst/>
              <a:cxnLst/>
              <a:rect l="0" t="0" r="r" b="b"/>
              <a:pathLst>
                <a:path w="36" h="68402" fill="none">
                  <a:moveTo>
                    <a:pt x="0" y="68402"/>
                  </a:moveTo>
                  <a:lnTo>
                    <a:pt x="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5" name="bond"/>
            <p:cNvSpPr/>
            <p:nvPr/>
          </p:nvSpPr>
          <p:spPr>
            <a:xfrm>
              <a:off x="1337564" y="352798"/>
              <a:ext cx="59236" cy="34207"/>
            </a:xfrm>
            <a:custGeom>
              <a:avLst/>
              <a:gdLst/>
              <a:ahLst/>
              <a:cxnLst/>
              <a:rect l="0" t="0" r="r" b="b"/>
              <a:pathLst>
                <a:path w="59236" h="34207" fill="none">
                  <a:moveTo>
                    <a:pt x="0" y="34207"/>
                  </a:moveTo>
                  <a:lnTo>
                    <a:pt x="59236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6" name="bond (inner)"/>
            <p:cNvSpPr/>
            <p:nvPr/>
          </p:nvSpPr>
          <p:spPr>
            <a:xfrm>
              <a:off x="1353883" y="370118"/>
              <a:ext cx="40281" cy="23261"/>
            </a:xfrm>
            <a:custGeom>
              <a:avLst/>
              <a:gdLst/>
              <a:ahLst/>
              <a:cxnLst/>
              <a:rect l="0" t="0" r="r" b="b"/>
              <a:pathLst>
                <a:path w="40281" h="23261" fill="none">
                  <a:moveTo>
                    <a:pt x="0" y="23261"/>
                  </a:moveTo>
                  <a:lnTo>
                    <a:pt x="40281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7" name="bond"/>
            <p:cNvSpPr/>
            <p:nvPr/>
          </p:nvSpPr>
          <p:spPr>
            <a:xfrm>
              <a:off x="1396800" y="352798"/>
              <a:ext cx="59236" cy="34195"/>
            </a:xfrm>
            <a:custGeom>
              <a:avLst/>
              <a:gdLst/>
              <a:ahLst/>
              <a:cxnLst/>
              <a:rect l="0" t="0" r="r" b="b"/>
              <a:pathLst>
                <a:path w="59236" h="34195" fill="none">
                  <a:moveTo>
                    <a:pt x="0" y="0"/>
                  </a:moveTo>
                  <a:lnTo>
                    <a:pt x="59236" y="34195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8" name="bond"/>
            <p:cNvSpPr/>
            <p:nvPr/>
          </p:nvSpPr>
          <p:spPr>
            <a:xfrm>
              <a:off x="1456036" y="368187"/>
              <a:ext cx="32580" cy="18806"/>
            </a:xfrm>
            <a:custGeom>
              <a:avLst/>
              <a:gdLst/>
              <a:ahLst/>
              <a:cxnLst/>
              <a:rect l="0" t="0" r="r" b="b"/>
              <a:pathLst>
                <a:path w="32580" h="18806" fill="none">
                  <a:moveTo>
                    <a:pt x="0" y="18806"/>
                  </a:moveTo>
                  <a:lnTo>
                    <a:pt x="3258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9" name="bond"/>
            <p:cNvSpPr/>
            <p:nvPr/>
          </p:nvSpPr>
          <p:spPr>
            <a:xfrm>
              <a:off x="1456036" y="386993"/>
              <a:ext cx="36" cy="68402"/>
            </a:xfrm>
            <a:custGeom>
              <a:avLst/>
              <a:gdLst/>
              <a:ahLst/>
              <a:cxnLst/>
              <a:rect l="0" t="0" r="r" b="b"/>
              <a:pathLst>
                <a:path w="36" h="68402" fill="none">
                  <a:moveTo>
                    <a:pt x="0" y="0"/>
                  </a:moveTo>
                  <a:lnTo>
                    <a:pt x="0" y="68402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40" name="bond (inner)"/>
            <p:cNvSpPr/>
            <p:nvPr/>
          </p:nvSpPr>
          <p:spPr>
            <a:xfrm>
              <a:off x="1442356" y="397937"/>
              <a:ext cx="36" cy="46513"/>
            </a:xfrm>
            <a:custGeom>
              <a:avLst/>
              <a:gdLst/>
              <a:ahLst/>
              <a:cxnLst/>
              <a:rect l="0" t="0" r="r" b="b"/>
              <a:pathLst>
                <a:path w="36" h="46513" fill="none">
                  <a:moveTo>
                    <a:pt x="0" y="0"/>
                  </a:moveTo>
                  <a:lnTo>
                    <a:pt x="0" y="46513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41" name="bond"/>
            <p:cNvSpPr/>
            <p:nvPr/>
          </p:nvSpPr>
          <p:spPr>
            <a:xfrm>
              <a:off x="1396800" y="455395"/>
              <a:ext cx="59236" cy="34207"/>
            </a:xfrm>
            <a:custGeom>
              <a:avLst/>
              <a:gdLst/>
              <a:ahLst/>
              <a:cxnLst/>
              <a:rect l="0" t="0" r="r" b="b"/>
              <a:pathLst>
                <a:path w="59236" h="34207" fill="none">
                  <a:moveTo>
                    <a:pt x="59236" y="0"/>
                  </a:moveTo>
                  <a:lnTo>
                    <a:pt x="0" y="34207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42" name="bond"/>
            <p:cNvSpPr/>
            <p:nvPr/>
          </p:nvSpPr>
          <p:spPr>
            <a:xfrm>
              <a:off x="1337564" y="455407"/>
              <a:ext cx="59236" cy="34195"/>
            </a:xfrm>
            <a:custGeom>
              <a:avLst/>
              <a:gdLst/>
              <a:ahLst/>
              <a:cxnLst/>
              <a:rect l="0" t="0" r="r" b="b"/>
              <a:pathLst>
                <a:path w="59236" h="34195" fill="none">
                  <a:moveTo>
                    <a:pt x="59236" y="34195"/>
                  </a:moveTo>
                  <a:lnTo>
                    <a:pt x="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43" name="bond (inner)"/>
            <p:cNvSpPr/>
            <p:nvPr/>
          </p:nvSpPr>
          <p:spPr>
            <a:xfrm>
              <a:off x="1353881" y="449031"/>
              <a:ext cx="40280" cy="23253"/>
            </a:xfrm>
            <a:custGeom>
              <a:avLst/>
              <a:gdLst/>
              <a:ahLst/>
              <a:cxnLst/>
              <a:rect l="0" t="0" r="r" b="b"/>
              <a:pathLst>
                <a:path w="40280" h="23253" fill="none">
                  <a:moveTo>
                    <a:pt x="40280" y="23253"/>
                  </a:moveTo>
                  <a:lnTo>
                    <a:pt x="0" y="0"/>
                  </a:lnTo>
                </a:path>
              </a:pathLst>
            </a:custGeom>
            <a:noFill/>
            <a:ln w="698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44" name="atom R"/>
            <p:cNvSpPr txBox="1"/>
            <p:nvPr/>
          </p:nvSpPr>
          <p:spPr>
            <a:xfrm>
              <a:off x="1242627" y="435816"/>
              <a:ext cx="71400" cy="1111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00" b="0" i="0" dirty="0">
                  <a:solidFill>
                    <a:srgbClr val="10283B"/>
                  </a:solidFill>
                  <a:latin typeface="Arial"/>
                  <a:cs typeface="Arial"/>
                </a:rPr>
                <a:t>R</a:t>
              </a:r>
              <a:endParaRPr lang="en-US" sz="700" dirty="0"/>
            </a:p>
          </p:txBody>
        </p:sp>
        <p:sp>
          <p:nvSpPr>
            <p:cNvPr id="45" name="atom  "/>
            <p:cNvSpPr txBox="1"/>
            <p:nvPr/>
          </p:nvSpPr>
          <p:spPr>
            <a:xfrm>
              <a:off x="1499323" y="299015"/>
              <a:ext cx="31900" cy="11112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700" b="0" i="0" dirty="0">
                  <a:solidFill>
                    <a:srgbClr val="10283B"/>
                  </a:solidFill>
                  <a:latin typeface="Arial"/>
                  <a:cs typeface="Arial"/>
                </a:rPr>
                <a:t xml:space="preserve"> </a:t>
              </a:r>
              <a:endParaRPr lang="en-US" sz="700" dirty="0"/>
            </a:p>
          </p:txBody>
        </p:sp>
      </p:grpSp>
      <p:sp>
        <p:nvSpPr>
          <p:cNvPr id="47" name="nucleophile disc"/>
          <p:cNvSpPr/>
          <p:nvPr/>
        </p:nvSpPr>
        <p:spPr>
          <a:xfrm>
            <a:off x="1468473" y="277200"/>
            <a:ext cx="129600" cy="129600"/>
          </a:xfrm>
          <a:prstGeom prst="ellipse">
            <a:avLst/>
          </a:prstGeom>
          <a:solidFill>
            <a:srgbClr val="CFE4F7"/>
          </a:solidFill>
          <a:ln w="6350" cap="flat">
            <a:solidFill>
              <a:srgbClr val="9CC3E8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48" name="Nu"/>
          <p:cNvSpPr txBox="1"/>
          <p:nvPr/>
        </p:nvSpPr>
        <p:spPr>
          <a:xfrm>
            <a:off x="1476910" y="290406"/>
            <a:ext cx="112725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Nu</a:t>
            </a:r>
            <a:endParaRPr lang="en-US" sz="650" dirty="0"/>
          </a:p>
        </p:txBody>
      </p:sp>
      <p:grpSp>
        <p:nvGrpSpPr>
          <p:cNvPr id="52" name="flask"/>
          <p:cNvGrpSpPr/>
          <p:nvPr/>
        </p:nvGrpSpPr>
        <p:grpSpPr>
          <a:xfrm>
            <a:off x="1663200" y="252000"/>
            <a:ext cx="159086" cy="208800"/>
            <a:chOff x="2717800" y="787400"/>
            <a:chExt cx="304800" cy="400050"/>
          </a:xfrm>
        </p:grpSpPr>
        <p:sp>
          <p:nvSpPr>
            <p:cNvPr id="49" name="033 chemistry flask"/>
            <p:cNvSpPr/>
            <p:nvPr/>
          </p:nvSpPr>
          <p:spPr>
            <a:xfrm>
              <a:off x="2717800" y="787400"/>
              <a:ext cx="304800" cy="400050"/>
            </a:xfrm>
            <a:custGeom>
              <a:avLst/>
              <a:gdLst/>
              <a:ahLst/>
              <a:cxnLst/>
              <a:rect l="l" t="t" r="r" b="b"/>
              <a:pathLst>
                <a:path w="48000" h="63000" fill="norm" stroke="1">
                  <a:moveTo>
                    <a:pt x="15000" y="0"/>
                  </a:moveTo>
                  <a:lnTo>
                    <a:pt x="34000" y="0"/>
                  </a:lnTo>
                  <a:lnTo>
                    <a:pt x="34000" y="5000"/>
                  </a:lnTo>
                  <a:lnTo>
                    <a:pt x="31000" y="5000"/>
                  </a:lnTo>
                  <a:lnTo>
                    <a:pt x="31000" y="27000"/>
                  </a:lnTo>
                  <a:lnTo>
                    <a:pt x="45000" y="53000"/>
                  </a:lnTo>
                  <a:quadBezTo>
                    <a:pt x="48000" y="63000"/>
                    <a:pt x="37000" y="63000"/>
                  </a:quadBezTo>
                  <a:lnTo>
                    <a:pt x="12000" y="63000"/>
                  </a:lnTo>
                  <a:quadBezTo>
                    <a:pt x="0" y="63000"/>
                    <a:pt x="5000" y="53000"/>
                  </a:quadBezTo>
                  <a:lnTo>
                    <a:pt x="18000" y="27000"/>
                  </a:lnTo>
                  <a:lnTo>
                    <a:pt x="18000" y="5000"/>
                  </a:lnTo>
                  <a:lnTo>
                    <a:pt x="15000" y="5000"/>
                  </a:lnTo>
                  <a:close/>
                </a:path>
              </a:pathLst>
            </a:custGeom>
            <a:solidFill>
              <a:srgbClr val="F5FAFF"/>
            </a:solidFill>
            <a:ln w="6985">
              <a:solidFill>
                <a:srgbClr val="6A9E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034 path"/>
            <p:cNvSpPr/>
            <p:nvPr/>
          </p:nvSpPr>
          <p:spPr>
            <a:xfrm>
              <a:off x="2749550" y="1041400"/>
              <a:ext cx="241300" cy="127000"/>
            </a:xfrm>
            <a:custGeom>
              <a:avLst/>
              <a:gdLst/>
              <a:ahLst/>
              <a:cxnLst/>
              <a:rect l="l" t="t" r="r" b="b"/>
              <a:pathLst>
                <a:path w="38000" h="20000" fill="norm" stroke="1">
                  <a:moveTo>
                    <a:pt x="8000" y="1000"/>
                  </a:moveTo>
                  <a:quadBezTo>
                    <a:pt x="15000" y="4000"/>
                    <a:pt x="30000" y="0"/>
                  </a:quadBezTo>
                  <a:lnTo>
                    <a:pt x="37000" y="15000"/>
                  </a:lnTo>
                  <a:quadBezTo>
                    <a:pt x="38000" y="20000"/>
                    <a:pt x="30000" y="20000"/>
                  </a:quadBezTo>
                  <a:lnTo>
                    <a:pt x="8000" y="20000"/>
                  </a:lnTo>
                  <a:quadBezTo>
                    <a:pt x="0" y="20000"/>
                    <a:pt x="5000" y="11000"/>
                  </a:quadBezTo>
                  <a:close/>
                </a:path>
              </a:pathLst>
            </a:custGeom>
            <a:solidFill>
              <a:srgbClr val="A19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035 path"/>
            <p:cNvSpPr/>
            <p:nvPr/>
          </p:nvSpPr>
          <p:spPr>
            <a:xfrm>
              <a:off x="2774950" y="1092200"/>
              <a:ext cx="25400" cy="44450"/>
            </a:xfrm>
            <a:custGeom>
              <a:avLst/>
              <a:gdLst/>
              <a:ahLst/>
              <a:cxnLst/>
              <a:rect l="l" t="t" r="r" b="b"/>
              <a:pathLst>
                <a:path w="4000" h="7000" fill="none" stroke="1">
                  <a:moveTo>
                    <a:pt x="4000" y="0"/>
                  </a:moveTo>
                  <a:lnTo>
                    <a:pt x="0" y="7000"/>
                  </a:lnTo>
                </a:path>
              </a:pathLst>
            </a:custGeom>
            <a:noFill/>
            <a:ln w="8731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3" name="label Yield?"/>
          <p:cNvSpPr txBox="1"/>
          <p:nvPr/>
        </p:nvSpPr>
        <p:spPr>
          <a:xfrm>
            <a:off x="1598012" y="482400"/>
            <a:ext cx="289461" cy="11906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b="1" i="0" dirty="0">
                <a:solidFill>
                  <a:srgbClr val="10283B"/>
                </a:solidFill>
                <a:latin typeface="Arial"/>
                <a:cs typeface="Arial"/>
              </a:rPr>
              <a:t>Yield?</a:t>
            </a:r>
            <a:endParaRPr lang="en-US" sz="750" dirty="0"/>
          </a:p>
        </p:txBody>
      </p:sp>
      <p:sp>
        <p:nvSpPr>
          <p:cNvPr id="54" name="search space card"/>
          <p:cNvSpPr/>
          <p:nvPr/>
        </p:nvSpPr>
        <p:spPr>
          <a:xfrm>
            <a:off x="21600" y="676800"/>
            <a:ext cx="1879200" cy="1332000"/>
          </a:xfrm>
          <a:prstGeom prst="roundRect">
            <a:avLst>
              <a:gd name="adj" fmla="val 3243"/>
            </a:avLst>
          </a:prstGeom>
          <a:solidFill>
            <a:srgbClr val="F7F9FB"/>
          </a:solidFill>
          <a:ln w="6350" cap="flat">
            <a:solidFill>
              <a:srgbClr val="DCE3EA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55" name="search space title bar"/>
          <p:cNvSpPr/>
          <p:nvPr/>
        </p:nvSpPr>
        <p:spPr>
          <a:xfrm>
            <a:off x="21600" y="676800"/>
            <a:ext cx="1879200" cy="144000"/>
          </a:xfrm>
          <a:prstGeom prst="roundRect">
            <a:avLst>
              <a:gd name="adj" fmla="val 30000"/>
            </a:avLst>
          </a:prstGeom>
          <a:solidFill>
            <a:srgbClr val="E6EDF4"/>
          </a:solidFill>
          <a:ln>
            <a:noFill/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Discrete choices dominate the search space</a:t>
            </a:r>
            <a:endParaRPr lang="en-US" sz="650" dirty="0"/>
          </a:p>
        </p:txBody>
      </p:sp>
      <p:sp>
        <p:nvSpPr>
          <p:cNvPr id="56" name="label Ligands"/>
          <p:cNvSpPr txBox="1"/>
          <p:nvPr/>
        </p:nvSpPr>
        <p:spPr>
          <a:xfrm>
            <a:off x="68400" y="980381"/>
            <a:ext cx="323656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Ligands</a:t>
            </a:r>
            <a:endParaRPr lang="en-US" sz="650" dirty="0"/>
          </a:p>
        </p:txBody>
      </p:sp>
      <p:grpSp>
        <p:nvGrpSpPr>
          <p:cNvPr id="88" name="PPh3 structure"/>
          <p:cNvGrpSpPr/>
          <p:nvPr/>
        </p:nvGrpSpPr>
        <p:grpSpPr>
          <a:xfrm>
            <a:off x="521685" y="910389"/>
            <a:ext cx="252630" cy="243172"/>
            <a:chOff x="521685" y="910389"/>
            <a:chExt cx="252630" cy="243172"/>
          </a:xfrm>
        </p:grpSpPr>
        <p:sp>
          <p:nvSpPr>
            <p:cNvPr id="57" name="bond"/>
            <p:cNvSpPr/>
            <p:nvPr/>
          </p:nvSpPr>
          <p:spPr>
            <a:xfrm>
              <a:off x="648389" y="910389"/>
              <a:ext cx="42040" cy="24388"/>
            </a:xfrm>
            <a:custGeom>
              <a:avLst/>
              <a:gdLst/>
              <a:ahLst/>
              <a:cxnLst/>
              <a:rect l="0" t="0" r="r" b="b"/>
              <a:pathLst>
                <a:path w="42040" h="24388" fill="none">
                  <a:moveTo>
                    <a:pt x="0" y="0"/>
                  </a:moveTo>
                  <a:lnTo>
                    <a:pt x="42040" y="2438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58" name="bond (inner)"/>
            <p:cNvSpPr/>
            <p:nvPr/>
          </p:nvSpPr>
          <p:spPr>
            <a:xfrm>
              <a:off x="650238" y="922699"/>
              <a:ext cx="28587" cy="16584"/>
            </a:xfrm>
            <a:custGeom>
              <a:avLst/>
              <a:gdLst/>
              <a:ahLst/>
              <a:cxnLst/>
              <a:rect l="0" t="0" r="r" b="b"/>
              <a:pathLst>
                <a:path w="28587" h="16584" fill="none">
                  <a:moveTo>
                    <a:pt x="0" y="0"/>
                  </a:moveTo>
                  <a:lnTo>
                    <a:pt x="28587" y="16584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59" name="bond"/>
            <p:cNvSpPr/>
            <p:nvPr/>
          </p:nvSpPr>
          <p:spPr>
            <a:xfrm>
              <a:off x="690332" y="934777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97" y="0"/>
                  </a:moveTo>
                  <a:lnTo>
                    <a:pt x="0" y="4860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0" name="bond"/>
            <p:cNvSpPr/>
            <p:nvPr/>
          </p:nvSpPr>
          <p:spPr>
            <a:xfrm>
              <a:off x="648194" y="983379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42137" y="0"/>
                  </a:moveTo>
                  <a:lnTo>
                    <a:pt x="0" y="242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1" name="bond (inner)"/>
            <p:cNvSpPr/>
            <p:nvPr/>
          </p:nvSpPr>
          <p:spPr>
            <a:xfrm>
              <a:off x="650094" y="978825"/>
              <a:ext cx="28653" cy="16465"/>
            </a:xfrm>
            <a:custGeom>
              <a:avLst/>
              <a:gdLst/>
              <a:ahLst/>
              <a:cxnLst/>
              <a:rect l="0" t="0" r="r" b="b"/>
              <a:pathLst>
                <a:path w="28653" h="16465" fill="none">
                  <a:moveTo>
                    <a:pt x="28653" y="0"/>
                  </a:moveTo>
                  <a:lnTo>
                    <a:pt x="0" y="16465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2" name="bond"/>
            <p:cNvSpPr/>
            <p:nvPr/>
          </p:nvSpPr>
          <p:spPr>
            <a:xfrm>
              <a:off x="606154" y="983213"/>
              <a:ext cx="42040" cy="24378"/>
            </a:xfrm>
            <a:custGeom>
              <a:avLst/>
              <a:gdLst/>
              <a:ahLst/>
              <a:cxnLst/>
              <a:rect l="0" t="0" r="r" b="b"/>
              <a:pathLst>
                <a:path w="42040" h="24378" fill="none">
                  <a:moveTo>
                    <a:pt x="42040" y="24378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3" name="bond"/>
            <p:cNvSpPr/>
            <p:nvPr/>
          </p:nvSpPr>
          <p:spPr>
            <a:xfrm>
              <a:off x="606154" y="934612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0" y="48601"/>
                  </a:moveTo>
                  <a:lnTo>
                    <a:pt x="9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4" name="bond (inner)"/>
            <p:cNvSpPr/>
            <p:nvPr/>
          </p:nvSpPr>
          <p:spPr>
            <a:xfrm>
              <a:off x="615890" y="942408"/>
              <a:ext cx="66" cy="33049"/>
            </a:xfrm>
            <a:custGeom>
              <a:avLst/>
              <a:gdLst/>
              <a:ahLst/>
              <a:cxnLst/>
              <a:rect l="0" t="0" r="r" b="b"/>
              <a:pathLst>
                <a:path w="66" h="33049" fill="none">
                  <a:moveTo>
                    <a:pt x="0" y="33049"/>
                  </a:moveTo>
                  <a:lnTo>
                    <a:pt x="66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5" name="bond"/>
            <p:cNvSpPr/>
            <p:nvPr/>
          </p:nvSpPr>
          <p:spPr>
            <a:xfrm>
              <a:off x="648141" y="1007592"/>
              <a:ext cx="53" cy="26731"/>
            </a:xfrm>
            <a:custGeom>
              <a:avLst/>
              <a:gdLst/>
              <a:ahLst/>
              <a:cxnLst/>
              <a:rect l="0" t="0" r="r" b="b"/>
              <a:pathLst>
                <a:path w="53" h="26731" fill="none">
                  <a:moveTo>
                    <a:pt x="53" y="0"/>
                  </a:moveTo>
                  <a:lnTo>
                    <a:pt x="0" y="2673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6" name="bond"/>
            <p:cNvSpPr/>
            <p:nvPr/>
          </p:nvSpPr>
          <p:spPr>
            <a:xfrm>
              <a:off x="605960" y="1067089"/>
              <a:ext cx="23176" cy="13317"/>
            </a:xfrm>
            <a:custGeom>
              <a:avLst/>
              <a:gdLst/>
              <a:ahLst/>
              <a:cxnLst/>
              <a:rect l="0" t="0" r="r" b="b"/>
              <a:pathLst>
                <a:path w="23176" h="13317" fill="none">
                  <a:moveTo>
                    <a:pt x="23176" y="0"/>
                  </a:moveTo>
                  <a:lnTo>
                    <a:pt x="0" y="13317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7" name="bond"/>
            <p:cNvSpPr/>
            <p:nvPr/>
          </p:nvSpPr>
          <p:spPr>
            <a:xfrm>
              <a:off x="563920" y="1056028"/>
              <a:ext cx="42040" cy="24378"/>
            </a:xfrm>
            <a:custGeom>
              <a:avLst/>
              <a:gdLst/>
              <a:ahLst/>
              <a:cxnLst/>
              <a:rect l="0" t="0" r="r" b="b"/>
              <a:pathLst>
                <a:path w="42040" h="24378" fill="none">
                  <a:moveTo>
                    <a:pt x="42040" y="24378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8" name="bond (inner)"/>
            <p:cNvSpPr/>
            <p:nvPr/>
          </p:nvSpPr>
          <p:spPr>
            <a:xfrm>
              <a:off x="565770" y="1068337"/>
              <a:ext cx="28587" cy="16577"/>
            </a:xfrm>
            <a:custGeom>
              <a:avLst/>
              <a:gdLst/>
              <a:ahLst/>
              <a:cxnLst/>
              <a:rect l="0" t="0" r="r" b="b"/>
              <a:pathLst>
                <a:path w="28587" h="16577" fill="none">
                  <a:moveTo>
                    <a:pt x="28587" y="16577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69" name="bond"/>
            <p:cNvSpPr/>
            <p:nvPr/>
          </p:nvSpPr>
          <p:spPr>
            <a:xfrm>
              <a:off x="521782" y="1056028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42137" y="0"/>
                  </a:moveTo>
                  <a:lnTo>
                    <a:pt x="0" y="242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0" name="bond"/>
            <p:cNvSpPr/>
            <p:nvPr/>
          </p:nvSpPr>
          <p:spPr>
            <a:xfrm>
              <a:off x="521685" y="1080241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97" y="0"/>
                  </a:moveTo>
                  <a:lnTo>
                    <a:pt x="0" y="4860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1" name="bond (inner)"/>
            <p:cNvSpPr/>
            <p:nvPr/>
          </p:nvSpPr>
          <p:spPr>
            <a:xfrm>
              <a:off x="531421" y="1088037"/>
              <a:ext cx="66" cy="33049"/>
            </a:xfrm>
            <a:custGeom>
              <a:avLst/>
              <a:gdLst/>
              <a:ahLst/>
              <a:cxnLst/>
              <a:rect l="0" t="0" r="r" b="b"/>
              <a:pathLst>
                <a:path w="66" h="33049" fill="none">
                  <a:moveTo>
                    <a:pt x="66" y="0"/>
                  </a:moveTo>
                  <a:lnTo>
                    <a:pt x="0" y="33049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2" name="bond"/>
            <p:cNvSpPr/>
            <p:nvPr/>
          </p:nvSpPr>
          <p:spPr>
            <a:xfrm>
              <a:off x="521685" y="1128842"/>
              <a:ext cx="42040" cy="24378"/>
            </a:xfrm>
            <a:custGeom>
              <a:avLst/>
              <a:gdLst/>
              <a:ahLst/>
              <a:cxnLst/>
              <a:rect l="0" t="0" r="r" b="b"/>
              <a:pathLst>
                <a:path w="42040" h="24378" fill="none">
                  <a:moveTo>
                    <a:pt x="0" y="0"/>
                  </a:moveTo>
                  <a:lnTo>
                    <a:pt x="42040" y="2437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3" name="bond"/>
            <p:cNvSpPr/>
            <p:nvPr/>
          </p:nvSpPr>
          <p:spPr>
            <a:xfrm>
              <a:off x="563725" y="1129008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0" y="24213"/>
                  </a:moveTo>
                  <a:lnTo>
                    <a:pt x="4213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4" name="bond (inner)"/>
            <p:cNvSpPr/>
            <p:nvPr/>
          </p:nvSpPr>
          <p:spPr>
            <a:xfrm>
              <a:off x="565625" y="1124454"/>
              <a:ext cx="28653" cy="16465"/>
            </a:xfrm>
            <a:custGeom>
              <a:avLst/>
              <a:gdLst/>
              <a:ahLst/>
              <a:cxnLst/>
              <a:rect l="0" t="0" r="r" b="b"/>
              <a:pathLst>
                <a:path w="28653" h="16465" fill="none">
                  <a:moveTo>
                    <a:pt x="0" y="16465"/>
                  </a:moveTo>
                  <a:lnTo>
                    <a:pt x="28653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5" name="bond"/>
            <p:cNvSpPr/>
            <p:nvPr/>
          </p:nvSpPr>
          <p:spPr>
            <a:xfrm>
              <a:off x="667015" y="1067168"/>
              <a:ext cx="23122" cy="13413"/>
            </a:xfrm>
            <a:custGeom>
              <a:avLst/>
              <a:gdLst/>
              <a:ahLst/>
              <a:cxnLst/>
              <a:rect l="0" t="0" r="r" b="b"/>
              <a:pathLst>
                <a:path w="23122" h="13413" fill="none">
                  <a:moveTo>
                    <a:pt x="0" y="0"/>
                  </a:moveTo>
                  <a:lnTo>
                    <a:pt x="23122" y="134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6" name="bond"/>
            <p:cNvSpPr/>
            <p:nvPr/>
          </p:nvSpPr>
          <p:spPr>
            <a:xfrm>
              <a:off x="690040" y="1080581"/>
              <a:ext cx="97" cy="48592"/>
            </a:xfrm>
            <a:custGeom>
              <a:avLst/>
              <a:gdLst/>
              <a:ahLst/>
              <a:cxnLst/>
              <a:rect l="0" t="0" r="r" b="b"/>
              <a:pathLst>
                <a:path w="97" h="48592" fill="none">
                  <a:moveTo>
                    <a:pt x="97" y="0"/>
                  </a:moveTo>
                  <a:lnTo>
                    <a:pt x="0" y="48592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7" name="bond (inner)"/>
            <p:cNvSpPr/>
            <p:nvPr/>
          </p:nvSpPr>
          <p:spPr>
            <a:xfrm>
              <a:off x="699776" y="1088375"/>
              <a:ext cx="66" cy="33042"/>
            </a:xfrm>
            <a:custGeom>
              <a:avLst/>
              <a:gdLst/>
              <a:ahLst/>
              <a:cxnLst/>
              <a:rect l="0" t="0" r="r" b="b"/>
              <a:pathLst>
                <a:path w="66" h="33042" fill="none">
                  <a:moveTo>
                    <a:pt x="66" y="0"/>
                  </a:moveTo>
                  <a:lnTo>
                    <a:pt x="0" y="33042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8" name="bond"/>
            <p:cNvSpPr/>
            <p:nvPr/>
          </p:nvSpPr>
          <p:spPr>
            <a:xfrm>
              <a:off x="690040" y="1129173"/>
              <a:ext cx="42040" cy="24388"/>
            </a:xfrm>
            <a:custGeom>
              <a:avLst/>
              <a:gdLst/>
              <a:ahLst/>
              <a:cxnLst/>
              <a:rect l="0" t="0" r="r" b="b"/>
              <a:pathLst>
                <a:path w="42040" h="24388" fill="none">
                  <a:moveTo>
                    <a:pt x="0" y="0"/>
                  </a:moveTo>
                  <a:lnTo>
                    <a:pt x="42040" y="2438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79" name="bond"/>
            <p:cNvSpPr/>
            <p:nvPr/>
          </p:nvSpPr>
          <p:spPr>
            <a:xfrm>
              <a:off x="732080" y="1129348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0" y="24213"/>
                  </a:moveTo>
                  <a:lnTo>
                    <a:pt x="4213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0" name="bond (inner)"/>
            <p:cNvSpPr/>
            <p:nvPr/>
          </p:nvSpPr>
          <p:spPr>
            <a:xfrm>
              <a:off x="733979" y="1124794"/>
              <a:ext cx="28653" cy="16465"/>
            </a:xfrm>
            <a:custGeom>
              <a:avLst/>
              <a:gdLst/>
              <a:ahLst/>
              <a:cxnLst/>
              <a:rect l="0" t="0" r="r" b="b"/>
              <a:pathLst>
                <a:path w="28653" h="16465" fill="none">
                  <a:moveTo>
                    <a:pt x="0" y="16465"/>
                  </a:moveTo>
                  <a:lnTo>
                    <a:pt x="28653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1" name="bond"/>
            <p:cNvSpPr/>
            <p:nvPr/>
          </p:nvSpPr>
          <p:spPr>
            <a:xfrm>
              <a:off x="774218" y="1080746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0" y="48601"/>
                  </a:moveTo>
                  <a:lnTo>
                    <a:pt x="9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2" name="bond"/>
            <p:cNvSpPr/>
            <p:nvPr/>
          </p:nvSpPr>
          <p:spPr>
            <a:xfrm>
              <a:off x="732275" y="1056358"/>
              <a:ext cx="42040" cy="24388"/>
            </a:xfrm>
            <a:custGeom>
              <a:avLst/>
              <a:gdLst/>
              <a:ahLst/>
              <a:cxnLst/>
              <a:rect l="0" t="0" r="r" b="b"/>
              <a:pathLst>
                <a:path w="42040" h="24388" fill="none">
                  <a:moveTo>
                    <a:pt x="42040" y="24388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3" name="bond (inner)"/>
            <p:cNvSpPr/>
            <p:nvPr/>
          </p:nvSpPr>
          <p:spPr>
            <a:xfrm>
              <a:off x="734124" y="1068668"/>
              <a:ext cx="28587" cy="16584"/>
            </a:xfrm>
            <a:custGeom>
              <a:avLst/>
              <a:gdLst/>
              <a:ahLst/>
              <a:cxnLst/>
              <a:rect l="0" t="0" r="r" b="b"/>
              <a:pathLst>
                <a:path w="28587" h="16584" fill="none">
                  <a:moveTo>
                    <a:pt x="28587" y="16584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4" name="bond"/>
            <p:cNvSpPr/>
            <p:nvPr/>
          </p:nvSpPr>
          <p:spPr>
            <a:xfrm>
              <a:off x="606251" y="910389"/>
              <a:ext cx="42137" cy="24223"/>
            </a:xfrm>
            <a:custGeom>
              <a:avLst/>
              <a:gdLst/>
              <a:ahLst/>
              <a:cxnLst/>
              <a:rect l="0" t="0" r="r" b="b"/>
              <a:pathLst>
                <a:path w="42137" h="24223" fill="none">
                  <a:moveTo>
                    <a:pt x="0" y="24223"/>
                  </a:moveTo>
                  <a:lnTo>
                    <a:pt x="4213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5" name="bond"/>
            <p:cNvSpPr/>
            <p:nvPr/>
          </p:nvSpPr>
          <p:spPr>
            <a:xfrm>
              <a:off x="605863" y="1080406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0" y="48601"/>
                  </a:moveTo>
                  <a:lnTo>
                    <a:pt x="9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6" name="bond"/>
            <p:cNvSpPr/>
            <p:nvPr/>
          </p:nvSpPr>
          <p:spPr>
            <a:xfrm>
              <a:off x="690137" y="1056358"/>
              <a:ext cx="42137" cy="24223"/>
            </a:xfrm>
            <a:custGeom>
              <a:avLst/>
              <a:gdLst/>
              <a:ahLst/>
              <a:cxnLst/>
              <a:rect l="0" t="0" r="r" b="b"/>
              <a:pathLst>
                <a:path w="42137" h="24223" fill="none">
                  <a:moveTo>
                    <a:pt x="42137" y="0"/>
                  </a:moveTo>
                  <a:lnTo>
                    <a:pt x="0" y="2422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87" name="atom P"/>
            <p:cNvSpPr txBox="1"/>
            <p:nvPr/>
          </p:nvSpPr>
          <p:spPr>
            <a:xfrm>
              <a:off x="621203" y="1013934"/>
              <a:ext cx="53789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P</a:t>
              </a:r>
              <a:endParaRPr lang="en-US" sz="550" dirty="0"/>
            </a:p>
          </p:txBody>
        </p:sp>
      </p:grpSp>
      <p:sp>
        <p:nvSpPr>
          <p:cNvPr id="89" name="name"/>
          <p:cNvSpPr txBox="1"/>
          <p:nvPr/>
        </p:nvSpPr>
        <p:spPr>
          <a:xfrm>
            <a:off x="551234" y="1175161"/>
            <a:ext cx="193533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PPh</a:t>
            </a:r>
            <a:r>
              <a:rPr lang="en-US" sz="65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50" dirty="0"/>
          </a:p>
        </p:txBody>
      </p:sp>
      <p:grpSp>
        <p:nvGrpSpPr>
          <p:cNvPr id="112" name="PCy3 structure"/>
          <p:cNvGrpSpPr/>
          <p:nvPr/>
        </p:nvGrpSpPr>
        <p:grpSpPr>
          <a:xfrm>
            <a:off x="874485" y="910389"/>
            <a:ext cx="252630" cy="243172"/>
            <a:chOff x="874485" y="910389"/>
            <a:chExt cx="252630" cy="243172"/>
          </a:xfrm>
        </p:grpSpPr>
        <p:sp>
          <p:nvSpPr>
            <p:cNvPr id="90" name="bond"/>
            <p:cNvSpPr/>
            <p:nvPr/>
          </p:nvSpPr>
          <p:spPr>
            <a:xfrm>
              <a:off x="1001189" y="910389"/>
              <a:ext cx="42040" cy="24388"/>
            </a:xfrm>
            <a:custGeom>
              <a:avLst/>
              <a:gdLst/>
              <a:ahLst/>
              <a:cxnLst/>
              <a:rect l="0" t="0" r="r" b="b"/>
              <a:pathLst>
                <a:path w="42040" h="24388" fill="none">
                  <a:moveTo>
                    <a:pt x="0" y="0"/>
                  </a:moveTo>
                  <a:lnTo>
                    <a:pt x="42040" y="2438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1" name="bond"/>
            <p:cNvSpPr/>
            <p:nvPr/>
          </p:nvSpPr>
          <p:spPr>
            <a:xfrm>
              <a:off x="1043132" y="934777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97" y="0"/>
                  </a:moveTo>
                  <a:lnTo>
                    <a:pt x="0" y="4860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2" name="bond"/>
            <p:cNvSpPr/>
            <p:nvPr/>
          </p:nvSpPr>
          <p:spPr>
            <a:xfrm>
              <a:off x="1000994" y="983379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42137" y="0"/>
                  </a:moveTo>
                  <a:lnTo>
                    <a:pt x="0" y="242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3" name="bond"/>
            <p:cNvSpPr/>
            <p:nvPr/>
          </p:nvSpPr>
          <p:spPr>
            <a:xfrm>
              <a:off x="958954" y="983213"/>
              <a:ext cx="42040" cy="24378"/>
            </a:xfrm>
            <a:custGeom>
              <a:avLst/>
              <a:gdLst/>
              <a:ahLst/>
              <a:cxnLst/>
              <a:rect l="0" t="0" r="r" b="b"/>
              <a:pathLst>
                <a:path w="42040" h="24378" fill="none">
                  <a:moveTo>
                    <a:pt x="42040" y="24378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4" name="bond"/>
            <p:cNvSpPr/>
            <p:nvPr/>
          </p:nvSpPr>
          <p:spPr>
            <a:xfrm>
              <a:off x="958954" y="934612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0" y="48601"/>
                  </a:moveTo>
                  <a:lnTo>
                    <a:pt x="9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5" name="bond"/>
            <p:cNvSpPr/>
            <p:nvPr/>
          </p:nvSpPr>
          <p:spPr>
            <a:xfrm>
              <a:off x="1000941" y="1007592"/>
              <a:ext cx="53" cy="26731"/>
            </a:xfrm>
            <a:custGeom>
              <a:avLst/>
              <a:gdLst/>
              <a:ahLst/>
              <a:cxnLst/>
              <a:rect l="0" t="0" r="r" b="b"/>
              <a:pathLst>
                <a:path w="53" h="26731" fill="none">
                  <a:moveTo>
                    <a:pt x="53" y="0"/>
                  </a:moveTo>
                  <a:lnTo>
                    <a:pt x="0" y="2673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6" name="bond"/>
            <p:cNvSpPr/>
            <p:nvPr/>
          </p:nvSpPr>
          <p:spPr>
            <a:xfrm>
              <a:off x="958760" y="1067089"/>
              <a:ext cx="23176" cy="13317"/>
            </a:xfrm>
            <a:custGeom>
              <a:avLst/>
              <a:gdLst/>
              <a:ahLst/>
              <a:cxnLst/>
              <a:rect l="0" t="0" r="r" b="b"/>
              <a:pathLst>
                <a:path w="23176" h="13317" fill="none">
                  <a:moveTo>
                    <a:pt x="23176" y="0"/>
                  </a:moveTo>
                  <a:lnTo>
                    <a:pt x="0" y="13317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7" name="bond"/>
            <p:cNvSpPr/>
            <p:nvPr/>
          </p:nvSpPr>
          <p:spPr>
            <a:xfrm>
              <a:off x="916720" y="1056028"/>
              <a:ext cx="42040" cy="24378"/>
            </a:xfrm>
            <a:custGeom>
              <a:avLst/>
              <a:gdLst/>
              <a:ahLst/>
              <a:cxnLst/>
              <a:rect l="0" t="0" r="r" b="b"/>
              <a:pathLst>
                <a:path w="42040" h="24378" fill="none">
                  <a:moveTo>
                    <a:pt x="42040" y="24378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8" name="bond"/>
            <p:cNvSpPr/>
            <p:nvPr/>
          </p:nvSpPr>
          <p:spPr>
            <a:xfrm>
              <a:off x="874582" y="1056028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42137" y="0"/>
                  </a:moveTo>
                  <a:lnTo>
                    <a:pt x="0" y="242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99" name="bond"/>
            <p:cNvSpPr/>
            <p:nvPr/>
          </p:nvSpPr>
          <p:spPr>
            <a:xfrm>
              <a:off x="874485" y="1080241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97" y="0"/>
                  </a:moveTo>
                  <a:lnTo>
                    <a:pt x="0" y="4860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0" name="bond"/>
            <p:cNvSpPr/>
            <p:nvPr/>
          </p:nvSpPr>
          <p:spPr>
            <a:xfrm>
              <a:off x="874485" y="1128842"/>
              <a:ext cx="42040" cy="24378"/>
            </a:xfrm>
            <a:custGeom>
              <a:avLst/>
              <a:gdLst/>
              <a:ahLst/>
              <a:cxnLst/>
              <a:rect l="0" t="0" r="r" b="b"/>
              <a:pathLst>
                <a:path w="42040" h="24378" fill="none">
                  <a:moveTo>
                    <a:pt x="0" y="0"/>
                  </a:moveTo>
                  <a:lnTo>
                    <a:pt x="42040" y="2437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1" name="bond"/>
            <p:cNvSpPr/>
            <p:nvPr/>
          </p:nvSpPr>
          <p:spPr>
            <a:xfrm>
              <a:off x="916525" y="1129008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0" y="24213"/>
                  </a:moveTo>
                  <a:lnTo>
                    <a:pt x="4213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2" name="bond"/>
            <p:cNvSpPr/>
            <p:nvPr/>
          </p:nvSpPr>
          <p:spPr>
            <a:xfrm>
              <a:off x="1019815" y="1067168"/>
              <a:ext cx="23122" cy="13413"/>
            </a:xfrm>
            <a:custGeom>
              <a:avLst/>
              <a:gdLst/>
              <a:ahLst/>
              <a:cxnLst/>
              <a:rect l="0" t="0" r="r" b="b"/>
              <a:pathLst>
                <a:path w="23122" h="13413" fill="none">
                  <a:moveTo>
                    <a:pt x="0" y="0"/>
                  </a:moveTo>
                  <a:lnTo>
                    <a:pt x="23122" y="134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3" name="bond"/>
            <p:cNvSpPr/>
            <p:nvPr/>
          </p:nvSpPr>
          <p:spPr>
            <a:xfrm>
              <a:off x="1042840" y="1080581"/>
              <a:ext cx="97" cy="48592"/>
            </a:xfrm>
            <a:custGeom>
              <a:avLst/>
              <a:gdLst/>
              <a:ahLst/>
              <a:cxnLst/>
              <a:rect l="0" t="0" r="r" b="b"/>
              <a:pathLst>
                <a:path w="97" h="48592" fill="none">
                  <a:moveTo>
                    <a:pt x="97" y="0"/>
                  </a:moveTo>
                  <a:lnTo>
                    <a:pt x="0" y="48592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4" name="bond"/>
            <p:cNvSpPr/>
            <p:nvPr/>
          </p:nvSpPr>
          <p:spPr>
            <a:xfrm>
              <a:off x="1042840" y="1129173"/>
              <a:ext cx="42040" cy="24388"/>
            </a:xfrm>
            <a:custGeom>
              <a:avLst/>
              <a:gdLst/>
              <a:ahLst/>
              <a:cxnLst/>
              <a:rect l="0" t="0" r="r" b="b"/>
              <a:pathLst>
                <a:path w="42040" h="24388" fill="none">
                  <a:moveTo>
                    <a:pt x="0" y="0"/>
                  </a:moveTo>
                  <a:lnTo>
                    <a:pt x="42040" y="2438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5" name="bond"/>
            <p:cNvSpPr/>
            <p:nvPr/>
          </p:nvSpPr>
          <p:spPr>
            <a:xfrm>
              <a:off x="1084880" y="1129348"/>
              <a:ext cx="42137" cy="24213"/>
            </a:xfrm>
            <a:custGeom>
              <a:avLst/>
              <a:gdLst/>
              <a:ahLst/>
              <a:cxnLst/>
              <a:rect l="0" t="0" r="r" b="b"/>
              <a:pathLst>
                <a:path w="42137" h="24213" fill="none">
                  <a:moveTo>
                    <a:pt x="0" y="24213"/>
                  </a:moveTo>
                  <a:lnTo>
                    <a:pt x="4213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6" name="bond"/>
            <p:cNvSpPr/>
            <p:nvPr/>
          </p:nvSpPr>
          <p:spPr>
            <a:xfrm>
              <a:off x="1127018" y="1080746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0" y="48601"/>
                  </a:moveTo>
                  <a:lnTo>
                    <a:pt x="9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7" name="bond"/>
            <p:cNvSpPr/>
            <p:nvPr/>
          </p:nvSpPr>
          <p:spPr>
            <a:xfrm>
              <a:off x="1085075" y="1056358"/>
              <a:ext cx="42040" cy="24388"/>
            </a:xfrm>
            <a:custGeom>
              <a:avLst/>
              <a:gdLst/>
              <a:ahLst/>
              <a:cxnLst/>
              <a:rect l="0" t="0" r="r" b="b"/>
              <a:pathLst>
                <a:path w="42040" h="24388" fill="none">
                  <a:moveTo>
                    <a:pt x="42040" y="24388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8" name="bond"/>
            <p:cNvSpPr/>
            <p:nvPr/>
          </p:nvSpPr>
          <p:spPr>
            <a:xfrm>
              <a:off x="959051" y="910389"/>
              <a:ext cx="42137" cy="24223"/>
            </a:xfrm>
            <a:custGeom>
              <a:avLst/>
              <a:gdLst/>
              <a:ahLst/>
              <a:cxnLst/>
              <a:rect l="0" t="0" r="r" b="b"/>
              <a:pathLst>
                <a:path w="42137" h="24223" fill="none">
                  <a:moveTo>
                    <a:pt x="0" y="24223"/>
                  </a:moveTo>
                  <a:lnTo>
                    <a:pt x="4213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09" name="bond"/>
            <p:cNvSpPr/>
            <p:nvPr/>
          </p:nvSpPr>
          <p:spPr>
            <a:xfrm>
              <a:off x="958663" y="1080406"/>
              <a:ext cx="97" cy="48601"/>
            </a:xfrm>
            <a:custGeom>
              <a:avLst/>
              <a:gdLst/>
              <a:ahLst/>
              <a:cxnLst/>
              <a:rect l="0" t="0" r="r" b="b"/>
              <a:pathLst>
                <a:path w="97" h="48601" fill="none">
                  <a:moveTo>
                    <a:pt x="0" y="48601"/>
                  </a:moveTo>
                  <a:lnTo>
                    <a:pt x="9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0" name="bond"/>
            <p:cNvSpPr/>
            <p:nvPr/>
          </p:nvSpPr>
          <p:spPr>
            <a:xfrm>
              <a:off x="1042937" y="1056358"/>
              <a:ext cx="42137" cy="24223"/>
            </a:xfrm>
            <a:custGeom>
              <a:avLst/>
              <a:gdLst/>
              <a:ahLst/>
              <a:cxnLst/>
              <a:rect l="0" t="0" r="r" b="b"/>
              <a:pathLst>
                <a:path w="42137" h="24223" fill="none">
                  <a:moveTo>
                    <a:pt x="42137" y="0"/>
                  </a:moveTo>
                  <a:lnTo>
                    <a:pt x="0" y="2422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1" name="atom P"/>
            <p:cNvSpPr txBox="1"/>
            <p:nvPr/>
          </p:nvSpPr>
          <p:spPr>
            <a:xfrm>
              <a:off x="974003" y="1013934"/>
              <a:ext cx="53789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P</a:t>
              </a:r>
              <a:endParaRPr lang="en-US" sz="550" dirty="0"/>
            </a:p>
          </p:txBody>
        </p:sp>
      </p:grpSp>
      <p:sp>
        <p:nvSpPr>
          <p:cNvPr id="113" name="name"/>
          <p:cNvSpPr txBox="1"/>
          <p:nvPr/>
        </p:nvSpPr>
        <p:spPr>
          <a:xfrm>
            <a:off x="904074" y="1175161"/>
            <a:ext cx="193451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PCy</a:t>
            </a:r>
            <a:r>
              <a:rPr lang="en-US" sz="65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50" dirty="0"/>
          </a:p>
        </p:txBody>
      </p:sp>
      <p:grpSp>
        <p:nvGrpSpPr>
          <p:cNvPr id="144" name="XPhos structure"/>
          <p:cNvGrpSpPr/>
          <p:nvPr/>
        </p:nvGrpSpPr>
        <p:grpSpPr>
          <a:xfrm>
            <a:off x="1312395" y="917863"/>
            <a:ext cx="412441" cy="228224"/>
            <a:chOff x="1312395" y="917863"/>
            <a:chExt cx="412441" cy="228224"/>
          </a:xfrm>
        </p:grpSpPr>
        <p:sp>
          <p:nvSpPr>
            <p:cNvPr id="114" name="bond"/>
            <p:cNvSpPr/>
            <p:nvPr/>
          </p:nvSpPr>
          <p:spPr>
            <a:xfrm>
              <a:off x="1353540" y="917863"/>
              <a:ext cx="218" cy="47462"/>
            </a:xfrm>
            <a:custGeom>
              <a:avLst/>
              <a:gdLst/>
              <a:ahLst/>
              <a:cxnLst/>
              <a:rect l="0" t="0" r="r" b="b"/>
              <a:pathLst>
                <a:path w="218" h="47462" fill="none">
                  <a:moveTo>
                    <a:pt x="218" y="0"/>
                  </a:moveTo>
                  <a:lnTo>
                    <a:pt x="0" y="47462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5" name="bond"/>
            <p:cNvSpPr/>
            <p:nvPr/>
          </p:nvSpPr>
          <p:spPr>
            <a:xfrm>
              <a:off x="1312395" y="965325"/>
              <a:ext cx="41145" cy="23513"/>
            </a:xfrm>
            <a:custGeom>
              <a:avLst/>
              <a:gdLst/>
              <a:ahLst/>
              <a:cxnLst/>
              <a:rect l="0" t="0" r="r" b="b"/>
              <a:pathLst>
                <a:path w="41145" h="23513" fill="none">
                  <a:moveTo>
                    <a:pt x="41145" y="0"/>
                  </a:moveTo>
                  <a:lnTo>
                    <a:pt x="0" y="235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6" name="bond"/>
            <p:cNvSpPr/>
            <p:nvPr/>
          </p:nvSpPr>
          <p:spPr>
            <a:xfrm>
              <a:off x="1353540" y="965325"/>
              <a:ext cx="41050" cy="23883"/>
            </a:xfrm>
            <a:custGeom>
              <a:avLst/>
              <a:gdLst/>
              <a:ahLst/>
              <a:cxnLst/>
              <a:rect l="0" t="0" r="r" b="b"/>
              <a:pathLst>
                <a:path w="41050" h="23883" fill="none">
                  <a:moveTo>
                    <a:pt x="0" y="0"/>
                  </a:moveTo>
                  <a:lnTo>
                    <a:pt x="41050" y="2388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7" name="bond"/>
            <p:cNvSpPr/>
            <p:nvPr/>
          </p:nvSpPr>
          <p:spPr>
            <a:xfrm>
              <a:off x="1394534" y="989208"/>
              <a:ext cx="57" cy="47424"/>
            </a:xfrm>
            <a:custGeom>
              <a:avLst/>
              <a:gdLst/>
              <a:ahLst/>
              <a:cxnLst/>
              <a:rect l="0" t="0" r="r" b="b"/>
              <a:pathLst>
                <a:path w="57" h="47424" fill="none">
                  <a:moveTo>
                    <a:pt x="57" y="0"/>
                  </a:moveTo>
                  <a:lnTo>
                    <a:pt x="0" y="47424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8" name="bond (inner)"/>
            <p:cNvSpPr/>
            <p:nvPr/>
          </p:nvSpPr>
          <p:spPr>
            <a:xfrm>
              <a:off x="1404263" y="996808"/>
              <a:ext cx="39" cy="32248"/>
            </a:xfrm>
            <a:custGeom>
              <a:avLst/>
              <a:gdLst/>
              <a:ahLst/>
              <a:cxnLst/>
              <a:rect l="0" t="0" r="r" b="b"/>
              <a:pathLst>
                <a:path w="39" h="32248" fill="none">
                  <a:moveTo>
                    <a:pt x="39" y="0"/>
                  </a:moveTo>
                  <a:lnTo>
                    <a:pt x="0" y="3224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19" name="bond"/>
            <p:cNvSpPr/>
            <p:nvPr/>
          </p:nvSpPr>
          <p:spPr>
            <a:xfrm>
              <a:off x="1394534" y="1036632"/>
              <a:ext cx="41202" cy="23617"/>
            </a:xfrm>
            <a:custGeom>
              <a:avLst/>
              <a:gdLst/>
              <a:ahLst/>
              <a:cxnLst/>
              <a:rect l="0" t="0" r="r" b="b"/>
              <a:pathLst>
                <a:path w="41202" h="23617" fill="none">
                  <a:moveTo>
                    <a:pt x="0" y="0"/>
                  </a:moveTo>
                  <a:lnTo>
                    <a:pt x="41202" y="23617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0" name="bond"/>
            <p:cNvSpPr/>
            <p:nvPr/>
          </p:nvSpPr>
          <p:spPr>
            <a:xfrm>
              <a:off x="1435556" y="1060249"/>
              <a:ext cx="180" cy="47462"/>
            </a:xfrm>
            <a:custGeom>
              <a:avLst/>
              <a:gdLst/>
              <a:ahLst/>
              <a:cxnLst/>
              <a:rect l="0" t="0" r="r" b="b"/>
              <a:pathLst>
                <a:path w="180" h="47462" fill="none">
                  <a:moveTo>
                    <a:pt x="180" y="0"/>
                  </a:moveTo>
                  <a:lnTo>
                    <a:pt x="0" y="47462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1" name="bond"/>
            <p:cNvSpPr/>
            <p:nvPr/>
          </p:nvSpPr>
          <p:spPr>
            <a:xfrm>
              <a:off x="1435556" y="1107711"/>
              <a:ext cx="40908" cy="23911"/>
            </a:xfrm>
            <a:custGeom>
              <a:avLst/>
              <a:gdLst/>
              <a:ahLst/>
              <a:cxnLst/>
              <a:rect l="0" t="0" r="r" b="b"/>
              <a:pathLst>
                <a:path w="40908" h="23911" fill="none">
                  <a:moveTo>
                    <a:pt x="0" y="0"/>
                  </a:moveTo>
                  <a:lnTo>
                    <a:pt x="40908" y="2391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2" name="bond"/>
            <p:cNvSpPr/>
            <p:nvPr/>
          </p:nvSpPr>
          <p:spPr>
            <a:xfrm>
              <a:off x="1394325" y="1107711"/>
              <a:ext cx="41231" cy="23513"/>
            </a:xfrm>
            <a:custGeom>
              <a:avLst/>
              <a:gdLst/>
              <a:ahLst/>
              <a:cxnLst/>
              <a:rect l="0" t="0" r="r" b="b"/>
              <a:pathLst>
                <a:path w="41231" h="23513" fill="none">
                  <a:moveTo>
                    <a:pt x="41231" y="0"/>
                  </a:moveTo>
                  <a:lnTo>
                    <a:pt x="0" y="2351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3" name="bond"/>
            <p:cNvSpPr/>
            <p:nvPr/>
          </p:nvSpPr>
          <p:spPr>
            <a:xfrm>
              <a:off x="1435736" y="1036604"/>
              <a:ext cx="41136" cy="23646"/>
            </a:xfrm>
            <a:custGeom>
              <a:avLst/>
              <a:gdLst/>
              <a:ahLst/>
              <a:cxnLst/>
              <a:rect l="0" t="0" r="r" b="b"/>
              <a:pathLst>
                <a:path w="41136" h="23646" fill="none">
                  <a:moveTo>
                    <a:pt x="0" y="23646"/>
                  </a:moveTo>
                  <a:lnTo>
                    <a:pt x="41136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4" name="bond (inner)"/>
            <p:cNvSpPr/>
            <p:nvPr/>
          </p:nvSpPr>
          <p:spPr>
            <a:xfrm>
              <a:off x="1437474" y="1031960"/>
              <a:ext cx="27972" cy="16079"/>
            </a:xfrm>
            <a:custGeom>
              <a:avLst/>
              <a:gdLst/>
              <a:ahLst/>
              <a:cxnLst/>
              <a:rect l="0" t="0" r="r" b="b"/>
              <a:pathLst>
                <a:path w="27972" h="16079" fill="none">
                  <a:moveTo>
                    <a:pt x="0" y="16079"/>
                  </a:moveTo>
                  <a:lnTo>
                    <a:pt x="27972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5" name="bond"/>
            <p:cNvSpPr/>
            <p:nvPr/>
          </p:nvSpPr>
          <p:spPr>
            <a:xfrm>
              <a:off x="1476872" y="1036604"/>
              <a:ext cx="65910" cy="37285"/>
            </a:xfrm>
            <a:custGeom>
              <a:avLst/>
              <a:gdLst/>
              <a:ahLst/>
              <a:cxnLst/>
              <a:rect l="0" t="0" r="r" b="b"/>
              <a:pathLst>
                <a:path w="65910" h="37285" fill="none">
                  <a:moveTo>
                    <a:pt x="0" y="0"/>
                  </a:moveTo>
                  <a:lnTo>
                    <a:pt x="65910" y="37285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6" name="bond"/>
            <p:cNvSpPr/>
            <p:nvPr/>
          </p:nvSpPr>
          <p:spPr>
            <a:xfrm>
              <a:off x="1541681" y="1073888"/>
              <a:ext cx="1100" cy="47443"/>
            </a:xfrm>
            <a:custGeom>
              <a:avLst/>
              <a:gdLst/>
              <a:ahLst/>
              <a:cxnLst/>
              <a:rect l="0" t="0" r="r" b="b"/>
              <a:pathLst>
                <a:path w="1100" h="47443" fill="none">
                  <a:moveTo>
                    <a:pt x="1100" y="0"/>
                  </a:moveTo>
                  <a:lnTo>
                    <a:pt x="0" y="47443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7" name="bond (inner)"/>
            <p:cNvSpPr/>
            <p:nvPr/>
          </p:nvSpPr>
          <p:spPr>
            <a:xfrm>
              <a:off x="1551575" y="1081705"/>
              <a:ext cx="748" cy="32261"/>
            </a:xfrm>
            <a:custGeom>
              <a:avLst/>
              <a:gdLst/>
              <a:ahLst/>
              <a:cxnLst/>
              <a:rect l="0" t="0" r="r" b="b"/>
              <a:pathLst>
                <a:path w="748" h="32261" fill="none">
                  <a:moveTo>
                    <a:pt x="748" y="0"/>
                  </a:moveTo>
                  <a:lnTo>
                    <a:pt x="0" y="32261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8" name="bond"/>
            <p:cNvSpPr/>
            <p:nvPr/>
          </p:nvSpPr>
          <p:spPr>
            <a:xfrm>
              <a:off x="1541681" y="1121332"/>
              <a:ext cx="40491" cy="24755"/>
            </a:xfrm>
            <a:custGeom>
              <a:avLst/>
              <a:gdLst/>
              <a:ahLst/>
              <a:cxnLst/>
              <a:rect l="0" t="0" r="r" b="b"/>
              <a:pathLst>
                <a:path w="40491" h="24755" fill="none">
                  <a:moveTo>
                    <a:pt x="0" y="0"/>
                  </a:moveTo>
                  <a:lnTo>
                    <a:pt x="40491" y="24755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29" name="bond"/>
            <p:cNvSpPr/>
            <p:nvPr/>
          </p:nvSpPr>
          <p:spPr>
            <a:xfrm>
              <a:off x="1582172" y="1123219"/>
              <a:ext cx="41714" cy="22868"/>
            </a:xfrm>
            <a:custGeom>
              <a:avLst/>
              <a:gdLst/>
              <a:ahLst/>
              <a:cxnLst/>
              <a:rect l="0" t="0" r="r" b="b"/>
              <a:pathLst>
                <a:path w="41714" h="22868" fill="none">
                  <a:moveTo>
                    <a:pt x="0" y="22868"/>
                  </a:moveTo>
                  <a:lnTo>
                    <a:pt x="41714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0" name="bond (inner)"/>
            <p:cNvSpPr/>
            <p:nvPr/>
          </p:nvSpPr>
          <p:spPr>
            <a:xfrm>
              <a:off x="1584174" y="1118355"/>
              <a:ext cx="28366" cy="15550"/>
            </a:xfrm>
            <a:custGeom>
              <a:avLst/>
              <a:gdLst/>
              <a:ahLst/>
              <a:cxnLst/>
              <a:rect l="0" t="0" r="r" b="b"/>
              <a:pathLst>
                <a:path w="28366" h="15550" fill="none">
                  <a:moveTo>
                    <a:pt x="0" y="15550"/>
                  </a:moveTo>
                  <a:lnTo>
                    <a:pt x="28366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1" name="bond"/>
            <p:cNvSpPr/>
            <p:nvPr/>
          </p:nvSpPr>
          <p:spPr>
            <a:xfrm>
              <a:off x="1623886" y="1075757"/>
              <a:ext cx="1318" cy="47462"/>
            </a:xfrm>
            <a:custGeom>
              <a:avLst/>
              <a:gdLst/>
              <a:ahLst/>
              <a:cxnLst/>
              <a:rect l="0" t="0" r="r" b="b"/>
              <a:pathLst>
                <a:path w="1318" h="47462" fill="none">
                  <a:moveTo>
                    <a:pt x="0" y="47462"/>
                  </a:moveTo>
                  <a:lnTo>
                    <a:pt x="1318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2" name="bond"/>
            <p:cNvSpPr/>
            <p:nvPr/>
          </p:nvSpPr>
          <p:spPr>
            <a:xfrm>
              <a:off x="1584619" y="1051153"/>
              <a:ext cx="40586" cy="24604"/>
            </a:xfrm>
            <a:custGeom>
              <a:avLst/>
              <a:gdLst/>
              <a:ahLst/>
              <a:cxnLst/>
              <a:rect l="0" t="0" r="r" b="b"/>
              <a:pathLst>
                <a:path w="40586" h="24604" fill="none">
                  <a:moveTo>
                    <a:pt x="40586" y="24604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3" name="bond (inner)"/>
            <p:cNvSpPr/>
            <p:nvPr/>
          </p:nvSpPr>
          <p:spPr>
            <a:xfrm>
              <a:off x="1586074" y="1063402"/>
              <a:ext cx="27598" cy="16730"/>
            </a:xfrm>
            <a:custGeom>
              <a:avLst/>
              <a:gdLst/>
              <a:ahLst/>
              <a:cxnLst/>
              <a:rect l="0" t="0" r="r" b="b"/>
              <a:pathLst>
                <a:path w="27598" h="16730" fill="none">
                  <a:moveTo>
                    <a:pt x="27598" y="16730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4" name="bond"/>
            <p:cNvSpPr/>
            <p:nvPr/>
          </p:nvSpPr>
          <p:spPr>
            <a:xfrm>
              <a:off x="1584619" y="1024491"/>
              <a:ext cx="1273" cy="26662"/>
            </a:xfrm>
            <a:custGeom>
              <a:avLst/>
              <a:gdLst/>
              <a:ahLst/>
              <a:cxnLst/>
              <a:rect l="0" t="0" r="r" b="b"/>
              <a:pathLst>
                <a:path w="1273" h="26662" fill="none">
                  <a:moveTo>
                    <a:pt x="0" y="26662"/>
                  </a:moveTo>
                  <a:lnTo>
                    <a:pt x="1273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5" name="bond"/>
            <p:cNvSpPr/>
            <p:nvPr/>
          </p:nvSpPr>
          <p:spPr>
            <a:xfrm>
              <a:off x="1476682" y="989199"/>
              <a:ext cx="190" cy="47405"/>
            </a:xfrm>
            <a:custGeom>
              <a:avLst/>
              <a:gdLst/>
              <a:ahLst/>
              <a:cxnLst/>
              <a:rect l="0" t="0" r="r" b="b"/>
              <a:pathLst>
                <a:path w="190" h="47405" fill="none">
                  <a:moveTo>
                    <a:pt x="190" y="47405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6" name="bond"/>
            <p:cNvSpPr/>
            <p:nvPr/>
          </p:nvSpPr>
          <p:spPr>
            <a:xfrm>
              <a:off x="1476682" y="967165"/>
              <a:ext cx="39647" cy="22033"/>
            </a:xfrm>
            <a:custGeom>
              <a:avLst/>
              <a:gdLst/>
              <a:ahLst/>
              <a:cxnLst/>
              <a:rect l="0" t="0" r="r" b="b"/>
              <a:pathLst>
                <a:path w="39647" h="22033" fill="none">
                  <a:moveTo>
                    <a:pt x="0" y="22033"/>
                  </a:moveTo>
                  <a:lnTo>
                    <a:pt x="3964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7" name="bond"/>
            <p:cNvSpPr/>
            <p:nvPr/>
          </p:nvSpPr>
          <p:spPr>
            <a:xfrm>
              <a:off x="1516328" y="967165"/>
              <a:ext cx="39144" cy="24898"/>
            </a:xfrm>
            <a:custGeom>
              <a:avLst/>
              <a:gdLst/>
              <a:ahLst/>
              <a:cxnLst/>
              <a:rect l="0" t="0" r="r" b="b"/>
              <a:pathLst>
                <a:path w="39144" h="24898" fill="none">
                  <a:moveTo>
                    <a:pt x="0" y="0"/>
                  </a:moveTo>
                  <a:lnTo>
                    <a:pt x="39144" y="24898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8" name="bond"/>
            <p:cNvSpPr/>
            <p:nvPr/>
          </p:nvSpPr>
          <p:spPr>
            <a:xfrm>
              <a:off x="1516328" y="919760"/>
              <a:ext cx="1347" cy="47405"/>
            </a:xfrm>
            <a:custGeom>
              <a:avLst/>
              <a:gdLst/>
              <a:ahLst/>
              <a:cxnLst/>
              <a:rect l="0" t="0" r="r" b="b"/>
              <a:pathLst>
                <a:path w="1347" h="47405" fill="none">
                  <a:moveTo>
                    <a:pt x="0" y="47405"/>
                  </a:moveTo>
                  <a:lnTo>
                    <a:pt x="1347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39" name="bond"/>
            <p:cNvSpPr/>
            <p:nvPr/>
          </p:nvSpPr>
          <p:spPr>
            <a:xfrm>
              <a:off x="1435603" y="965392"/>
              <a:ext cx="41079" cy="23807"/>
            </a:xfrm>
            <a:custGeom>
              <a:avLst/>
              <a:gdLst/>
              <a:ahLst/>
              <a:cxnLst/>
              <a:rect l="0" t="0" r="r" b="b"/>
              <a:pathLst>
                <a:path w="41079" h="23807" fill="none">
                  <a:moveTo>
                    <a:pt x="41079" y="23807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40" name="bond (inner)"/>
            <p:cNvSpPr/>
            <p:nvPr/>
          </p:nvSpPr>
          <p:spPr>
            <a:xfrm>
              <a:off x="1437302" y="977611"/>
              <a:ext cx="27934" cy="16189"/>
            </a:xfrm>
            <a:custGeom>
              <a:avLst/>
              <a:gdLst/>
              <a:ahLst/>
              <a:cxnLst/>
              <a:rect l="0" t="0" r="r" b="b"/>
              <a:pathLst>
                <a:path w="27934" h="16189" fill="none">
                  <a:moveTo>
                    <a:pt x="27934" y="16189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41" name="bond"/>
            <p:cNvSpPr/>
            <p:nvPr/>
          </p:nvSpPr>
          <p:spPr>
            <a:xfrm>
              <a:off x="1394591" y="965392"/>
              <a:ext cx="41012" cy="23816"/>
            </a:xfrm>
            <a:custGeom>
              <a:avLst/>
              <a:gdLst/>
              <a:ahLst/>
              <a:cxnLst/>
              <a:rect l="0" t="0" r="r" b="b"/>
              <a:pathLst>
                <a:path w="41012" h="23816" fill="none">
                  <a:moveTo>
                    <a:pt x="41012" y="0"/>
                  </a:moveTo>
                  <a:lnTo>
                    <a:pt x="0" y="23816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42" name="bond"/>
            <p:cNvSpPr/>
            <p:nvPr/>
          </p:nvSpPr>
          <p:spPr>
            <a:xfrm>
              <a:off x="1542782" y="1051153"/>
              <a:ext cx="41838" cy="22735"/>
            </a:xfrm>
            <a:custGeom>
              <a:avLst/>
              <a:gdLst/>
              <a:ahLst/>
              <a:cxnLst/>
              <a:rect l="0" t="0" r="r" b="b"/>
              <a:pathLst>
                <a:path w="41838" h="22735" fill="none">
                  <a:moveTo>
                    <a:pt x="41838" y="0"/>
                  </a:moveTo>
                  <a:lnTo>
                    <a:pt x="0" y="22735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43" name="atom PCy_{2}"/>
            <p:cNvSpPr txBox="1"/>
            <p:nvPr/>
          </p:nvSpPr>
          <p:spPr>
            <a:xfrm>
              <a:off x="1560039" y="960417"/>
              <a:ext cx="164797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PCy</a:t>
              </a:r>
              <a:r>
                <a:rPr lang="en-US" sz="550" b="0" i="0" dirty="0" baseline="-25000">
                  <a:solidFill>
                    <a:srgbClr val="10283B"/>
                  </a:solidFill>
                  <a:latin typeface="Arial"/>
                  <a:cs typeface="Arial"/>
                </a:rPr>
                <a:t>2</a:t>
              </a:r>
              <a:endParaRPr lang="en-US" sz="550" dirty="0"/>
            </a:p>
          </p:txBody>
        </p:sp>
      </p:grpSp>
      <p:sp>
        <p:nvSpPr>
          <p:cNvPr id="145" name="name"/>
          <p:cNvSpPr txBox="1"/>
          <p:nvPr/>
        </p:nvSpPr>
        <p:spPr>
          <a:xfrm>
            <a:off x="1343592" y="1175161"/>
            <a:ext cx="250417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XPhos</a:t>
            </a:r>
            <a:endParaRPr lang="en-US" sz="650" dirty="0"/>
          </a:p>
        </p:txBody>
      </p:sp>
      <p:sp>
        <p:nvSpPr>
          <p:cNvPr id="146" name="label …"/>
          <p:cNvSpPr txBox="1"/>
          <p:nvPr/>
        </p:nvSpPr>
        <p:spPr>
          <a:xfrm>
            <a:off x="1780750" y="976413"/>
            <a:ext cx="96100" cy="11112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…</a:t>
            </a:r>
            <a:endParaRPr lang="en-US" sz="700" dirty="0"/>
          </a:p>
        </p:txBody>
      </p:sp>
      <p:sp>
        <p:nvSpPr>
          <p:cNvPr id="147" name="label Bases"/>
          <p:cNvSpPr txBox="1"/>
          <p:nvPr/>
        </p:nvSpPr>
        <p:spPr>
          <a:xfrm>
            <a:off x="68400" y="1342756"/>
            <a:ext cx="250457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Bases</a:t>
            </a:r>
            <a:endParaRPr lang="en-US" sz="650" dirty="0"/>
          </a:p>
        </p:txBody>
      </p:sp>
      <p:sp>
        <p:nvSpPr>
          <p:cNvPr id="148" name="base name"/>
          <p:cNvSpPr txBox="1"/>
          <p:nvPr/>
        </p:nvSpPr>
        <p:spPr>
          <a:xfrm>
            <a:off x="524656" y="1342756"/>
            <a:ext cx="246688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K</a:t>
            </a:r>
            <a:r>
              <a:rPr lang="en-US" sz="65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65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50" dirty="0"/>
          </a:p>
        </p:txBody>
      </p:sp>
      <p:sp>
        <p:nvSpPr>
          <p:cNvPr id="149" name="base name"/>
          <p:cNvSpPr txBox="1"/>
          <p:nvPr/>
        </p:nvSpPr>
        <p:spPr>
          <a:xfrm>
            <a:off x="854541" y="1342756"/>
            <a:ext cx="292517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Cs</a:t>
            </a:r>
            <a:r>
              <a:rPr lang="en-US" sz="65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65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650" dirty="0"/>
          </a:p>
        </p:txBody>
      </p:sp>
      <p:sp>
        <p:nvSpPr>
          <p:cNvPr id="150" name="base name"/>
          <p:cNvSpPr txBox="1"/>
          <p:nvPr/>
        </p:nvSpPr>
        <p:spPr>
          <a:xfrm>
            <a:off x="1343611" y="1342756"/>
            <a:ext cx="250377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KO</a:t>
            </a:r>
            <a:r>
              <a:rPr lang="en-US" sz="650" b="0" i="1" dirty="0">
                <a:solidFill>
                  <a:srgbClr val="10283B"/>
                </a:solidFill>
                <a:latin typeface="Arial"/>
                <a:cs typeface="Arial"/>
              </a:rPr>
              <a:t>t</a:t>
            </a: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Bu</a:t>
            </a:r>
            <a:endParaRPr lang="en-US" sz="650" dirty="0"/>
          </a:p>
        </p:txBody>
      </p:sp>
      <p:sp>
        <p:nvSpPr>
          <p:cNvPr id="151" name="label …"/>
          <p:cNvSpPr txBox="1"/>
          <p:nvPr/>
        </p:nvSpPr>
        <p:spPr>
          <a:xfrm>
            <a:off x="1780750" y="1338788"/>
            <a:ext cx="96100" cy="11112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…</a:t>
            </a:r>
            <a:endParaRPr lang="en-US" sz="700" dirty="0"/>
          </a:p>
        </p:txBody>
      </p:sp>
      <p:sp>
        <p:nvSpPr>
          <p:cNvPr id="152" name="label Solvents"/>
          <p:cNvSpPr txBox="1"/>
          <p:nvPr/>
        </p:nvSpPr>
        <p:spPr>
          <a:xfrm>
            <a:off x="68400" y="1563581"/>
            <a:ext cx="351267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b="1" i="0" dirty="0">
                <a:solidFill>
                  <a:srgbClr val="10283B"/>
                </a:solidFill>
                <a:latin typeface="Arial"/>
                <a:cs typeface="Arial"/>
              </a:rPr>
              <a:t>Solvents</a:t>
            </a:r>
            <a:endParaRPr lang="en-US" sz="650" dirty="0"/>
          </a:p>
        </p:txBody>
      </p:sp>
      <p:grpSp>
        <p:nvGrpSpPr>
          <p:cNvPr id="159" name="THF structure"/>
          <p:cNvGrpSpPr/>
          <p:nvPr/>
        </p:nvGrpSpPr>
        <p:grpSpPr>
          <a:xfrm>
            <a:off x="592666" y="1562456"/>
            <a:ext cx="110668" cy="150491"/>
            <a:chOff x="592666" y="1562456"/>
            <a:chExt cx="110668" cy="150491"/>
          </a:xfrm>
        </p:grpSpPr>
        <p:sp>
          <p:nvSpPr>
            <p:cNvPr id="153" name="bond"/>
            <p:cNvSpPr/>
            <p:nvPr/>
          </p:nvSpPr>
          <p:spPr>
            <a:xfrm>
              <a:off x="613458" y="1562456"/>
              <a:ext cx="68398" cy="359"/>
            </a:xfrm>
            <a:custGeom>
              <a:avLst/>
              <a:gdLst/>
              <a:ahLst/>
              <a:cxnLst/>
              <a:rect l="0" t="0" r="r" b="b"/>
              <a:pathLst>
                <a:path w="68398" h="359" fill="none">
                  <a:moveTo>
                    <a:pt x="68398" y="0"/>
                  </a:moveTo>
                  <a:lnTo>
                    <a:pt x="0" y="359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54" name="bond"/>
            <p:cNvSpPr/>
            <p:nvPr/>
          </p:nvSpPr>
          <p:spPr>
            <a:xfrm>
              <a:off x="592666" y="1562815"/>
              <a:ext cx="20792" cy="65167"/>
            </a:xfrm>
            <a:custGeom>
              <a:avLst/>
              <a:gdLst/>
              <a:ahLst/>
              <a:cxnLst/>
              <a:rect l="0" t="0" r="r" b="b"/>
              <a:pathLst>
                <a:path w="20792" h="65167" fill="none">
                  <a:moveTo>
                    <a:pt x="20792" y="0"/>
                  </a:moveTo>
                  <a:lnTo>
                    <a:pt x="0" y="65167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55" name="bond"/>
            <p:cNvSpPr/>
            <p:nvPr/>
          </p:nvSpPr>
          <p:spPr>
            <a:xfrm>
              <a:off x="592666" y="1627981"/>
              <a:ext cx="31727" cy="22795"/>
            </a:xfrm>
            <a:custGeom>
              <a:avLst/>
              <a:gdLst/>
              <a:ahLst/>
              <a:cxnLst/>
              <a:rect l="0" t="0" r="r" b="b"/>
              <a:pathLst>
                <a:path w="31727" h="22795" fill="none">
                  <a:moveTo>
                    <a:pt x="0" y="0"/>
                  </a:moveTo>
                  <a:lnTo>
                    <a:pt x="31727" y="22795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56" name="bond"/>
            <p:cNvSpPr/>
            <p:nvPr/>
          </p:nvSpPr>
          <p:spPr>
            <a:xfrm>
              <a:off x="671859" y="1627393"/>
              <a:ext cx="31475" cy="23130"/>
            </a:xfrm>
            <a:custGeom>
              <a:avLst/>
              <a:gdLst/>
              <a:ahLst/>
              <a:cxnLst/>
              <a:rect l="0" t="0" r="r" b="b"/>
              <a:pathLst>
                <a:path w="31475" h="23130" fill="none">
                  <a:moveTo>
                    <a:pt x="0" y="23130"/>
                  </a:moveTo>
                  <a:lnTo>
                    <a:pt x="31475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57" name="bond"/>
            <p:cNvSpPr/>
            <p:nvPr/>
          </p:nvSpPr>
          <p:spPr>
            <a:xfrm>
              <a:off x="681856" y="1562456"/>
              <a:ext cx="21478" cy="64937"/>
            </a:xfrm>
            <a:custGeom>
              <a:avLst/>
              <a:gdLst/>
              <a:ahLst/>
              <a:cxnLst/>
              <a:rect l="0" t="0" r="r" b="b"/>
              <a:pathLst>
                <a:path w="21478" h="64937" fill="none">
                  <a:moveTo>
                    <a:pt x="21478" y="64937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58" name="atom O"/>
            <p:cNvSpPr txBox="1"/>
            <p:nvPr/>
          </p:nvSpPr>
          <p:spPr>
            <a:xfrm>
              <a:off x="617452" y="1625635"/>
              <a:ext cx="61532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O</a:t>
              </a:r>
              <a:endParaRPr lang="en-US" sz="550" dirty="0"/>
            </a:p>
          </p:txBody>
        </p:sp>
      </p:grpSp>
      <p:sp>
        <p:nvSpPr>
          <p:cNvPr id="160" name="name"/>
          <p:cNvSpPr txBox="1"/>
          <p:nvPr/>
        </p:nvSpPr>
        <p:spPr>
          <a:xfrm>
            <a:off x="564168" y="1714011"/>
            <a:ext cx="167665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THF</a:t>
            </a:r>
            <a:endParaRPr lang="en-US" sz="650" dirty="0"/>
          </a:p>
        </p:txBody>
      </p:sp>
      <p:grpSp>
        <p:nvGrpSpPr>
          <p:cNvPr id="168" name="DMF structure"/>
          <p:cNvGrpSpPr/>
          <p:nvPr/>
        </p:nvGrpSpPr>
        <p:grpSpPr>
          <a:xfrm>
            <a:off x="901583" y="1513792"/>
            <a:ext cx="167668" cy="160619"/>
            <a:chOff x="901583" y="1513792"/>
            <a:chExt cx="167668" cy="160619"/>
          </a:xfrm>
        </p:grpSpPr>
        <p:sp>
          <p:nvSpPr>
            <p:cNvPr id="161" name="bond"/>
            <p:cNvSpPr/>
            <p:nvPr/>
          </p:nvSpPr>
          <p:spPr>
            <a:xfrm>
              <a:off x="1049690" y="1640600"/>
              <a:ext cx="19561" cy="33811"/>
            </a:xfrm>
            <a:custGeom>
              <a:avLst/>
              <a:gdLst/>
              <a:ahLst/>
              <a:cxnLst/>
              <a:rect l="0" t="0" r="r" b="b"/>
              <a:pathLst>
                <a:path w="19561" h="33811" fill="none">
                  <a:moveTo>
                    <a:pt x="19561" y="33811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2" name="bond"/>
            <p:cNvSpPr/>
            <p:nvPr/>
          </p:nvSpPr>
          <p:spPr>
            <a:xfrm>
              <a:off x="1049648" y="1555939"/>
              <a:ext cx="19506" cy="33848"/>
            </a:xfrm>
            <a:custGeom>
              <a:avLst/>
              <a:gdLst/>
              <a:ahLst/>
              <a:cxnLst/>
              <a:rect l="0" t="0" r="r" b="b"/>
              <a:pathLst>
                <a:path w="19506" h="33848" fill="none">
                  <a:moveTo>
                    <a:pt x="0" y="33848"/>
                  </a:moveTo>
                  <a:lnTo>
                    <a:pt x="19506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3" name="bond"/>
            <p:cNvSpPr/>
            <p:nvPr/>
          </p:nvSpPr>
          <p:spPr>
            <a:xfrm>
              <a:off x="966600" y="1615228"/>
              <a:ext cx="39062" cy="36"/>
            </a:xfrm>
            <a:custGeom>
              <a:avLst/>
              <a:gdLst/>
              <a:ahLst/>
              <a:cxnLst/>
              <a:rect l="0" t="0" r="r" b="b"/>
              <a:pathLst>
                <a:path w="39062" h="36" fill="none">
                  <a:moveTo>
                    <a:pt x="39062" y="0"/>
                  </a:moveTo>
                  <a:lnTo>
                    <a:pt x="0" y="29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4" name="bond"/>
            <p:cNvSpPr/>
            <p:nvPr/>
          </p:nvSpPr>
          <p:spPr>
            <a:xfrm>
              <a:off x="952961" y="1578020"/>
              <a:ext cx="19561" cy="33811"/>
            </a:xfrm>
            <a:custGeom>
              <a:avLst/>
              <a:gdLst/>
              <a:ahLst/>
              <a:cxnLst/>
              <a:rect l="0" t="0" r="r" b="b"/>
              <a:pathLst>
                <a:path w="19561" h="33811" fill="none">
                  <a:moveTo>
                    <a:pt x="19561" y="33811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5" name="bond"/>
            <p:cNvSpPr/>
            <p:nvPr/>
          </p:nvSpPr>
          <p:spPr>
            <a:xfrm>
              <a:off x="941119" y="1584870"/>
              <a:ext cx="19561" cy="33811"/>
            </a:xfrm>
            <a:custGeom>
              <a:avLst/>
              <a:gdLst/>
              <a:ahLst/>
              <a:cxnLst/>
              <a:rect l="0" t="0" r="r" b="b"/>
              <a:pathLst>
                <a:path w="19561" h="33811" fill="none">
                  <a:moveTo>
                    <a:pt x="19561" y="33811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66" name="atom N"/>
            <p:cNvSpPr txBox="1"/>
            <p:nvPr/>
          </p:nvSpPr>
          <p:spPr>
            <a:xfrm>
              <a:off x="1006178" y="1572947"/>
              <a:ext cx="57643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N</a:t>
              </a:r>
              <a:endParaRPr lang="en-US" sz="550" dirty="0"/>
            </a:p>
          </p:txBody>
        </p:sp>
        <p:sp>
          <p:nvSpPr>
            <p:cNvPr id="167" name="atom O"/>
            <p:cNvSpPr txBox="1"/>
            <p:nvPr/>
          </p:nvSpPr>
          <p:spPr>
            <a:xfrm>
              <a:off x="901583" y="1513792"/>
              <a:ext cx="61532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O</a:t>
              </a:r>
              <a:endParaRPr lang="en-US" sz="550" dirty="0"/>
            </a:p>
          </p:txBody>
        </p:sp>
      </p:grpSp>
      <p:sp>
        <p:nvSpPr>
          <p:cNvPr id="169" name="name"/>
          <p:cNvSpPr txBox="1"/>
          <p:nvPr/>
        </p:nvSpPr>
        <p:spPr>
          <a:xfrm>
            <a:off x="907798" y="1714011"/>
            <a:ext cx="186004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DMF</a:t>
            </a:r>
            <a:endParaRPr lang="en-US" sz="650" dirty="0"/>
          </a:p>
        </p:txBody>
      </p:sp>
      <p:grpSp>
        <p:nvGrpSpPr>
          <p:cNvPr id="176" name="DMSO structure"/>
          <p:cNvGrpSpPr/>
          <p:nvPr/>
        </p:nvGrpSpPr>
        <p:grpSpPr>
          <a:xfrm>
            <a:off x="1409563" y="1521511"/>
            <a:ext cx="118474" cy="155715"/>
            <a:chOff x="1409563" y="1521511"/>
            <a:chExt cx="118474" cy="155715"/>
          </a:xfrm>
        </p:grpSpPr>
        <p:sp>
          <p:nvSpPr>
            <p:cNvPr id="170" name="bond"/>
            <p:cNvSpPr/>
            <p:nvPr/>
          </p:nvSpPr>
          <p:spPr>
            <a:xfrm>
              <a:off x="1494278" y="1646931"/>
              <a:ext cx="33759" cy="19649"/>
            </a:xfrm>
            <a:custGeom>
              <a:avLst/>
              <a:gdLst/>
              <a:ahLst/>
              <a:cxnLst/>
              <a:rect l="0" t="0" r="r" b="b"/>
              <a:pathLst>
                <a:path w="33759" h="19649" fill="none">
                  <a:moveTo>
                    <a:pt x="33759" y="19649"/>
                  </a:moveTo>
                  <a:lnTo>
                    <a:pt x="0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71" name="bond"/>
            <p:cNvSpPr/>
            <p:nvPr/>
          </p:nvSpPr>
          <p:spPr>
            <a:xfrm>
              <a:off x="1409563" y="1646749"/>
              <a:ext cx="33900" cy="19407"/>
            </a:xfrm>
            <a:custGeom>
              <a:avLst/>
              <a:gdLst/>
              <a:ahLst/>
              <a:cxnLst/>
              <a:rect l="0" t="0" r="r" b="b"/>
              <a:pathLst>
                <a:path w="33900" h="19407" fill="none">
                  <a:moveTo>
                    <a:pt x="33900" y="0"/>
                  </a:moveTo>
                  <a:lnTo>
                    <a:pt x="0" y="19407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72" name="bond"/>
            <p:cNvSpPr/>
            <p:nvPr/>
          </p:nvSpPr>
          <p:spPr>
            <a:xfrm>
              <a:off x="1475869" y="1593132"/>
              <a:ext cx="36" cy="9729"/>
            </a:xfrm>
            <a:custGeom>
              <a:avLst/>
              <a:gdLst/>
              <a:ahLst/>
              <a:cxnLst/>
              <a:rect l="0" t="0" r="r" b="b"/>
              <a:pathLst>
                <a:path w="36" h="9729" fill="none">
                  <a:moveTo>
                    <a:pt x="0" y="9729"/>
                  </a:moveTo>
                  <a:lnTo>
                    <a:pt x="35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73" name="bond"/>
            <p:cNvSpPr/>
            <p:nvPr/>
          </p:nvSpPr>
          <p:spPr>
            <a:xfrm>
              <a:off x="1462189" y="1593083"/>
              <a:ext cx="36" cy="9729"/>
            </a:xfrm>
            <a:custGeom>
              <a:avLst/>
              <a:gdLst/>
              <a:ahLst/>
              <a:cxnLst/>
              <a:rect l="0" t="0" r="r" b="b"/>
              <a:pathLst>
                <a:path w="36" h="9729" fill="none">
                  <a:moveTo>
                    <a:pt x="0" y="9729"/>
                  </a:moveTo>
                  <a:lnTo>
                    <a:pt x="35" y="0"/>
                  </a:lnTo>
                </a:path>
              </a:pathLst>
            </a:custGeom>
            <a:noFill/>
            <a:ln w="5715" cap="rnd">
              <a:solidFill>
                <a:srgbClr val="10283B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174" name="atom S"/>
            <p:cNvSpPr txBox="1"/>
            <p:nvPr/>
          </p:nvSpPr>
          <p:spPr>
            <a:xfrm>
              <a:off x="1442029" y="1589914"/>
              <a:ext cx="53789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S</a:t>
              </a:r>
              <a:endParaRPr lang="en-US" sz="550" dirty="0"/>
            </a:p>
          </p:txBody>
        </p:sp>
        <p:sp>
          <p:nvSpPr>
            <p:cNvPr id="175" name="atom O"/>
            <p:cNvSpPr txBox="1"/>
            <p:nvPr/>
          </p:nvSpPr>
          <p:spPr>
            <a:xfrm>
              <a:off x="1438403" y="1521511"/>
              <a:ext cx="61532" cy="87312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50" b="0" i="0" dirty="0">
                  <a:solidFill>
                    <a:srgbClr val="10283B"/>
                  </a:solidFill>
                  <a:latin typeface="Arial"/>
                  <a:cs typeface="Arial"/>
                </a:rPr>
                <a:t>O</a:t>
              </a:r>
              <a:endParaRPr lang="en-US" sz="550" dirty="0"/>
            </a:p>
          </p:txBody>
        </p:sp>
      </p:grpSp>
      <p:sp>
        <p:nvSpPr>
          <p:cNvPr id="177" name="name"/>
          <p:cNvSpPr txBox="1"/>
          <p:nvPr/>
        </p:nvSpPr>
        <p:spPr>
          <a:xfrm>
            <a:off x="1341375" y="1714011"/>
            <a:ext cx="254850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DMSO</a:t>
            </a:r>
            <a:endParaRPr lang="en-US" sz="650" dirty="0"/>
          </a:p>
        </p:txBody>
      </p:sp>
      <p:sp>
        <p:nvSpPr>
          <p:cNvPr id="178" name="label …"/>
          <p:cNvSpPr txBox="1"/>
          <p:nvPr/>
        </p:nvSpPr>
        <p:spPr>
          <a:xfrm>
            <a:off x="1780750" y="1559613"/>
            <a:ext cx="96100" cy="111125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…</a:t>
            </a:r>
            <a:endParaRPr lang="en-US" sz="700" dirty="0"/>
          </a:p>
        </p:txBody>
      </p:sp>
      <p:sp>
        <p:nvSpPr>
          <p:cNvPr id="179" name="footer"/>
          <p:cNvSpPr/>
          <p:nvPr/>
        </p:nvSpPr>
        <p:spPr>
          <a:xfrm>
            <a:off x="21600" y="1879200"/>
            <a:ext cx="1879200" cy="129600"/>
          </a:xfrm>
          <a:prstGeom prst="roundRect">
            <a:avLst>
              <a:gd name="adj" fmla="val 33333"/>
            </a:avLst>
          </a:prstGeom>
          <a:solidFill>
            <a:srgbClr val="E6EDF4"/>
          </a:solidFill>
          <a:ln>
            <a:noFill/>
          </a:ln>
          <a:effectLst/>
        </p:spPr>
        <p:txBody>
          <a:bodyPr wrap="non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Huge discrete spaces, hours per experiment</a:t>
            </a:r>
            <a:endParaRPr lang="en-US" sz="650" dirty="0"/>
          </a:p>
        </p:txBody>
      </p:sp>
      <p:sp>
        <p:nvSpPr>
          <p:cNvPr id="180" name="question: yield"/>
          <p:cNvSpPr/>
          <p:nvPr/>
        </p:nvSpPr>
        <p:spPr>
          <a:xfrm>
            <a:off x="2411046" y="230400"/>
            <a:ext cx="1221354" cy="251280"/>
          </a:xfrm>
          <a:prstGeom prst="wedgeRoundRectCallout">
            <a:avLst>
              <a:gd name="adj1" fmla="val 35000"/>
              <a:gd name="adj2" fmla="val 72922"/>
              <a:gd name="adj3" fmla="val 15759"/>
            </a:avLst>
          </a:prstGeom>
          <a:solidFill>
            <a:srgbClr val="EAF4FC"/>
          </a:solidFill>
          <a:ln w="7620" cap="flat">
            <a:solidFill>
              <a:srgbClr val="B9D3EC"/>
            </a:solidFill>
            <a:round/>
          </a:ln>
          <a:effectLst/>
        </p:spPr>
        <p:txBody>
          <a:bodyPr wrap="none" lIns="39600" tIns="19800" rIns="39600" bIns="19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What is the yield with</a:t>
            </a:r>
            <a:endParaRPr lang="en-US" sz="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XPhos and Cs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 in THF?</a:t>
            </a:r>
            <a:endParaRPr lang="en-US" sz="700" dirty="0"/>
          </a:p>
        </p:txBody>
      </p:sp>
      <p:sp>
        <p:nvSpPr>
          <p:cNvPr id="182" name="answer: yield"/>
          <p:cNvSpPr/>
          <p:nvPr/>
        </p:nvSpPr>
        <p:spPr>
          <a:xfrm>
            <a:off x="2332800" y="557280"/>
            <a:ext cx="920600" cy="149040"/>
          </a:xfrm>
          <a:prstGeom prst="wedgeRoundRectCallout">
            <a:avLst>
              <a:gd name="adj1" fmla="val -56256"/>
              <a:gd name="adj2" fmla="val 55000"/>
              <a:gd name="adj3" fmla="val 26570"/>
            </a:avLst>
          </a:prstGeom>
          <a:solidFill>
            <a:srgbClr val="FCEDF2"/>
          </a:solidFill>
          <a:ln w="7620" cap="flat">
            <a:solidFill>
              <a:srgbClr val="EDC3D2"/>
            </a:solidFill>
            <a:round/>
          </a:ln>
          <a:effectLst/>
        </p:spPr>
        <p:txBody>
          <a:bodyPr wrap="none" lIns="39600" tIns="19800" rIns="39600" bIns="19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I think it will be 78%.</a:t>
            </a:r>
            <a:endParaRPr lang="en-US" sz="700" dirty="0"/>
          </a:p>
        </p:txBody>
      </p:sp>
      <p:sp>
        <p:nvSpPr>
          <p:cNvPr id="181" name="question: rating"/>
          <p:cNvSpPr/>
          <p:nvPr/>
        </p:nvSpPr>
        <p:spPr>
          <a:xfrm>
            <a:off x="2429191" y="954720"/>
            <a:ext cx="1203209" cy="251280"/>
          </a:xfrm>
          <a:prstGeom prst="wedgeRoundRectCallout">
            <a:avLst>
              <a:gd name="adj1" fmla="val 35000"/>
              <a:gd name="adj2" fmla="val 72922"/>
              <a:gd name="adj3" fmla="val 15759"/>
            </a:avLst>
          </a:prstGeom>
          <a:solidFill>
            <a:srgbClr val="EAF4FC"/>
          </a:solidFill>
          <a:ln w="7620" cap="flat">
            <a:solidFill>
              <a:srgbClr val="B9D3EC"/>
            </a:solidFill>
            <a:round/>
          </a:ln>
          <a:effectLst/>
        </p:spPr>
        <p:txBody>
          <a:bodyPr wrap="none" lIns="39600" tIns="19800" rIns="39600" bIns="19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Rate the basicity of Cs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and of K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 from 1 to 10.</a:t>
            </a:r>
            <a:endParaRPr lang="en-US" sz="700" dirty="0"/>
          </a:p>
        </p:txBody>
      </p:sp>
      <p:sp>
        <p:nvSpPr>
          <p:cNvPr id="183" name="answer: rating"/>
          <p:cNvSpPr/>
          <p:nvPr/>
        </p:nvSpPr>
        <p:spPr>
          <a:xfrm>
            <a:off x="2332800" y="1281600"/>
            <a:ext cx="976851" cy="149040"/>
          </a:xfrm>
          <a:prstGeom prst="wedgeRoundRectCallout">
            <a:avLst>
              <a:gd name="adj1" fmla="val -55896"/>
              <a:gd name="adj2" fmla="val -55000"/>
              <a:gd name="adj3" fmla="val 26570"/>
            </a:avLst>
          </a:prstGeom>
          <a:solidFill>
            <a:srgbClr val="FCEDF2"/>
          </a:solidFill>
          <a:ln w="7620" cap="flat">
            <a:solidFill>
              <a:srgbClr val="EDC3D2"/>
            </a:solidFill>
            <a:round/>
          </a:ln>
          <a:effectLst/>
        </p:spPr>
        <p:txBody>
          <a:bodyPr wrap="none" lIns="39600" tIns="19800" rIns="39600" bIns="19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Cs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: 7,   K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: 7</a:t>
            </a:r>
            <a:endParaRPr lang="en-US" sz="700" dirty="0"/>
          </a:p>
        </p:txBody>
      </p:sp>
      <p:grpSp>
        <p:nvGrpSpPr>
          <p:cNvPr id="184" name="LLM (robot)"/>
          <p:cNvGrpSpPr/>
          <p:nvPr/>
        </p:nvGrpSpPr>
        <p:grpSpPr>
          <a:xfrm>
            <a:off x="1983600" y="843000"/>
            <a:ext cx="266400" cy="301920"/>
            <a:chOff x="3403600" y="1117600"/>
            <a:chExt cx="857250" cy="971550"/>
          </a:xfrm>
        </p:grpSpPr>
        <p:sp>
          <p:nvSpPr>
            <p:cNvPr id="185" name="115 circle"/>
            <p:cNvSpPr/>
            <p:nvPr/>
          </p:nvSpPr>
          <p:spPr>
            <a:xfrm>
              <a:off x="3403600" y="1771650"/>
              <a:ext cx="857250" cy="31750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116 circle"/>
            <p:cNvSpPr/>
            <p:nvPr/>
          </p:nvSpPr>
          <p:spPr>
            <a:xfrm>
              <a:off x="3409950" y="1778000"/>
              <a:ext cx="844550" cy="30480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117 circle"/>
            <p:cNvSpPr/>
            <p:nvPr/>
          </p:nvSpPr>
          <p:spPr>
            <a:xfrm>
              <a:off x="3416300" y="1784350"/>
              <a:ext cx="831850" cy="29210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118 circle"/>
            <p:cNvSpPr/>
            <p:nvPr/>
          </p:nvSpPr>
          <p:spPr>
            <a:xfrm>
              <a:off x="3422650" y="1790700"/>
              <a:ext cx="819150" cy="27940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119 circle"/>
            <p:cNvSpPr/>
            <p:nvPr/>
          </p:nvSpPr>
          <p:spPr>
            <a:xfrm>
              <a:off x="3429000" y="1797050"/>
              <a:ext cx="806450" cy="26670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120 box"/>
            <p:cNvSpPr/>
            <p:nvPr/>
          </p:nvSpPr>
          <p:spPr>
            <a:xfrm>
              <a:off x="3562350" y="1117600"/>
              <a:ext cx="571500" cy="425450"/>
            </a:xfrm>
            <a:prstGeom prst="roundRect">
              <a:avLst>
                <a:gd name="adj" fmla="val 23880"/>
              </a:avLst>
            </a:prstGeom>
            <a:gradFill rotWithShape="1">
              <a:gsLst>
                <a:gs pos="0">
                  <a:srgbClr val="F9FCFE"/>
                </a:gs>
                <a:gs pos="100000">
                  <a:srgbClr val="DFEAF1"/>
                </a:gs>
              </a:gsLst>
              <a:lin ang="5400000" scaled="1"/>
            </a:gradFill>
            <a:ln w="5715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121 box"/>
            <p:cNvSpPr/>
            <p:nvPr/>
          </p:nvSpPr>
          <p:spPr>
            <a:xfrm>
              <a:off x="3530600" y="1270000"/>
              <a:ext cx="38100" cy="12700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5715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122 box"/>
            <p:cNvSpPr/>
            <p:nvPr/>
          </p:nvSpPr>
          <p:spPr>
            <a:xfrm>
              <a:off x="4133850" y="1270000"/>
              <a:ext cx="38100" cy="12700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5715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123 box"/>
            <p:cNvSpPr/>
            <p:nvPr/>
          </p:nvSpPr>
          <p:spPr>
            <a:xfrm>
              <a:off x="3638550" y="1200150"/>
              <a:ext cx="419100" cy="2540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365568"/>
                </a:gs>
                <a:gs pos="100000">
                  <a:srgbClr val="183449"/>
                </a:gs>
              </a:gsLst>
              <a:lin ang="5400000" scaled="1"/>
            </a:gradFill>
            <a:ln w="5715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124 circle"/>
            <p:cNvSpPr/>
            <p:nvPr/>
          </p:nvSpPr>
          <p:spPr>
            <a:xfrm>
              <a:off x="3721100" y="1289050"/>
              <a:ext cx="63500" cy="63500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125 circle"/>
            <p:cNvSpPr/>
            <p:nvPr/>
          </p:nvSpPr>
          <p:spPr>
            <a:xfrm>
              <a:off x="3917950" y="1289050"/>
              <a:ext cx="63500" cy="63500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126 path"/>
            <p:cNvSpPr/>
            <p:nvPr/>
          </p:nvSpPr>
          <p:spPr>
            <a:xfrm>
              <a:off x="3810000" y="1397000"/>
              <a:ext cx="82550" cy="25400"/>
            </a:xfrm>
            <a:custGeom>
              <a:avLst/>
              <a:gdLst/>
              <a:ahLst/>
              <a:cxnLst/>
              <a:rect l="l" t="t" r="r" b="b"/>
              <a:pathLst>
                <a:path w="13000" h="4000" fill="none" stroke="1">
                  <a:moveTo>
                    <a:pt x="0" y="0"/>
                  </a:moveTo>
                  <a:quadBezTo>
                    <a:pt x="6000" y="4000"/>
                    <a:pt x="13000" y="0"/>
                  </a:quadBezTo>
                </a:path>
              </a:pathLst>
            </a:custGeom>
            <a:noFill/>
            <a:ln w="4286">
              <a:solidFill>
                <a:srgbClr val="76B3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127 robot body"/>
            <p:cNvSpPr/>
            <p:nvPr/>
          </p:nvSpPr>
          <p:spPr>
            <a:xfrm>
              <a:off x="3517900" y="1530350"/>
              <a:ext cx="660400" cy="469900"/>
            </a:xfrm>
            <a:custGeom>
              <a:avLst/>
              <a:gdLst/>
              <a:ahLst/>
              <a:cxnLst/>
              <a:rect l="l" t="t" r="r" b="b"/>
              <a:pathLst>
                <a:path w="104000" h="74000" fill="norm" stroke="1">
                  <a:moveTo>
                    <a:pt x="0" y="74000"/>
                  </a:moveTo>
                  <a:lnTo>
                    <a:pt x="0" y="34000"/>
                  </a:lnTo>
                  <a:cubicBezTo>
                    <a:pt x="0" y="0"/>
                    <a:pt x="23000" y="3000"/>
                    <a:pt x="50000" y="3000"/>
                  </a:cubicBezTo>
                  <a:cubicBezTo>
                    <a:pt x="86000" y="3000"/>
                    <a:pt x="103000" y="4000"/>
                    <a:pt x="104000" y="33000"/>
                  </a:cubicBezTo>
                  <a:lnTo>
                    <a:pt x="104000" y="74000"/>
                  </a:lnTo>
                </a:path>
              </a:pathLst>
            </a:custGeom>
            <a:solidFill>
              <a:srgbClr val="E9F0F5"/>
            </a:solidFill>
            <a:ln w="6858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128 circle"/>
            <p:cNvSpPr/>
            <p:nvPr/>
          </p:nvSpPr>
          <p:spPr>
            <a:xfrm>
              <a:off x="3683000" y="1631950"/>
              <a:ext cx="330200" cy="330200"/>
            </a:xfrm>
            <a:prstGeom prst="ellipse">
              <a:avLst/>
            </a:prstGeom>
            <a:solidFill>
              <a:srgbClr val="2144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129 path"/>
            <p:cNvSpPr/>
            <p:nvPr/>
          </p:nvSpPr>
          <p:spPr>
            <a:xfrm>
              <a:off x="3765550" y="1695450"/>
              <a:ext cx="82550" cy="19050"/>
            </a:xfrm>
            <a:custGeom>
              <a:avLst/>
              <a:gdLst/>
              <a:ahLst/>
              <a:cxnLst/>
              <a:rect l="l" t="t" r="r" b="b"/>
              <a:pathLst>
                <a:path w="13000" h="3000" fill="none" stroke="1">
                  <a:moveTo>
                    <a:pt x="0" y="3000"/>
                  </a:moveTo>
                  <a:lnTo>
                    <a:pt x="13000" y="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130 path"/>
            <p:cNvSpPr/>
            <p:nvPr/>
          </p:nvSpPr>
          <p:spPr>
            <a:xfrm>
              <a:off x="3765550" y="1714500"/>
              <a:ext cx="82550" cy="63500"/>
            </a:xfrm>
            <a:custGeom>
              <a:avLst/>
              <a:gdLst/>
              <a:ahLst/>
              <a:cxnLst/>
              <a:rect l="l" t="t" r="r" b="b"/>
              <a:pathLst>
                <a:path w="13000" h="10000" fill="none" stroke="1">
                  <a:moveTo>
                    <a:pt x="0" y="0"/>
                  </a:moveTo>
                  <a:lnTo>
                    <a:pt x="13000" y="1000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131 path"/>
            <p:cNvSpPr/>
            <p:nvPr/>
          </p:nvSpPr>
          <p:spPr>
            <a:xfrm>
              <a:off x="3765550" y="1714500"/>
              <a:ext cx="82550" cy="146050"/>
            </a:xfrm>
            <a:custGeom>
              <a:avLst/>
              <a:gdLst/>
              <a:ahLst/>
              <a:cxnLst/>
              <a:rect l="l" t="t" r="r" b="b"/>
              <a:pathLst>
                <a:path w="13000" h="23000" fill="none" stroke="1">
                  <a:moveTo>
                    <a:pt x="0" y="0"/>
                  </a:moveTo>
                  <a:lnTo>
                    <a:pt x="13000" y="2300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132 path"/>
            <p:cNvSpPr/>
            <p:nvPr/>
          </p:nvSpPr>
          <p:spPr>
            <a:xfrm>
              <a:off x="3765550" y="1695450"/>
              <a:ext cx="82550" cy="114300"/>
            </a:xfrm>
            <a:custGeom>
              <a:avLst/>
              <a:gdLst/>
              <a:ahLst/>
              <a:cxnLst/>
              <a:rect l="l" t="t" r="r" b="b"/>
              <a:pathLst>
                <a:path w="13000" h="18000" fill="none" stroke="1">
                  <a:moveTo>
                    <a:pt x="0" y="18000"/>
                  </a:moveTo>
                  <a:lnTo>
                    <a:pt x="13000" y="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133 path"/>
            <p:cNvSpPr/>
            <p:nvPr/>
          </p:nvSpPr>
          <p:spPr>
            <a:xfrm>
              <a:off x="3765550" y="1778000"/>
              <a:ext cx="82550" cy="31750"/>
            </a:xfrm>
            <a:custGeom>
              <a:avLst/>
              <a:gdLst/>
              <a:ahLst/>
              <a:cxnLst/>
              <a:rect l="l" t="t" r="r" b="b"/>
              <a:pathLst>
                <a:path w="13000" h="5000" fill="none" stroke="1">
                  <a:moveTo>
                    <a:pt x="0" y="5000"/>
                  </a:moveTo>
                  <a:lnTo>
                    <a:pt x="13000" y="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134 path"/>
            <p:cNvSpPr/>
            <p:nvPr/>
          </p:nvSpPr>
          <p:spPr>
            <a:xfrm>
              <a:off x="3765550" y="1809750"/>
              <a:ext cx="82550" cy="50800"/>
            </a:xfrm>
            <a:custGeom>
              <a:avLst/>
              <a:gdLst/>
              <a:ahLst/>
              <a:cxnLst/>
              <a:rect l="l" t="t" r="r" b="b"/>
              <a:pathLst>
                <a:path w="13000" h="8000" fill="none" stroke="1">
                  <a:moveTo>
                    <a:pt x="0" y="0"/>
                  </a:moveTo>
                  <a:lnTo>
                    <a:pt x="13000" y="800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135 path"/>
            <p:cNvSpPr/>
            <p:nvPr/>
          </p:nvSpPr>
          <p:spPr>
            <a:xfrm>
              <a:off x="3848100" y="1695450"/>
              <a:ext cx="88900" cy="44450"/>
            </a:xfrm>
            <a:custGeom>
              <a:avLst/>
              <a:gdLst/>
              <a:ahLst/>
              <a:cxnLst/>
              <a:rect l="l" t="t" r="r" b="b"/>
              <a:pathLst>
                <a:path w="14000" h="7000" fill="none" stroke="1">
                  <a:moveTo>
                    <a:pt x="0" y="0"/>
                  </a:moveTo>
                  <a:lnTo>
                    <a:pt x="14000" y="700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136 path"/>
            <p:cNvSpPr/>
            <p:nvPr/>
          </p:nvSpPr>
          <p:spPr>
            <a:xfrm>
              <a:off x="3848100" y="1695450"/>
              <a:ext cx="88900" cy="133350"/>
            </a:xfrm>
            <a:custGeom>
              <a:avLst/>
              <a:gdLst/>
              <a:ahLst/>
              <a:cxnLst/>
              <a:rect l="l" t="t" r="r" b="b"/>
              <a:pathLst>
                <a:path w="14000" h="21000" fill="none" stroke="1">
                  <a:moveTo>
                    <a:pt x="0" y="0"/>
                  </a:moveTo>
                  <a:lnTo>
                    <a:pt x="14000" y="2100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137 path"/>
            <p:cNvSpPr/>
            <p:nvPr/>
          </p:nvSpPr>
          <p:spPr>
            <a:xfrm>
              <a:off x="3848100" y="1739900"/>
              <a:ext cx="88900" cy="38100"/>
            </a:xfrm>
            <a:custGeom>
              <a:avLst/>
              <a:gdLst/>
              <a:ahLst/>
              <a:cxnLst/>
              <a:rect l="l" t="t" r="r" b="b"/>
              <a:pathLst>
                <a:path w="14000" h="6000" fill="none" stroke="1">
                  <a:moveTo>
                    <a:pt x="0" y="6000"/>
                  </a:moveTo>
                  <a:lnTo>
                    <a:pt x="14000" y="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138 path"/>
            <p:cNvSpPr/>
            <p:nvPr/>
          </p:nvSpPr>
          <p:spPr>
            <a:xfrm>
              <a:off x="3848100" y="1778000"/>
              <a:ext cx="88900" cy="50800"/>
            </a:xfrm>
            <a:custGeom>
              <a:avLst/>
              <a:gdLst/>
              <a:ahLst/>
              <a:cxnLst/>
              <a:rect l="l" t="t" r="r" b="b"/>
              <a:pathLst>
                <a:path w="14000" h="8000" fill="none" stroke="1">
                  <a:moveTo>
                    <a:pt x="0" y="0"/>
                  </a:moveTo>
                  <a:lnTo>
                    <a:pt x="14000" y="800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139 path"/>
            <p:cNvSpPr/>
            <p:nvPr/>
          </p:nvSpPr>
          <p:spPr>
            <a:xfrm>
              <a:off x="3848100" y="1739900"/>
              <a:ext cx="88900" cy="120650"/>
            </a:xfrm>
            <a:custGeom>
              <a:avLst/>
              <a:gdLst/>
              <a:ahLst/>
              <a:cxnLst/>
              <a:rect l="l" t="t" r="r" b="b"/>
              <a:pathLst>
                <a:path w="14000" h="19000" fill="none" stroke="1">
                  <a:moveTo>
                    <a:pt x="0" y="19000"/>
                  </a:moveTo>
                  <a:lnTo>
                    <a:pt x="14000" y="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140 path"/>
            <p:cNvSpPr/>
            <p:nvPr/>
          </p:nvSpPr>
          <p:spPr>
            <a:xfrm>
              <a:off x="3848100" y="1828800"/>
              <a:ext cx="88900" cy="31750"/>
            </a:xfrm>
            <a:custGeom>
              <a:avLst/>
              <a:gdLst/>
              <a:ahLst/>
              <a:cxnLst/>
              <a:rect l="l" t="t" r="r" b="b"/>
              <a:pathLst>
                <a:path w="14000" h="5000" fill="none" stroke="1">
                  <a:moveTo>
                    <a:pt x="0" y="5000"/>
                  </a:moveTo>
                  <a:lnTo>
                    <a:pt x="14000" y="0"/>
                  </a:lnTo>
                </a:path>
              </a:pathLst>
            </a:custGeom>
            <a:noFill/>
            <a:ln w="3714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141 circle"/>
            <p:cNvSpPr/>
            <p:nvPr/>
          </p:nvSpPr>
          <p:spPr>
            <a:xfrm>
              <a:off x="3746500" y="169545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142 circle"/>
            <p:cNvSpPr/>
            <p:nvPr/>
          </p:nvSpPr>
          <p:spPr>
            <a:xfrm>
              <a:off x="3746500" y="179070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143 circle"/>
            <p:cNvSpPr/>
            <p:nvPr/>
          </p:nvSpPr>
          <p:spPr>
            <a:xfrm>
              <a:off x="3829050" y="167640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144 circle"/>
            <p:cNvSpPr/>
            <p:nvPr/>
          </p:nvSpPr>
          <p:spPr>
            <a:xfrm>
              <a:off x="3829050" y="175895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145 circle"/>
            <p:cNvSpPr/>
            <p:nvPr/>
          </p:nvSpPr>
          <p:spPr>
            <a:xfrm>
              <a:off x="3829050" y="184150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146 circle"/>
            <p:cNvSpPr/>
            <p:nvPr/>
          </p:nvSpPr>
          <p:spPr>
            <a:xfrm>
              <a:off x="3917950" y="172085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147 circle"/>
            <p:cNvSpPr/>
            <p:nvPr/>
          </p:nvSpPr>
          <p:spPr>
            <a:xfrm>
              <a:off x="3917950" y="1809750"/>
              <a:ext cx="38100" cy="38100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8" name="cross mark"/>
          <p:cNvSpPr/>
          <p:nvPr/>
        </p:nvSpPr>
        <p:spPr>
          <a:xfrm>
            <a:off x="2341800" y="776520"/>
            <a:ext cx="46800" cy="46800"/>
          </a:xfrm>
          <a:custGeom>
            <a:avLst/>
            <a:gdLst/>
            <a:ahLst/>
            <a:cxnLst/>
            <a:rect l="0" t="0" r="r" b="b"/>
            <a:pathLst>
              <a:path w="46800" h="46800" fill="none">
                <a:moveTo>
                  <a:pt x="0" y="0"/>
                </a:moveTo>
                <a:lnTo>
                  <a:pt x="46800" y="46800"/>
                </a:lnTo>
                <a:moveTo>
                  <a:pt x="0" y="46800"/>
                </a:moveTo>
                <a:lnTo>
                  <a:pt x="46800" y="0"/>
                </a:lnTo>
              </a:path>
            </a:pathLst>
          </a:custGeom>
          <a:noFill/>
          <a:ln w="12700" cap="rnd">
            <a:solidFill>
              <a:srgbClr val="D9363E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19" name="label ρ = 0.23 with measured yields"/>
          <p:cNvSpPr txBox="1"/>
          <p:nvPr/>
        </p:nvSpPr>
        <p:spPr>
          <a:xfrm>
            <a:off x="2419200" y="748326"/>
            <a:ext cx="1095306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b="0" i="1" dirty="0">
                <a:solidFill>
                  <a:srgbClr val="3E5163"/>
                </a:solidFill>
                <a:latin typeface="Times New Roman"/>
                <a:cs typeface="Times New Roman"/>
              </a:rPr>
              <a:t>ρ</a:t>
            </a:r>
            <a:r>
              <a:rPr lang="en-US" sz="650" b="0" i="0" dirty="0">
                <a:solidFill>
                  <a:srgbClr val="3E5163"/>
                </a:solidFill>
                <a:latin typeface="Arial"/>
                <a:cs typeface="Arial"/>
              </a:rPr>
              <a:t xml:space="preserve"> = 0.23 with measured yields</a:t>
            </a:r>
            <a:endParaRPr lang="en-US" sz="650" dirty="0"/>
          </a:p>
        </p:txBody>
      </p:sp>
      <p:sp>
        <p:nvSpPr>
          <p:cNvPr id="220" name="cross mark"/>
          <p:cNvSpPr/>
          <p:nvPr/>
        </p:nvSpPr>
        <p:spPr>
          <a:xfrm>
            <a:off x="2341800" y="1500840"/>
            <a:ext cx="46800" cy="46800"/>
          </a:xfrm>
          <a:custGeom>
            <a:avLst/>
            <a:gdLst/>
            <a:ahLst/>
            <a:cxnLst/>
            <a:rect l="0" t="0" r="r" b="b"/>
            <a:pathLst>
              <a:path w="46800" h="46800" fill="none">
                <a:moveTo>
                  <a:pt x="0" y="0"/>
                </a:moveTo>
                <a:lnTo>
                  <a:pt x="46800" y="46800"/>
                </a:lnTo>
                <a:moveTo>
                  <a:pt x="0" y="46800"/>
                </a:moveTo>
                <a:lnTo>
                  <a:pt x="46800" y="0"/>
                </a:lnTo>
              </a:path>
            </a:pathLst>
          </a:custGeom>
          <a:noFill/>
          <a:ln w="12700" cap="rnd">
            <a:solidFill>
              <a:srgbClr val="D9363E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21" name="label 66% agree with descriptor order"/>
          <p:cNvSpPr txBox="1"/>
          <p:nvPr/>
        </p:nvSpPr>
        <p:spPr>
          <a:xfrm>
            <a:off x="2419200" y="1472646"/>
            <a:ext cx="1177251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3E5163"/>
                </a:solidFill>
                <a:latin typeface="Arial"/>
                <a:cs typeface="Arial"/>
              </a:rPr>
              <a:t>66% agree with descriptor order</a:t>
            </a:r>
            <a:endParaRPr lang="en-US" sz="650" dirty="0"/>
          </a:p>
        </p:txBody>
      </p:sp>
      <p:sp>
        <p:nvSpPr>
          <p:cNvPr id="222" name="question: comparison"/>
          <p:cNvSpPr/>
          <p:nvPr/>
        </p:nvSpPr>
        <p:spPr>
          <a:xfrm>
            <a:off x="4795927" y="230400"/>
            <a:ext cx="935273" cy="251280"/>
          </a:xfrm>
          <a:prstGeom prst="wedgeRoundRectCallout">
            <a:avLst>
              <a:gd name="adj1" fmla="val 35000"/>
              <a:gd name="adj2" fmla="val 72922"/>
              <a:gd name="adj3" fmla="val 15759"/>
            </a:avLst>
          </a:prstGeom>
          <a:solidFill>
            <a:srgbClr val="EAF4FC"/>
          </a:solidFill>
          <a:ln w="7620" cap="flat">
            <a:solidFill>
              <a:srgbClr val="B9D3EC"/>
            </a:solidFill>
            <a:round/>
          </a:ln>
          <a:effectLst/>
        </p:spPr>
        <p:txBody>
          <a:bodyPr wrap="none" lIns="39600" tIns="19800" rIns="39600" bIns="19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Which is more basic:</a:t>
            </a:r>
            <a:endParaRPr lang="en-US" sz="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Cs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 xml:space="preserve"> or K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?</a:t>
            </a:r>
            <a:endParaRPr lang="en-US" sz="700" dirty="0"/>
          </a:p>
        </p:txBody>
      </p:sp>
      <p:sp>
        <p:nvSpPr>
          <p:cNvPr id="223" name="answer: comparison"/>
          <p:cNvSpPr/>
          <p:nvPr/>
        </p:nvSpPr>
        <p:spPr>
          <a:xfrm>
            <a:off x="4075200" y="557280"/>
            <a:ext cx="422463" cy="149040"/>
          </a:xfrm>
          <a:prstGeom prst="wedgeRoundRectCallout">
            <a:avLst>
              <a:gd name="adj1" fmla="val -63634"/>
              <a:gd name="adj2" fmla="val -21843"/>
              <a:gd name="adj3" fmla="val 26570"/>
            </a:avLst>
          </a:prstGeom>
          <a:solidFill>
            <a:srgbClr val="EDF8EF"/>
          </a:solidFill>
          <a:ln w="7620" cap="flat">
            <a:solidFill>
              <a:srgbClr val="B5DFBF"/>
            </a:solidFill>
            <a:round/>
          </a:ln>
          <a:effectLst/>
        </p:spPr>
        <p:txBody>
          <a:bodyPr wrap="none" lIns="39600" tIns="19800" rIns="39600" bIns="19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Cs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2</a:t>
            </a:r>
            <a:r>
              <a:rPr lang="en-US" sz="700" b="0" i="0" dirty="0">
                <a:solidFill>
                  <a:srgbClr val="10283B"/>
                </a:solidFill>
                <a:latin typeface="Arial"/>
                <a:cs typeface="Arial"/>
              </a:rPr>
              <a:t>CO</a:t>
            </a:r>
            <a:r>
              <a:rPr lang="en-US" sz="700" b="0" i="0" dirty="0" baseline="-25000">
                <a:solidFill>
                  <a:srgbClr val="10283B"/>
                </a:solidFill>
                <a:latin typeface="Arial"/>
                <a:cs typeface="Arial"/>
              </a:rPr>
              <a:t>3</a:t>
            </a:r>
            <a:endParaRPr lang="en-US" sz="700" dirty="0"/>
          </a:p>
        </p:txBody>
      </p:sp>
      <p:grpSp>
        <p:nvGrpSpPr>
          <p:cNvPr id="224" name="LLM (robot)"/>
          <p:cNvGrpSpPr/>
          <p:nvPr/>
        </p:nvGrpSpPr>
        <p:grpSpPr>
          <a:xfrm>
            <a:off x="3726000" y="462840"/>
            <a:ext cx="266400" cy="299039"/>
            <a:chOff x="6222365" y="1250950"/>
            <a:chExt cx="706437" cy="792988"/>
          </a:xfrm>
        </p:grpSpPr>
        <p:sp>
          <p:nvSpPr>
            <p:cNvPr id="225" name="197 circle"/>
            <p:cNvSpPr/>
            <p:nvPr/>
          </p:nvSpPr>
          <p:spPr>
            <a:xfrm>
              <a:off x="6222365" y="1774698"/>
              <a:ext cx="706437" cy="26924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198 circle"/>
            <p:cNvSpPr/>
            <p:nvPr/>
          </p:nvSpPr>
          <p:spPr>
            <a:xfrm>
              <a:off x="6228715" y="1781048"/>
              <a:ext cx="693737" cy="25654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199 circle"/>
            <p:cNvSpPr/>
            <p:nvPr/>
          </p:nvSpPr>
          <p:spPr>
            <a:xfrm>
              <a:off x="6235065" y="1787398"/>
              <a:ext cx="681037" cy="24384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200 circle"/>
            <p:cNvSpPr/>
            <p:nvPr/>
          </p:nvSpPr>
          <p:spPr>
            <a:xfrm>
              <a:off x="6241415" y="1793748"/>
              <a:ext cx="668337" cy="23114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201 circle"/>
            <p:cNvSpPr/>
            <p:nvPr/>
          </p:nvSpPr>
          <p:spPr>
            <a:xfrm>
              <a:off x="6247765" y="1800098"/>
              <a:ext cx="655637" cy="218440"/>
            </a:xfrm>
            <a:prstGeom prst="ellipse">
              <a:avLst/>
            </a:prstGeom>
            <a:solidFill>
              <a:srgbClr val="DCE7EE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202 box"/>
            <p:cNvSpPr/>
            <p:nvPr/>
          </p:nvSpPr>
          <p:spPr>
            <a:xfrm>
              <a:off x="6356985" y="1250950"/>
              <a:ext cx="462915" cy="344614"/>
            </a:xfrm>
            <a:prstGeom prst="roundRect">
              <a:avLst>
                <a:gd name="adj" fmla="val 23880"/>
              </a:avLst>
            </a:prstGeom>
            <a:gradFill rotWithShape="1">
              <a:gsLst>
                <a:gs pos="0">
                  <a:srgbClr val="F9FCFE"/>
                </a:gs>
                <a:gs pos="100000">
                  <a:srgbClr val="DFEAF1"/>
                </a:gs>
              </a:gsLst>
              <a:lin ang="5400000" scaled="1"/>
            </a:gradFill>
            <a:ln w="462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203 box"/>
            <p:cNvSpPr/>
            <p:nvPr/>
          </p:nvSpPr>
          <p:spPr>
            <a:xfrm>
              <a:off x="6331267" y="1374394"/>
              <a:ext cx="30861" cy="10287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462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204 box"/>
            <p:cNvSpPr/>
            <p:nvPr/>
          </p:nvSpPr>
          <p:spPr>
            <a:xfrm>
              <a:off x="6819900" y="1374394"/>
              <a:ext cx="30861" cy="102870"/>
            </a:xfrm>
            <a:prstGeom prst="roundRect">
              <a:avLst>
                <a:gd name="adj" fmla="val 50000"/>
              </a:avLst>
            </a:prstGeom>
            <a:solidFill>
              <a:srgbClr val="DDEAF0"/>
            </a:solidFill>
            <a:ln w="462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205 box"/>
            <p:cNvSpPr/>
            <p:nvPr/>
          </p:nvSpPr>
          <p:spPr>
            <a:xfrm>
              <a:off x="6418707" y="1317815"/>
              <a:ext cx="339471" cy="20574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365568"/>
                </a:gs>
                <a:gs pos="100000">
                  <a:srgbClr val="183449"/>
                </a:gs>
              </a:gsLst>
              <a:lin ang="5400000" scaled="1"/>
            </a:gradFill>
            <a:ln w="462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206 circle"/>
            <p:cNvSpPr/>
            <p:nvPr/>
          </p:nvSpPr>
          <p:spPr>
            <a:xfrm>
              <a:off x="6485572" y="1389824"/>
              <a:ext cx="51435" cy="51435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207 circle"/>
            <p:cNvSpPr/>
            <p:nvPr/>
          </p:nvSpPr>
          <p:spPr>
            <a:xfrm>
              <a:off x="6645021" y="1389824"/>
              <a:ext cx="51435" cy="51435"/>
            </a:xfrm>
            <a:prstGeom prst="ellipse">
              <a:avLst/>
            </a:prstGeom>
            <a:solidFill>
              <a:srgbClr val="D6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208 path"/>
            <p:cNvSpPr/>
            <p:nvPr/>
          </p:nvSpPr>
          <p:spPr>
            <a:xfrm>
              <a:off x="6557581" y="1477264"/>
              <a:ext cx="66865" cy="20574"/>
            </a:xfrm>
            <a:custGeom>
              <a:avLst/>
              <a:gdLst/>
              <a:ahLst/>
              <a:cxnLst/>
              <a:rect l="l" t="t" r="r" b="b"/>
              <a:pathLst>
                <a:path w="10529" h="3240" fill="none" stroke="1">
                  <a:moveTo>
                    <a:pt x="0" y="0"/>
                  </a:moveTo>
                  <a:quadBezTo>
                    <a:pt x="4860" y="3240"/>
                    <a:pt x="10530" y="0"/>
                  </a:quadBezTo>
                </a:path>
              </a:pathLst>
            </a:custGeom>
            <a:noFill/>
            <a:ln w="3471">
              <a:solidFill>
                <a:srgbClr val="76B3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209 robot body"/>
            <p:cNvSpPr/>
            <p:nvPr/>
          </p:nvSpPr>
          <p:spPr>
            <a:xfrm>
              <a:off x="6320980" y="1585277"/>
              <a:ext cx="534924" cy="380619"/>
            </a:xfrm>
            <a:custGeom>
              <a:avLst/>
              <a:gdLst/>
              <a:ahLst/>
              <a:cxnLst/>
              <a:rect l="l" t="t" r="r" b="b"/>
              <a:pathLst>
                <a:path w="84240" h="59940" fill="norm" stroke="1">
                  <a:moveTo>
                    <a:pt x="0" y="59940"/>
                  </a:moveTo>
                  <a:lnTo>
                    <a:pt x="0" y="27540"/>
                  </a:lnTo>
                  <a:cubicBezTo>
                    <a:pt x="0" y="0"/>
                    <a:pt x="18630" y="2430"/>
                    <a:pt x="40500" y="2430"/>
                  </a:cubicBezTo>
                  <a:cubicBezTo>
                    <a:pt x="69660" y="2430"/>
                    <a:pt x="83430" y="3240"/>
                    <a:pt x="84240" y="26730"/>
                  </a:cubicBezTo>
                  <a:lnTo>
                    <a:pt x="84240" y="59940"/>
                  </a:lnTo>
                </a:path>
              </a:pathLst>
            </a:custGeom>
            <a:solidFill>
              <a:srgbClr val="E9F0F5"/>
            </a:solidFill>
            <a:ln w="55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210 circle"/>
            <p:cNvSpPr/>
            <p:nvPr/>
          </p:nvSpPr>
          <p:spPr>
            <a:xfrm>
              <a:off x="6454711" y="1667573"/>
              <a:ext cx="267462" cy="267462"/>
            </a:xfrm>
            <a:prstGeom prst="ellipse">
              <a:avLst/>
            </a:prstGeom>
            <a:solidFill>
              <a:srgbClr val="2144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211 path"/>
            <p:cNvSpPr/>
            <p:nvPr/>
          </p:nvSpPr>
          <p:spPr>
            <a:xfrm>
              <a:off x="6521577" y="1719008"/>
              <a:ext cx="66865" cy="15430"/>
            </a:xfrm>
            <a:custGeom>
              <a:avLst/>
              <a:gdLst/>
              <a:ahLst/>
              <a:cxnLst/>
              <a:rect l="l" t="t" r="r" b="b"/>
              <a:pathLst>
                <a:path w="10529" h="2429" fill="none" stroke="1">
                  <a:moveTo>
                    <a:pt x="0" y="2430"/>
                  </a:moveTo>
                  <a:lnTo>
                    <a:pt x="10530" y="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212 path"/>
            <p:cNvSpPr/>
            <p:nvPr/>
          </p:nvSpPr>
          <p:spPr>
            <a:xfrm>
              <a:off x="6521577" y="1734439"/>
              <a:ext cx="66865" cy="51435"/>
            </a:xfrm>
            <a:custGeom>
              <a:avLst/>
              <a:gdLst/>
              <a:ahLst/>
              <a:cxnLst/>
              <a:rect l="l" t="t" r="r" b="b"/>
              <a:pathLst>
                <a:path w="10529" h="8100" fill="none" stroke="1">
                  <a:moveTo>
                    <a:pt x="0" y="0"/>
                  </a:moveTo>
                  <a:lnTo>
                    <a:pt x="10530" y="810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213 path"/>
            <p:cNvSpPr/>
            <p:nvPr/>
          </p:nvSpPr>
          <p:spPr>
            <a:xfrm>
              <a:off x="6521577" y="1734439"/>
              <a:ext cx="66865" cy="118300"/>
            </a:xfrm>
            <a:custGeom>
              <a:avLst/>
              <a:gdLst/>
              <a:ahLst/>
              <a:cxnLst/>
              <a:rect l="l" t="t" r="r" b="b"/>
              <a:pathLst>
                <a:path w="10529" h="18629" fill="none" stroke="1">
                  <a:moveTo>
                    <a:pt x="0" y="0"/>
                  </a:moveTo>
                  <a:lnTo>
                    <a:pt x="10530" y="1863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214 path"/>
            <p:cNvSpPr/>
            <p:nvPr/>
          </p:nvSpPr>
          <p:spPr>
            <a:xfrm>
              <a:off x="6521577" y="1719008"/>
              <a:ext cx="66865" cy="92582"/>
            </a:xfrm>
            <a:custGeom>
              <a:avLst/>
              <a:gdLst/>
              <a:ahLst/>
              <a:cxnLst/>
              <a:rect l="l" t="t" r="r" b="b"/>
              <a:pathLst>
                <a:path w="10529" h="14579" fill="none" stroke="1">
                  <a:moveTo>
                    <a:pt x="0" y="14580"/>
                  </a:moveTo>
                  <a:lnTo>
                    <a:pt x="10530" y="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215 path"/>
            <p:cNvSpPr/>
            <p:nvPr/>
          </p:nvSpPr>
          <p:spPr>
            <a:xfrm>
              <a:off x="6521577" y="1785874"/>
              <a:ext cx="66865" cy="25717"/>
            </a:xfrm>
            <a:custGeom>
              <a:avLst/>
              <a:gdLst/>
              <a:ahLst/>
              <a:cxnLst/>
              <a:rect l="l" t="t" r="r" b="b"/>
              <a:pathLst>
                <a:path w="10529" h="4050" fill="none" stroke="1">
                  <a:moveTo>
                    <a:pt x="0" y="4050"/>
                  </a:moveTo>
                  <a:lnTo>
                    <a:pt x="10530" y="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216 path"/>
            <p:cNvSpPr/>
            <p:nvPr/>
          </p:nvSpPr>
          <p:spPr>
            <a:xfrm>
              <a:off x="6521577" y="1811591"/>
              <a:ext cx="66865" cy="41147"/>
            </a:xfrm>
            <a:custGeom>
              <a:avLst/>
              <a:gdLst/>
              <a:ahLst/>
              <a:cxnLst/>
              <a:rect l="l" t="t" r="r" b="b"/>
              <a:pathLst>
                <a:path w="10529" h="6479" fill="none" stroke="1">
                  <a:moveTo>
                    <a:pt x="0" y="0"/>
                  </a:moveTo>
                  <a:lnTo>
                    <a:pt x="10530" y="648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217 path"/>
            <p:cNvSpPr/>
            <p:nvPr/>
          </p:nvSpPr>
          <p:spPr>
            <a:xfrm>
              <a:off x="6588442" y="1719008"/>
              <a:ext cx="72009" cy="36004"/>
            </a:xfrm>
            <a:custGeom>
              <a:avLst/>
              <a:gdLst/>
              <a:ahLst/>
              <a:cxnLst/>
              <a:rect l="l" t="t" r="r" b="b"/>
              <a:pathLst>
                <a:path w="11340" h="5669" fill="none" stroke="1">
                  <a:moveTo>
                    <a:pt x="0" y="0"/>
                  </a:moveTo>
                  <a:lnTo>
                    <a:pt x="11340" y="567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218 path"/>
            <p:cNvSpPr/>
            <p:nvPr/>
          </p:nvSpPr>
          <p:spPr>
            <a:xfrm>
              <a:off x="6588442" y="1719008"/>
              <a:ext cx="72009" cy="108013"/>
            </a:xfrm>
            <a:custGeom>
              <a:avLst/>
              <a:gdLst/>
              <a:ahLst/>
              <a:cxnLst/>
              <a:rect l="l" t="t" r="r" b="b"/>
              <a:pathLst>
                <a:path w="11340" h="17009" fill="none" stroke="1">
                  <a:moveTo>
                    <a:pt x="0" y="0"/>
                  </a:moveTo>
                  <a:lnTo>
                    <a:pt x="11340" y="1701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219 path"/>
            <p:cNvSpPr/>
            <p:nvPr/>
          </p:nvSpPr>
          <p:spPr>
            <a:xfrm>
              <a:off x="6588442" y="1755013"/>
              <a:ext cx="72009" cy="30861"/>
            </a:xfrm>
            <a:custGeom>
              <a:avLst/>
              <a:gdLst/>
              <a:ahLst/>
              <a:cxnLst/>
              <a:rect l="l" t="t" r="r" b="b"/>
              <a:pathLst>
                <a:path w="11340" h="4860" fill="none" stroke="1">
                  <a:moveTo>
                    <a:pt x="0" y="4860"/>
                  </a:moveTo>
                  <a:lnTo>
                    <a:pt x="11340" y="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220 path"/>
            <p:cNvSpPr/>
            <p:nvPr/>
          </p:nvSpPr>
          <p:spPr>
            <a:xfrm>
              <a:off x="6588442" y="1785874"/>
              <a:ext cx="72009" cy="41148"/>
            </a:xfrm>
            <a:custGeom>
              <a:avLst/>
              <a:gdLst/>
              <a:ahLst/>
              <a:cxnLst/>
              <a:rect l="l" t="t" r="r" b="b"/>
              <a:pathLst>
                <a:path w="11340" h="6480" fill="none" stroke="1">
                  <a:moveTo>
                    <a:pt x="0" y="0"/>
                  </a:moveTo>
                  <a:lnTo>
                    <a:pt x="11340" y="648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221 path"/>
            <p:cNvSpPr/>
            <p:nvPr/>
          </p:nvSpPr>
          <p:spPr>
            <a:xfrm>
              <a:off x="6588442" y="1755013"/>
              <a:ext cx="72009" cy="97726"/>
            </a:xfrm>
            <a:custGeom>
              <a:avLst/>
              <a:gdLst/>
              <a:ahLst/>
              <a:cxnLst/>
              <a:rect l="l" t="t" r="r" b="b"/>
              <a:pathLst>
                <a:path w="11340" h="15389" fill="none" stroke="1">
                  <a:moveTo>
                    <a:pt x="0" y="15390"/>
                  </a:moveTo>
                  <a:lnTo>
                    <a:pt x="11340" y="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222 path"/>
            <p:cNvSpPr/>
            <p:nvPr/>
          </p:nvSpPr>
          <p:spPr>
            <a:xfrm>
              <a:off x="6588442" y="1827022"/>
              <a:ext cx="72009" cy="25717"/>
            </a:xfrm>
            <a:custGeom>
              <a:avLst/>
              <a:gdLst/>
              <a:ahLst/>
              <a:cxnLst/>
              <a:rect l="l" t="t" r="r" b="b"/>
              <a:pathLst>
                <a:path w="11340" h="4049" fill="none" stroke="1">
                  <a:moveTo>
                    <a:pt x="0" y="4050"/>
                  </a:moveTo>
                  <a:lnTo>
                    <a:pt x="11340" y="0"/>
                  </a:lnTo>
                </a:path>
              </a:pathLst>
            </a:custGeom>
            <a:noFill/>
            <a:ln w="3008">
              <a:solidFill>
                <a:srgbClr val="A7D8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223 circle"/>
            <p:cNvSpPr/>
            <p:nvPr/>
          </p:nvSpPr>
          <p:spPr>
            <a:xfrm>
              <a:off x="6506146" y="1719008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224 circle"/>
            <p:cNvSpPr/>
            <p:nvPr/>
          </p:nvSpPr>
          <p:spPr>
            <a:xfrm>
              <a:off x="6506146" y="1796161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225 circle"/>
            <p:cNvSpPr/>
            <p:nvPr/>
          </p:nvSpPr>
          <p:spPr>
            <a:xfrm>
              <a:off x="6573011" y="1703577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226 circle"/>
            <p:cNvSpPr/>
            <p:nvPr/>
          </p:nvSpPr>
          <p:spPr>
            <a:xfrm>
              <a:off x="6573011" y="1770443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227 circle"/>
            <p:cNvSpPr/>
            <p:nvPr/>
          </p:nvSpPr>
          <p:spPr>
            <a:xfrm>
              <a:off x="6573011" y="1837309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228 circle"/>
            <p:cNvSpPr/>
            <p:nvPr/>
          </p:nvSpPr>
          <p:spPr>
            <a:xfrm>
              <a:off x="6645021" y="1739582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229 circle"/>
            <p:cNvSpPr/>
            <p:nvPr/>
          </p:nvSpPr>
          <p:spPr>
            <a:xfrm>
              <a:off x="6645021" y="1811591"/>
              <a:ext cx="30861" cy="30861"/>
            </a:xfrm>
            <a:prstGeom prst="ellipse">
              <a:avLst/>
            </a:prstGeom>
            <a:solidFill>
              <a:srgbClr val="F2F8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8" name="check mark"/>
          <p:cNvSpPr/>
          <p:nvPr/>
        </p:nvSpPr>
        <p:spPr>
          <a:xfrm>
            <a:off x="4081896" y="788760"/>
            <a:ext cx="51408" cy="37944"/>
          </a:xfrm>
          <a:custGeom>
            <a:avLst/>
            <a:gdLst/>
            <a:ahLst/>
            <a:cxnLst/>
            <a:rect l="0" t="0" r="r" b="b"/>
            <a:pathLst>
              <a:path w="51408" h="37944" fill="none">
                <a:moveTo>
                  <a:pt x="0" y="19584"/>
                </a:moveTo>
                <a:lnTo>
                  <a:pt x="18360" y="37944"/>
                </a:lnTo>
                <a:lnTo>
                  <a:pt x="51408" y="0"/>
                </a:lnTo>
              </a:path>
            </a:pathLst>
          </a:custGeom>
          <a:noFill/>
          <a:ln w="13970" cap="rnd">
            <a:solidFill>
              <a:srgbClr val="2E9A50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59" name="label 82% agree with descriptor order"/>
          <p:cNvSpPr txBox="1"/>
          <p:nvPr/>
        </p:nvSpPr>
        <p:spPr>
          <a:xfrm>
            <a:off x="4161600" y="755526"/>
            <a:ext cx="1177251" cy="103188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3E5163"/>
                </a:solidFill>
                <a:latin typeface="Arial"/>
                <a:cs typeface="Arial"/>
              </a:rPr>
              <a:t>82% agree with descriptor order</a:t>
            </a:r>
            <a:endParaRPr lang="en-US" sz="650" dirty="0"/>
          </a:p>
        </p:txBody>
      </p:sp>
      <p:grpSp>
        <p:nvGrpSpPr>
          <p:cNvPr id="270" name="yield landscape"/>
          <p:cNvGrpSpPr/>
          <p:nvPr/>
        </p:nvGrpSpPr>
        <p:grpSpPr>
          <a:xfrm>
            <a:off x="3726000" y="897120"/>
            <a:ext cx="2005200" cy="701280"/>
            <a:chOff x="3726000" y="897120"/>
            <a:chExt cx="2005200" cy="701280"/>
          </a:xfrm>
        </p:grpSpPr>
        <p:sp>
          <p:nvSpPr>
            <p:cNvPr id="260" name="yield landscape background"/>
            <p:cNvSpPr/>
            <p:nvPr/>
          </p:nvSpPr>
          <p:spPr>
            <a:xfrm>
              <a:off x="3726000" y="897120"/>
              <a:ext cx="2005200" cy="701280"/>
            </a:xfrm>
            <a:prstGeom prst="roundRect">
              <a:avLst>
                <a:gd name="adj" fmla="val 5133"/>
              </a:avLst>
            </a:prstGeom>
            <a:solidFill>
              <a:srgbClr val="F2F6FA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1" name="yield landscape band 1"/>
            <p:cNvSpPr/>
            <p:nvPr/>
          </p:nvSpPr>
          <p:spPr>
            <a:xfrm>
              <a:off x="3993766" y="906000"/>
              <a:ext cx="1661875" cy="672982"/>
            </a:xfrm>
            <a:custGeom>
              <a:avLst/>
              <a:gdLst/>
              <a:ahLst/>
              <a:cxnLst/>
              <a:rect l="0" t="0" r="r" b="b"/>
              <a:pathLst>
                <a:path w="1661875" h="672982">
                  <a:moveTo>
                    <a:pt x="1149036" y="669427"/>
                  </a:moveTo>
                  <a:lnTo>
                    <a:pt x="862578" y="672982"/>
                  </a:lnTo>
                  <a:lnTo>
                    <a:pt x="529669" y="656091"/>
                  </a:lnTo>
                  <a:lnTo>
                    <a:pt x="367085" y="634894"/>
                  </a:lnTo>
                  <a:lnTo>
                    <a:pt x="219985" y="595876"/>
                  </a:lnTo>
                  <a:lnTo>
                    <a:pt x="87532" y="536560"/>
                  </a:lnTo>
                  <a:lnTo>
                    <a:pt x="44831" y="505392"/>
                  </a:lnTo>
                  <a:lnTo>
                    <a:pt x="17892" y="474224"/>
                  </a:lnTo>
                  <a:lnTo>
                    <a:pt x="4073" y="443056"/>
                  </a:lnTo>
                  <a:lnTo>
                    <a:pt x="0" y="404096"/>
                  </a:lnTo>
                  <a:lnTo>
                    <a:pt x="21911" y="295008"/>
                  </a:lnTo>
                  <a:lnTo>
                    <a:pt x="50601" y="232672"/>
                  </a:lnTo>
                  <a:lnTo>
                    <a:pt x="96112" y="180193"/>
                  </a:lnTo>
                  <a:lnTo>
                    <a:pt x="158049" y="142675"/>
                  </a:lnTo>
                  <a:lnTo>
                    <a:pt x="227728" y="122306"/>
                  </a:lnTo>
                  <a:lnTo>
                    <a:pt x="312890" y="116105"/>
                  </a:lnTo>
                  <a:lnTo>
                    <a:pt x="398053" y="124959"/>
                  </a:lnTo>
                  <a:lnTo>
                    <a:pt x="475474" y="144026"/>
                  </a:lnTo>
                  <a:lnTo>
                    <a:pt x="630316" y="198029"/>
                  </a:lnTo>
                  <a:lnTo>
                    <a:pt x="692253" y="204638"/>
                  </a:lnTo>
                  <a:lnTo>
                    <a:pt x="761931" y="182662"/>
                  </a:lnTo>
                  <a:lnTo>
                    <a:pt x="939999" y="71047"/>
                  </a:lnTo>
                  <a:lnTo>
                    <a:pt x="1053551" y="14496"/>
                  </a:lnTo>
                  <a:lnTo>
                    <a:pt x="1156778" y="3826"/>
                  </a:lnTo>
                  <a:lnTo>
                    <a:pt x="1381298" y="0"/>
                  </a:lnTo>
                  <a:lnTo>
                    <a:pt x="1574850" y="2950"/>
                  </a:lnTo>
                  <a:lnTo>
                    <a:pt x="1629612" y="14496"/>
                  </a:lnTo>
                  <a:lnTo>
                    <a:pt x="1657893" y="108000"/>
                  </a:lnTo>
                  <a:lnTo>
                    <a:pt x="1661875" y="232672"/>
                  </a:lnTo>
                  <a:lnTo>
                    <a:pt x="1632179" y="443056"/>
                  </a:lnTo>
                  <a:lnTo>
                    <a:pt x="1615718" y="497600"/>
                  </a:lnTo>
                  <a:lnTo>
                    <a:pt x="1594218" y="536560"/>
                  </a:lnTo>
                  <a:lnTo>
                    <a:pt x="1559366" y="566614"/>
                  </a:lnTo>
                  <a:lnTo>
                    <a:pt x="1435493" y="609981"/>
                  </a:lnTo>
                  <a:lnTo>
                    <a:pt x="1280651" y="648266"/>
                  </a:lnTo>
                  <a:lnTo>
                    <a:pt x="1149036" y="669427"/>
                  </a:lnTo>
                  <a:close/>
                </a:path>
              </a:pathLst>
            </a:custGeom>
            <a:solidFill>
              <a:srgbClr val="DCE6F4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2" name="yield landscape band 2"/>
            <p:cNvSpPr/>
            <p:nvPr/>
          </p:nvSpPr>
          <p:spPr>
            <a:xfrm>
              <a:off x="4096032" y="914075"/>
              <a:ext cx="1525961" cy="617226"/>
            </a:xfrm>
            <a:custGeom>
              <a:avLst/>
              <a:gdLst/>
              <a:ahLst/>
              <a:cxnLst/>
              <a:rect l="0" t="0" r="r" b="b"/>
              <a:pathLst>
                <a:path w="1525961" h="617226">
                  <a:moveTo>
                    <a:pt x="984832" y="614214"/>
                  </a:moveTo>
                  <a:lnTo>
                    <a:pt x="837733" y="617226"/>
                  </a:lnTo>
                  <a:lnTo>
                    <a:pt x="597728" y="593801"/>
                  </a:lnTo>
                  <a:lnTo>
                    <a:pt x="388692" y="587231"/>
                  </a:lnTo>
                  <a:lnTo>
                    <a:pt x="288045" y="573086"/>
                  </a:lnTo>
                  <a:lnTo>
                    <a:pt x="202882" y="549443"/>
                  </a:lnTo>
                  <a:lnTo>
                    <a:pt x="102235" y="500990"/>
                  </a:lnTo>
                  <a:lnTo>
                    <a:pt x="31225" y="434981"/>
                  </a:lnTo>
                  <a:lnTo>
                    <a:pt x="10274" y="396021"/>
                  </a:lnTo>
                  <a:lnTo>
                    <a:pt x="0" y="357061"/>
                  </a:lnTo>
                  <a:lnTo>
                    <a:pt x="6399" y="279141"/>
                  </a:lnTo>
                  <a:lnTo>
                    <a:pt x="31425" y="232389"/>
                  </a:lnTo>
                  <a:lnTo>
                    <a:pt x="63524" y="201484"/>
                  </a:lnTo>
                  <a:lnTo>
                    <a:pt x="109977" y="176238"/>
                  </a:lnTo>
                  <a:lnTo>
                    <a:pt x="164171" y="161687"/>
                  </a:lnTo>
                  <a:lnTo>
                    <a:pt x="233850" y="157537"/>
                  </a:lnTo>
                  <a:lnTo>
                    <a:pt x="311271" y="167350"/>
                  </a:lnTo>
                  <a:lnTo>
                    <a:pt x="388692" y="189864"/>
                  </a:lnTo>
                  <a:lnTo>
                    <a:pt x="535792" y="250951"/>
                  </a:lnTo>
                  <a:lnTo>
                    <a:pt x="605470" y="260322"/>
                  </a:lnTo>
                  <a:lnTo>
                    <a:pt x="680917" y="232389"/>
                  </a:lnTo>
                  <a:lnTo>
                    <a:pt x="829991" y="128198"/>
                  </a:lnTo>
                  <a:lnTo>
                    <a:pt x="915154" y="78362"/>
                  </a:lnTo>
                  <a:lnTo>
                    <a:pt x="1000317" y="39722"/>
                  </a:lnTo>
                  <a:lnTo>
                    <a:pt x="1093222" y="9064"/>
                  </a:lnTo>
                  <a:lnTo>
                    <a:pt x="1201611" y="11"/>
                  </a:lnTo>
                  <a:lnTo>
                    <a:pt x="1348710" y="0"/>
                  </a:lnTo>
                  <a:lnTo>
                    <a:pt x="1439974" y="6421"/>
                  </a:lnTo>
                  <a:lnTo>
                    <a:pt x="1472584" y="23435"/>
                  </a:lnTo>
                  <a:lnTo>
                    <a:pt x="1495810" y="51551"/>
                  </a:lnTo>
                  <a:lnTo>
                    <a:pt x="1513482" y="92133"/>
                  </a:lnTo>
                  <a:lnTo>
                    <a:pt x="1525961" y="201221"/>
                  </a:lnTo>
                  <a:lnTo>
                    <a:pt x="1500968" y="349269"/>
                  </a:lnTo>
                  <a:lnTo>
                    <a:pt x="1480326" y="405690"/>
                  </a:lnTo>
                  <a:lnTo>
                    <a:pt x="1457100" y="442482"/>
                  </a:lnTo>
                  <a:lnTo>
                    <a:pt x="1379679" y="501753"/>
                  </a:lnTo>
                  <a:lnTo>
                    <a:pt x="1263548" y="554725"/>
                  </a:lnTo>
                  <a:lnTo>
                    <a:pt x="1124190" y="593639"/>
                  </a:lnTo>
                  <a:lnTo>
                    <a:pt x="984832" y="614214"/>
                  </a:lnTo>
                  <a:close/>
                </a:path>
              </a:pathLst>
            </a:custGeom>
            <a:solidFill>
              <a:srgbClr val="C1D4EC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3" name="yield landscape band 3"/>
            <p:cNvSpPr/>
            <p:nvPr/>
          </p:nvSpPr>
          <p:spPr>
            <a:xfrm>
              <a:off x="4150672" y="935200"/>
              <a:ext cx="1439928" cy="554860"/>
            </a:xfrm>
            <a:custGeom>
              <a:avLst/>
              <a:gdLst/>
              <a:ahLst/>
              <a:cxnLst/>
              <a:rect l="0" t="0" r="r" b="b"/>
              <a:pathLst>
                <a:path w="1439928" h="554860">
                  <a:moveTo>
                    <a:pt x="937935" y="554716"/>
                  </a:moveTo>
                  <a:lnTo>
                    <a:pt x="783094" y="554860"/>
                  </a:lnTo>
                  <a:lnTo>
                    <a:pt x="543089" y="519126"/>
                  </a:lnTo>
                  <a:lnTo>
                    <a:pt x="318569" y="524507"/>
                  </a:lnTo>
                  <a:lnTo>
                    <a:pt x="202437" y="503681"/>
                  </a:lnTo>
                  <a:lnTo>
                    <a:pt x="109532" y="463952"/>
                  </a:lnTo>
                  <a:lnTo>
                    <a:pt x="39854" y="406623"/>
                  </a:lnTo>
                  <a:lnTo>
                    <a:pt x="5403" y="343728"/>
                  </a:lnTo>
                  <a:lnTo>
                    <a:pt x="0" y="304768"/>
                  </a:lnTo>
                  <a:lnTo>
                    <a:pt x="4331" y="273600"/>
                  </a:lnTo>
                  <a:lnTo>
                    <a:pt x="30009" y="226848"/>
                  </a:lnTo>
                  <a:lnTo>
                    <a:pt x="70704" y="195680"/>
                  </a:lnTo>
                  <a:lnTo>
                    <a:pt x="125016" y="176982"/>
                  </a:lnTo>
                  <a:lnTo>
                    <a:pt x="186953" y="171957"/>
                  </a:lnTo>
                  <a:lnTo>
                    <a:pt x="295342" y="190680"/>
                  </a:lnTo>
                  <a:lnTo>
                    <a:pt x="496637" y="283333"/>
                  </a:lnTo>
                  <a:lnTo>
                    <a:pt x="535347" y="292474"/>
                  </a:lnTo>
                  <a:lnTo>
                    <a:pt x="566315" y="291206"/>
                  </a:lnTo>
                  <a:lnTo>
                    <a:pt x="635994" y="259546"/>
                  </a:lnTo>
                  <a:lnTo>
                    <a:pt x="775352" y="151036"/>
                  </a:lnTo>
                  <a:lnTo>
                    <a:pt x="852772" y="100693"/>
                  </a:lnTo>
                  <a:lnTo>
                    <a:pt x="937935" y="58166"/>
                  </a:lnTo>
                  <a:lnTo>
                    <a:pt x="1023098" y="27521"/>
                  </a:lnTo>
                  <a:lnTo>
                    <a:pt x="1131487" y="4309"/>
                  </a:lnTo>
                  <a:lnTo>
                    <a:pt x="1239877" y="0"/>
                  </a:lnTo>
                  <a:lnTo>
                    <a:pt x="1332782" y="16523"/>
                  </a:lnTo>
                  <a:lnTo>
                    <a:pt x="1402460" y="51588"/>
                  </a:lnTo>
                  <a:lnTo>
                    <a:pt x="1423191" y="78800"/>
                  </a:lnTo>
                  <a:lnTo>
                    <a:pt x="1436751" y="117760"/>
                  </a:lnTo>
                  <a:lnTo>
                    <a:pt x="1439928" y="211264"/>
                  </a:lnTo>
                  <a:lnTo>
                    <a:pt x="1415489" y="304768"/>
                  </a:lnTo>
                  <a:lnTo>
                    <a:pt x="1363750" y="379291"/>
                  </a:lnTo>
                  <a:lnTo>
                    <a:pt x="1286329" y="444723"/>
                  </a:lnTo>
                  <a:lnTo>
                    <a:pt x="1185682" y="496687"/>
                  </a:lnTo>
                  <a:lnTo>
                    <a:pt x="1061809" y="535154"/>
                  </a:lnTo>
                  <a:lnTo>
                    <a:pt x="937935" y="554716"/>
                  </a:lnTo>
                  <a:close/>
                </a:path>
              </a:pathLst>
            </a:custGeom>
            <a:solidFill>
              <a:srgbClr val="AACAE4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4" name="yield landscape band 4"/>
            <p:cNvSpPr/>
            <p:nvPr/>
          </p:nvSpPr>
          <p:spPr>
            <a:xfrm>
              <a:off x="4202444" y="967811"/>
              <a:ext cx="1356297" cy="491678"/>
            </a:xfrm>
            <a:custGeom>
              <a:avLst/>
              <a:gdLst/>
              <a:ahLst/>
              <a:cxnLst/>
              <a:rect l="0" t="0" r="r" b="b"/>
              <a:pathLst>
                <a:path w="1356297" h="491678">
                  <a:moveTo>
                    <a:pt x="878421" y="490879"/>
                  </a:moveTo>
                  <a:lnTo>
                    <a:pt x="793258" y="491678"/>
                  </a:lnTo>
                  <a:lnTo>
                    <a:pt x="708095" y="481341"/>
                  </a:lnTo>
                  <a:lnTo>
                    <a:pt x="506801" y="418741"/>
                  </a:lnTo>
                  <a:lnTo>
                    <a:pt x="313249" y="455559"/>
                  </a:lnTo>
                  <a:lnTo>
                    <a:pt x="243570" y="455049"/>
                  </a:lnTo>
                  <a:lnTo>
                    <a:pt x="173892" y="442572"/>
                  </a:lnTo>
                  <a:lnTo>
                    <a:pt x="96471" y="411591"/>
                  </a:lnTo>
                  <a:lnTo>
                    <a:pt x="34534" y="363776"/>
                  </a:lnTo>
                  <a:lnTo>
                    <a:pt x="0" y="303325"/>
                  </a:lnTo>
                  <a:lnTo>
                    <a:pt x="546" y="248781"/>
                  </a:lnTo>
                  <a:lnTo>
                    <a:pt x="25005" y="209821"/>
                  </a:lnTo>
                  <a:lnTo>
                    <a:pt x="65502" y="184340"/>
                  </a:lnTo>
                  <a:lnTo>
                    <a:pt x="119697" y="171993"/>
                  </a:lnTo>
                  <a:lnTo>
                    <a:pt x="189376" y="175340"/>
                  </a:lnTo>
                  <a:lnTo>
                    <a:pt x="290023" y="208251"/>
                  </a:lnTo>
                  <a:lnTo>
                    <a:pt x="452607" y="312698"/>
                  </a:lnTo>
                  <a:lnTo>
                    <a:pt x="506801" y="328548"/>
                  </a:lnTo>
                  <a:lnTo>
                    <a:pt x="537770" y="318591"/>
                  </a:lnTo>
                  <a:lnTo>
                    <a:pt x="568738" y="298013"/>
                  </a:lnTo>
                  <a:lnTo>
                    <a:pt x="707899" y="170861"/>
                  </a:lnTo>
                  <a:lnTo>
                    <a:pt x="785516" y="111926"/>
                  </a:lnTo>
                  <a:lnTo>
                    <a:pt x="870679" y="63418"/>
                  </a:lnTo>
                  <a:lnTo>
                    <a:pt x="955842" y="29118"/>
                  </a:lnTo>
                  <a:lnTo>
                    <a:pt x="1071973" y="2473"/>
                  </a:lnTo>
                  <a:lnTo>
                    <a:pt x="1180363" y="0"/>
                  </a:lnTo>
                  <a:lnTo>
                    <a:pt x="1265526" y="19866"/>
                  </a:lnTo>
                  <a:lnTo>
                    <a:pt x="1328312" y="61773"/>
                  </a:lnTo>
                  <a:lnTo>
                    <a:pt x="1356297" y="116317"/>
                  </a:lnTo>
                  <a:lnTo>
                    <a:pt x="1353242" y="194237"/>
                  </a:lnTo>
                  <a:lnTo>
                    <a:pt x="1317258" y="272157"/>
                  </a:lnTo>
                  <a:lnTo>
                    <a:pt x="1258862" y="342285"/>
                  </a:lnTo>
                  <a:lnTo>
                    <a:pt x="1180363" y="401626"/>
                  </a:lnTo>
                  <a:lnTo>
                    <a:pt x="1095200" y="442999"/>
                  </a:lnTo>
                  <a:lnTo>
                    <a:pt x="986811" y="475429"/>
                  </a:lnTo>
                  <a:lnTo>
                    <a:pt x="878421" y="490879"/>
                  </a:lnTo>
                  <a:close/>
                </a:path>
              </a:pathLst>
            </a:custGeom>
            <a:solidFill>
              <a:srgbClr val="9ACED8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5" name="yield landscape band 5"/>
            <p:cNvSpPr/>
            <p:nvPr/>
          </p:nvSpPr>
          <p:spPr>
            <a:xfrm>
              <a:off x="4242581" y="992287"/>
              <a:ext cx="1278584" cy="437872"/>
            </a:xfrm>
            <a:custGeom>
              <a:avLst/>
              <a:gdLst/>
              <a:ahLst/>
              <a:cxnLst/>
              <a:rect l="0" t="0" r="r" b="b"/>
              <a:pathLst>
                <a:path w="1278584" h="437872">
                  <a:moveTo>
                    <a:pt x="884736" y="435498"/>
                  </a:moveTo>
                  <a:lnTo>
                    <a:pt x="753121" y="437872"/>
                  </a:lnTo>
                  <a:lnTo>
                    <a:pt x="643284" y="411313"/>
                  </a:lnTo>
                  <a:lnTo>
                    <a:pt x="601859" y="387937"/>
                  </a:lnTo>
                  <a:lnTo>
                    <a:pt x="579170" y="364561"/>
                  </a:lnTo>
                  <a:lnTo>
                    <a:pt x="569867" y="333393"/>
                  </a:lnTo>
                  <a:lnTo>
                    <a:pt x="577659" y="302225"/>
                  </a:lnTo>
                  <a:lnTo>
                    <a:pt x="631059" y="224305"/>
                  </a:lnTo>
                  <a:lnTo>
                    <a:pt x="714411" y="141806"/>
                  </a:lnTo>
                  <a:lnTo>
                    <a:pt x="799574" y="81923"/>
                  </a:lnTo>
                  <a:lnTo>
                    <a:pt x="900221" y="34380"/>
                  </a:lnTo>
                  <a:lnTo>
                    <a:pt x="1000868" y="7108"/>
                  </a:lnTo>
                  <a:lnTo>
                    <a:pt x="1101515" y="0"/>
                  </a:lnTo>
                  <a:lnTo>
                    <a:pt x="1186678" y="15478"/>
                  </a:lnTo>
                  <a:lnTo>
                    <a:pt x="1248503" y="52881"/>
                  </a:lnTo>
                  <a:lnTo>
                    <a:pt x="1276165" y="99633"/>
                  </a:lnTo>
                  <a:lnTo>
                    <a:pt x="1278584" y="154177"/>
                  </a:lnTo>
                  <a:lnTo>
                    <a:pt x="1252314" y="224305"/>
                  </a:lnTo>
                  <a:lnTo>
                    <a:pt x="1205562" y="286641"/>
                  </a:lnTo>
                  <a:lnTo>
                    <a:pt x="1147967" y="336965"/>
                  </a:lnTo>
                  <a:lnTo>
                    <a:pt x="1070546" y="382325"/>
                  </a:lnTo>
                  <a:lnTo>
                    <a:pt x="977641" y="416693"/>
                  </a:lnTo>
                  <a:lnTo>
                    <a:pt x="884736" y="435498"/>
                  </a:lnTo>
                  <a:close/>
                  <a:moveTo>
                    <a:pt x="265370" y="395832"/>
                  </a:moveTo>
                  <a:lnTo>
                    <a:pt x="211175" y="399681"/>
                  </a:lnTo>
                  <a:lnTo>
                    <a:pt x="156980" y="393114"/>
                  </a:lnTo>
                  <a:lnTo>
                    <a:pt x="102786" y="375864"/>
                  </a:lnTo>
                  <a:lnTo>
                    <a:pt x="56333" y="349494"/>
                  </a:lnTo>
                  <a:lnTo>
                    <a:pt x="23049" y="317809"/>
                  </a:lnTo>
                  <a:lnTo>
                    <a:pt x="5081" y="286641"/>
                  </a:lnTo>
                  <a:lnTo>
                    <a:pt x="0" y="247681"/>
                  </a:lnTo>
                  <a:lnTo>
                    <a:pt x="12343" y="216513"/>
                  </a:lnTo>
                  <a:lnTo>
                    <a:pt x="56333" y="184922"/>
                  </a:lnTo>
                  <a:lnTo>
                    <a:pt x="126012" y="176157"/>
                  </a:lnTo>
                  <a:lnTo>
                    <a:pt x="203433" y="193418"/>
                  </a:lnTo>
                  <a:lnTo>
                    <a:pt x="275843" y="232097"/>
                  </a:lnTo>
                  <a:lnTo>
                    <a:pt x="333926" y="286641"/>
                  </a:lnTo>
                  <a:lnTo>
                    <a:pt x="352618" y="333393"/>
                  </a:lnTo>
                  <a:lnTo>
                    <a:pt x="344043" y="356769"/>
                  </a:lnTo>
                  <a:lnTo>
                    <a:pt x="327498" y="372353"/>
                  </a:lnTo>
                  <a:lnTo>
                    <a:pt x="265370" y="395832"/>
                  </a:lnTo>
                  <a:close/>
                </a:path>
              </a:pathLst>
            </a:custGeom>
            <a:solidFill>
              <a:srgbClr val="A8D8C0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6" name="yield landscape band 6"/>
            <p:cNvSpPr/>
            <p:nvPr/>
          </p:nvSpPr>
          <p:spPr>
            <a:xfrm>
              <a:off x="4292020" y="1017472"/>
              <a:ext cx="1188667" cy="386672"/>
            </a:xfrm>
            <a:custGeom>
              <a:avLst/>
              <a:gdLst/>
              <a:ahLst/>
              <a:cxnLst/>
              <a:rect l="0" t="0" r="r" b="b"/>
              <a:pathLst>
                <a:path w="1188667" h="386672">
                  <a:moveTo>
                    <a:pt x="812071" y="386672"/>
                  </a:moveTo>
                  <a:lnTo>
                    <a:pt x="734650" y="386112"/>
                  </a:lnTo>
                  <a:lnTo>
                    <a:pt x="672713" y="374516"/>
                  </a:lnTo>
                  <a:lnTo>
                    <a:pt x="626261" y="354612"/>
                  </a:lnTo>
                  <a:lnTo>
                    <a:pt x="593563" y="323792"/>
                  </a:lnTo>
                  <a:lnTo>
                    <a:pt x="584304" y="284832"/>
                  </a:lnTo>
                  <a:lnTo>
                    <a:pt x="595301" y="245872"/>
                  </a:lnTo>
                  <a:lnTo>
                    <a:pt x="624006" y="199120"/>
                  </a:lnTo>
                  <a:lnTo>
                    <a:pt x="673084" y="144576"/>
                  </a:lnTo>
                  <a:lnTo>
                    <a:pt x="730056" y="97824"/>
                  </a:lnTo>
                  <a:lnTo>
                    <a:pt x="796587" y="57494"/>
                  </a:lnTo>
                  <a:lnTo>
                    <a:pt x="874007" y="24973"/>
                  </a:lnTo>
                  <a:lnTo>
                    <a:pt x="943686" y="7059"/>
                  </a:lnTo>
                  <a:lnTo>
                    <a:pt x="1013365" y="0"/>
                  </a:lnTo>
                  <a:lnTo>
                    <a:pt x="1075302" y="4842"/>
                  </a:lnTo>
                  <a:lnTo>
                    <a:pt x="1129496" y="22390"/>
                  </a:lnTo>
                  <a:lnTo>
                    <a:pt x="1167806" y="51072"/>
                  </a:lnTo>
                  <a:lnTo>
                    <a:pt x="1188667" y="90032"/>
                  </a:lnTo>
                  <a:lnTo>
                    <a:pt x="1188372" y="144576"/>
                  </a:lnTo>
                  <a:lnTo>
                    <a:pt x="1160509" y="206912"/>
                  </a:lnTo>
                  <a:lnTo>
                    <a:pt x="1114012" y="262072"/>
                  </a:lnTo>
                  <a:lnTo>
                    <a:pt x="1052075" y="309925"/>
                  </a:lnTo>
                  <a:lnTo>
                    <a:pt x="982397" y="345951"/>
                  </a:lnTo>
                  <a:lnTo>
                    <a:pt x="897234" y="373514"/>
                  </a:lnTo>
                  <a:lnTo>
                    <a:pt x="812071" y="386672"/>
                  </a:lnTo>
                  <a:close/>
                  <a:moveTo>
                    <a:pt x="184962" y="333438"/>
                  </a:moveTo>
                  <a:lnTo>
                    <a:pt x="115283" y="334653"/>
                  </a:lnTo>
                  <a:lnTo>
                    <a:pt x="45604" y="307274"/>
                  </a:lnTo>
                  <a:lnTo>
                    <a:pt x="4685" y="261456"/>
                  </a:lnTo>
                  <a:lnTo>
                    <a:pt x="0" y="238080"/>
                  </a:lnTo>
                  <a:lnTo>
                    <a:pt x="7032" y="214704"/>
                  </a:lnTo>
                  <a:lnTo>
                    <a:pt x="37585" y="191328"/>
                  </a:lnTo>
                  <a:lnTo>
                    <a:pt x="76573" y="184666"/>
                  </a:lnTo>
                  <a:lnTo>
                    <a:pt x="123590" y="191328"/>
                  </a:lnTo>
                  <a:lnTo>
                    <a:pt x="177220" y="215405"/>
                  </a:lnTo>
                  <a:lnTo>
                    <a:pt x="212974" y="245872"/>
                  </a:lnTo>
                  <a:lnTo>
                    <a:pt x="231685" y="284832"/>
                  </a:lnTo>
                  <a:lnTo>
                    <a:pt x="219294" y="316000"/>
                  </a:lnTo>
                  <a:lnTo>
                    <a:pt x="184962" y="333438"/>
                  </a:lnTo>
                  <a:close/>
                </a:path>
              </a:pathLst>
            </a:custGeom>
            <a:solidFill>
              <a:srgbClr val="C0E0A5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7" name="yield landscape band 7"/>
            <p:cNvSpPr/>
            <p:nvPr/>
          </p:nvSpPr>
          <p:spPr>
            <a:xfrm>
              <a:off x="4929473" y="1043788"/>
              <a:ext cx="512677" cy="333627"/>
            </a:xfrm>
            <a:custGeom>
              <a:avLst/>
              <a:gdLst/>
              <a:ahLst/>
              <a:cxnLst/>
              <a:rect l="0" t="0" r="r" b="b"/>
              <a:pathLst>
                <a:path w="512677" h="333627">
                  <a:moveTo>
                    <a:pt x="213328" y="329768"/>
                  </a:moveTo>
                  <a:lnTo>
                    <a:pt x="151391" y="333627"/>
                  </a:lnTo>
                  <a:lnTo>
                    <a:pt x="89455" y="326687"/>
                  </a:lnTo>
                  <a:lnTo>
                    <a:pt x="43002" y="309847"/>
                  </a:lnTo>
                  <a:lnTo>
                    <a:pt x="12034" y="283793"/>
                  </a:lnTo>
                  <a:lnTo>
                    <a:pt x="0" y="250724"/>
                  </a:lnTo>
                  <a:lnTo>
                    <a:pt x="4061" y="219556"/>
                  </a:lnTo>
                  <a:lnTo>
                    <a:pt x="22483" y="180596"/>
                  </a:lnTo>
                  <a:lnTo>
                    <a:pt x="59519" y="133844"/>
                  </a:lnTo>
                  <a:lnTo>
                    <a:pt x="112681" y="87547"/>
                  </a:lnTo>
                  <a:lnTo>
                    <a:pt x="166876" y="53444"/>
                  </a:lnTo>
                  <a:lnTo>
                    <a:pt x="228812" y="25693"/>
                  </a:lnTo>
                  <a:lnTo>
                    <a:pt x="290749" y="7931"/>
                  </a:lnTo>
                  <a:lnTo>
                    <a:pt x="352686" y="0"/>
                  </a:lnTo>
                  <a:lnTo>
                    <a:pt x="406880" y="2621"/>
                  </a:lnTo>
                  <a:lnTo>
                    <a:pt x="456826" y="16964"/>
                  </a:lnTo>
                  <a:lnTo>
                    <a:pt x="490830" y="40340"/>
                  </a:lnTo>
                  <a:lnTo>
                    <a:pt x="512326" y="79300"/>
                  </a:lnTo>
                  <a:lnTo>
                    <a:pt x="512677" y="118260"/>
                  </a:lnTo>
                  <a:lnTo>
                    <a:pt x="494795" y="165012"/>
                  </a:lnTo>
                  <a:lnTo>
                    <a:pt x="459514" y="211764"/>
                  </a:lnTo>
                  <a:lnTo>
                    <a:pt x="414622" y="250924"/>
                  </a:lnTo>
                  <a:lnTo>
                    <a:pt x="352686" y="287884"/>
                  </a:lnTo>
                  <a:lnTo>
                    <a:pt x="283007" y="314764"/>
                  </a:lnTo>
                  <a:lnTo>
                    <a:pt x="213328" y="329768"/>
                  </a:lnTo>
                  <a:close/>
                </a:path>
              </a:pathLst>
            </a:custGeom>
            <a:solidFill>
              <a:srgbClr val="E3E290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8" name="yield landscape band 8"/>
            <p:cNvSpPr/>
            <p:nvPr/>
          </p:nvSpPr>
          <p:spPr>
            <a:xfrm>
              <a:off x="4981151" y="1072071"/>
              <a:ext cx="419862" cy="273304"/>
            </a:xfrm>
            <a:custGeom>
              <a:avLst/>
              <a:gdLst/>
              <a:ahLst/>
              <a:cxnLst/>
              <a:rect l="0" t="0" r="r" b="b"/>
              <a:pathLst>
                <a:path w="419862" h="273304">
                  <a:moveTo>
                    <a:pt x="184877" y="269921"/>
                  </a:moveTo>
                  <a:lnTo>
                    <a:pt x="91972" y="273304"/>
                  </a:lnTo>
                  <a:lnTo>
                    <a:pt x="53261" y="264218"/>
                  </a:lnTo>
                  <a:lnTo>
                    <a:pt x="20580" y="245817"/>
                  </a:lnTo>
                  <a:lnTo>
                    <a:pt x="3557" y="222441"/>
                  </a:lnTo>
                  <a:lnTo>
                    <a:pt x="0" y="191273"/>
                  </a:lnTo>
                  <a:lnTo>
                    <a:pt x="9663" y="160105"/>
                  </a:lnTo>
                  <a:lnTo>
                    <a:pt x="35287" y="121145"/>
                  </a:lnTo>
                  <a:lnTo>
                    <a:pt x="115198" y="54071"/>
                  </a:lnTo>
                  <a:lnTo>
                    <a:pt x="215845" y="10862"/>
                  </a:lnTo>
                  <a:lnTo>
                    <a:pt x="316492" y="0"/>
                  </a:lnTo>
                  <a:lnTo>
                    <a:pt x="362945" y="9511"/>
                  </a:lnTo>
                  <a:lnTo>
                    <a:pt x="395242" y="27641"/>
                  </a:lnTo>
                  <a:lnTo>
                    <a:pt x="416809" y="58809"/>
                  </a:lnTo>
                  <a:lnTo>
                    <a:pt x="419862" y="89977"/>
                  </a:lnTo>
                  <a:lnTo>
                    <a:pt x="407542" y="128937"/>
                  </a:lnTo>
                  <a:lnTo>
                    <a:pt x="380216" y="167897"/>
                  </a:lnTo>
                  <a:lnTo>
                    <a:pt x="339719" y="204415"/>
                  </a:lnTo>
                  <a:lnTo>
                    <a:pt x="293266" y="233230"/>
                  </a:lnTo>
                  <a:lnTo>
                    <a:pt x="184877" y="269921"/>
                  </a:lnTo>
                  <a:close/>
                </a:path>
              </a:pathLst>
            </a:custGeom>
            <a:solidFill>
              <a:srgbClr val="F2D47B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269" name="yield landscape band 9"/>
            <p:cNvSpPr/>
            <p:nvPr/>
          </p:nvSpPr>
          <p:spPr>
            <a:xfrm>
              <a:off x="5036280" y="1104759"/>
              <a:ext cx="315399" cy="205545"/>
            </a:xfrm>
            <a:custGeom>
              <a:avLst/>
              <a:gdLst/>
              <a:ahLst/>
              <a:cxnLst/>
              <a:rect l="0" t="0" r="r" b="b"/>
              <a:pathLst>
                <a:path w="315399" h="205545">
                  <a:moveTo>
                    <a:pt x="129748" y="205520"/>
                  </a:moveTo>
                  <a:lnTo>
                    <a:pt x="60069" y="205545"/>
                  </a:lnTo>
                  <a:lnTo>
                    <a:pt x="11661" y="181961"/>
                  </a:lnTo>
                  <a:lnTo>
                    <a:pt x="0" y="158585"/>
                  </a:lnTo>
                  <a:lnTo>
                    <a:pt x="1032" y="135209"/>
                  </a:lnTo>
                  <a:lnTo>
                    <a:pt x="33876" y="80665"/>
                  </a:lnTo>
                  <a:lnTo>
                    <a:pt x="95826" y="33913"/>
                  </a:lnTo>
                  <a:lnTo>
                    <a:pt x="176200" y="3883"/>
                  </a:lnTo>
                  <a:lnTo>
                    <a:pt x="245879" y="0"/>
                  </a:lnTo>
                  <a:lnTo>
                    <a:pt x="300074" y="22543"/>
                  </a:lnTo>
                  <a:lnTo>
                    <a:pt x="313124" y="41705"/>
                  </a:lnTo>
                  <a:lnTo>
                    <a:pt x="315399" y="72873"/>
                  </a:lnTo>
                  <a:lnTo>
                    <a:pt x="284973" y="127417"/>
                  </a:lnTo>
                  <a:lnTo>
                    <a:pt x="214911" y="178350"/>
                  </a:lnTo>
                  <a:lnTo>
                    <a:pt x="129748" y="205520"/>
                  </a:lnTo>
                  <a:close/>
                </a:path>
              </a:pathLst>
            </a:custGeom>
            <a:solidFill>
              <a:srgbClr val="F5BC66"/>
            </a:solidFill>
            <a:ln w="4445" cap="rnd">
              <a:solidFill>
                <a:srgbClr val="FFFFFF">
                  <a:alpha val="70000"/>
                </a:srgbClr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271" name="BO without LLM path"/>
          <p:cNvSpPr/>
          <p:nvPr/>
        </p:nvSpPr>
        <p:spPr>
          <a:xfrm>
            <a:off x="4167144" y="1198670"/>
            <a:ext cx="401040" cy="301550"/>
          </a:xfrm>
          <a:custGeom>
            <a:avLst/>
            <a:gdLst/>
            <a:ahLst/>
            <a:cxnLst/>
            <a:rect l="0" t="0" r="r" b="b"/>
            <a:pathLst>
              <a:path w="401040" h="301550" fill="none">
                <a:moveTo>
                  <a:pt x="160416" y="301550"/>
                </a:moveTo>
                <a:lnTo>
                  <a:pt x="0" y="133243"/>
                </a:lnTo>
                <a:lnTo>
                  <a:pt x="260676" y="84154"/>
                </a:lnTo>
                <a:lnTo>
                  <a:pt x="100260" y="0"/>
                </a:lnTo>
                <a:lnTo>
                  <a:pt x="401040" y="35064"/>
                </a:lnTo>
                <a:lnTo>
                  <a:pt x="320832" y="147269"/>
                </a:lnTo>
              </a:path>
            </a:pathLst>
          </a:custGeom>
          <a:noFill/>
          <a:ln w="10160" cap="rnd">
            <a:solidFill>
              <a:srgbClr val="8496A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2" name="experiment (no LLM)"/>
          <p:cNvSpPr/>
          <p:nvPr/>
        </p:nvSpPr>
        <p:spPr>
          <a:xfrm>
            <a:off x="4147344" y="1312114"/>
            <a:ext cx="39600" cy="39600"/>
          </a:xfrm>
          <a:prstGeom prst="ellipse">
            <a:avLst/>
          </a:prstGeom>
          <a:solidFill>
            <a:srgbClr val="FFFFFF"/>
          </a:solidFill>
          <a:ln w="7620" cap="flat">
            <a:solidFill>
              <a:srgbClr val="8496A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3" name="experiment (no LLM)"/>
          <p:cNvSpPr/>
          <p:nvPr/>
        </p:nvSpPr>
        <p:spPr>
          <a:xfrm>
            <a:off x="4408020" y="1263024"/>
            <a:ext cx="39600" cy="39600"/>
          </a:xfrm>
          <a:prstGeom prst="ellipse">
            <a:avLst/>
          </a:prstGeom>
          <a:solidFill>
            <a:srgbClr val="FFFFFF"/>
          </a:solidFill>
          <a:ln w="7620" cap="flat">
            <a:solidFill>
              <a:srgbClr val="8496A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4" name="experiment (no LLM)"/>
          <p:cNvSpPr/>
          <p:nvPr/>
        </p:nvSpPr>
        <p:spPr>
          <a:xfrm>
            <a:off x="4247604" y="1178870"/>
            <a:ext cx="39600" cy="39600"/>
          </a:xfrm>
          <a:prstGeom prst="ellipse">
            <a:avLst/>
          </a:prstGeom>
          <a:solidFill>
            <a:srgbClr val="FFFFFF"/>
          </a:solidFill>
          <a:ln w="7620" cap="flat">
            <a:solidFill>
              <a:srgbClr val="8496A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5" name="experiment (no LLM)"/>
          <p:cNvSpPr/>
          <p:nvPr/>
        </p:nvSpPr>
        <p:spPr>
          <a:xfrm>
            <a:off x="4548384" y="1213934"/>
            <a:ext cx="39600" cy="39600"/>
          </a:xfrm>
          <a:prstGeom prst="ellipse">
            <a:avLst/>
          </a:prstGeom>
          <a:solidFill>
            <a:srgbClr val="FFFFFF"/>
          </a:solidFill>
          <a:ln w="7620" cap="flat">
            <a:solidFill>
              <a:srgbClr val="8496A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6" name="experiment (no LLM)"/>
          <p:cNvSpPr/>
          <p:nvPr/>
        </p:nvSpPr>
        <p:spPr>
          <a:xfrm>
            <a:off x="4468176" y="1326139"/>
            <a:ext cx="39600" cy="39600"/>
          </a:xfrm>
          <a:prstGeom prst="ellipse">
            <a:avLst/>
          </a:prstGeom>
          <a:solidFill>
            <a:srgbClr val="FFFFFF"/>
          </a:solidFill>
          <a:ln w="7620" cap="flat">
            <a:solidFill>
              <a:srgbClr val="8496A6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7" name="path halo"/>
          <p:cNvSpPr/>
          <p:nvPr/>
        </p:nvSpPr>
        <p:spPr>
          <a:xfrm>
            <a:off x="4327560" y="1191658"/>
            <a:ext cx="882288" cy="308563"/>
          </a:xfrm>
          <a:custGeom>
            <a:avLst/>
            <a:gdLst/>
            <a:ahLst/>
            <a:cxnLst/>
            <a:rect l="0" t="0" r="r" b="b"/>
            <a:pathLst>
              <a:path w="882288" h="308563" fill="none">
                <a:moveTo>
                  <a:pt x="0" y="308563"/>
                </a:moveTo>
                <a:lnTo>
                  <a:pt x="340884" y="217397"/>
                </a:lnTo>
                <a:lnTo>
                  <a:pt x="581508" y="133243"/>
                </a:lnTo>
                <a:lnTo>
                  <a:pt x="741924" y="63115"/>
                </a:lnTo>
                <a:lnTo>
                  <a:pt x="882288" y="0"/>
                </a:lnTo>
              </a:path>
            </a:pathLst>
          </a:custGeom>
          <a:noFill/>
          <a:ln w="27940" cap="rnd">
            <a:solidFill>
              <a:srgbClr val="FFFFFF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8" name="VersusBO path"/>
          <p:cNvSpPr/>
          <p:nvPr/>
        </p:nvSpPr>
        <p:spPr>
          <a:xfrm>
            <a:off x="4327560" y="1191658"/>
            <a:ext cx="882288" cy="308563"/>
          </a:xfrm>
          <a:custGeom>
            <a:avLst/>
            <a:gdLst/>
            <a:ahLst/>
            <a:cxnLst/>
            <a:rect l="0" t="0" r="r" b="b"/>
            <a:pathLst>
              <a:path w="882288" h="308563" fill="none">
                <a:moveTo>
                  <a:pt x="0" y="308563"/>
                </a:moveTo>
                <a:lnTo>
                  <a:pt x="340884" y="217397"/>
                </a:lnTo>
                <a:lnTo>
                  <a:pt x="581508" y="133243"/>
                </a:lnTo>
                <a:lnTo>
                  <a:pt x="741924" y="63115"/>
                </a:lnTo>
                <a:lnTo>
                  <a:pt x="882288" y="0"/>
                </a:lnTo>
              </a:path>
            </a:pathLst>
          </a:custGeom>
          <a:noFill/>
          <a:ln w="12700" cap="rnd">
            <a:solidFill>
              <a:srgbClr val="EE7A2B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79" name="experiment (comparisons)"/>
          <p:cNvSpPr/>
          <p:nvPr/>
        </p:nvSpPr>
        <p:spPr>
          <a:xfrm>
            <a:off x="4646844" y="1387454"/>
            <a:ext cx="43200" cy="43200"/>
          </a:xfrm>
          <a:prstGeom prst="ellipse">
            <a:avLst/>
          </a:prstGeom>
          <a:solidFill>
            <a:srgbClr val="FFFFFF"/>
          </a:solidFill>
          <a:ln w="8890" cap="flat">
            <a:solidFill>
              <a:srgbClr val="EE7A2B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0" name="experiment (comparisons)"/>
          <p:cNvSpPr/>
          <p:nvPr/>
        </p:nvSpPr>
        <p:spPr>
          <a:xfrm>
            <a:off x="4887468" y="1303301"/>
            <a:ext cx="43200" cy="43200"/>
          </a:xfrm>
          <a:prstGeom prst="ellipse">
            <a:avLst/>
          </a:prstGeom>
          <a:solidFill>
            <a:srgbClr val="FFFFFF"/>
          </a:solidFill>
          <a:ln w="8890" cap="flat">
            <a:solidFill>
              <a:srgbClr val="EE7A2B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1" name="experiment (comparisons)"/>
          <p:cNvSpPr/>
          <p:nvPr/>
        </p:nvSpPr>
        <p:spPr>
          <a:xfrm>
            <a:off x="5047884" y="1233173"/>
            <a:ext cx="43200" cy="43200"/>
          </a:xfrm>
          <a:prstGeom prst="ellipse">
            <a:avLst/>
          </a:prstGeom>
          <a:solidFill>
            <a:srgbClr val="FFFFFF"/>
          </a:solidFill>
          <a:ln w="8890" cap="flat">
            <a:solidFill>
              <a:srgbClr val="EE7A2B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2" name="initial experiments"/>
          <p:cNvSpPr/>
          <p:nvPr/>
        </p:nvSpPr>
        <p:spPr>
          <a:xfrm>
            <a:off x="4304160" y="1476821"/>
            <a:ext cx="46800" cy="46800"/>
          </a:xfrm>
          <a:prstGeom prst="ellipse">
            <a:avLst/>
          </a:prstGeom>
          <a:solidFill>
            <a:srgbClr val="5B6B7A"/>
          </a:solidFill>
          <a:ln w="6350" cap="flat">
            <a:solidFill>
              <a:srgbClr val="FFFFF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3" name="optimum"/>
          <p:cNvSpPr/>
          <p:nvPr/>
        </p:nvSpPr>
        <p:spPr>
          <a:xfrm>
            <a:off x="5155067" y="1134058"/>
            <a:ext cx="109562" cy="104199"/>
          </a:xfrm>
          <a:custGeom>
            <a:avLst/>
            <a:gdLst/>
            <a:ahLst/>
            <a:cxnLst/>
            <a:rect l="0" t="0" r="r" b="b"/>
            <a:pathLst>
              <a:path w="109562" h="104199">
                <a:moveTo>
                  <a:pt x="54781" y="0"/>
                </a:moveTo>
                <a:lnTo>
                  <a:pt x="70016" y="36630"/>
                </a:lnTo>
                <a:lnTo>
                  <a:pt x="109562" y="39801"/>
                </a:lnTo>
                <a:lnTo>
                  <a:pt x="79432" y="65610"/>
                </a:lnTo>
                <a:lnTo>
                  <a:pt x="88637" y="104199"/>
                </a:lnTo>
                <a:lnTo>
                  <a:pt x="54781" y="83520"/>
                </a:lnTo>
                <a:lnTo>
                  <a:pt x="20924" y="104199"/>
                </a:lnTo>
                <a:lnTo>
                  <a:pt x="30129" y="65610"/>
                </a:lnTo>
                <a:lnTo>
                  <a:pt x="0" y="39801"/>
                </a:lnTo>
                <a:lnTo>
                  <a:pt x="39545" y="36630"/>
                </a:lnTo>
                <a:close/>
              </a:path>
            </a:pathLst>
          </a:custGeom>
          <a:solidFill>
            <a:srgbClr val="FFD54A"/>
          </a:solidFill>
          <a:ln w="7620" cap="rnd">
            <a:solidFill>
              <a:srgbClr val="132432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4" name="optimum label"/>
          <p:cNvSpPr txBox="1"/>
          <p:nvPr/>
        </p:nvSpPr>
        <p:spPr>
          <a:xfrm>
            <a:off x="5285448" y="1133233"/>
            <a:ext cx="329149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high yield</a:t>
            </a:r>
            <a:endParaRPr lang="en-US" sz="600" dirty="0"/>
          </a:p>
        </p:txBody>
      </p:sp>
      <p:sp>
        <p:nvSpPr>
          <p:cNvPr id="285" name="legend line"/>
          <p:cNvSpPr/>
          <p:nvPr/>
        </p:nvSpPr>
        <p:spPr>
          <a:xfrm>
            <a:off x="3776400" y="976320"/>
            <a:ext cx="108000" cy="36"/>
          </a:xfrm>
          <a:custGeom>
            <a:avLst/>
            <a:gdLst/>
            <a:ahLst/>
            <a:cxnLst/>
            <a:rect l="0" t="0" r="r" b="b"/>
            <a:pathLst>
              <a:path w="108000" h="36" fill="none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12700" cap="rnd">
            <a:solidFill>
              <a:srgbClr val="EE7A2B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6" name="label BO with comparisons"/>
          <p:cNvSpPr txBox="1"/>
          <p:nvPr/>
        </p:nvSpPr>
        <p:spPr>
          <a:xfrm>
            <a:off x="3913200" y="928695"/>
            <a:ext cx="727119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BO with comparisons</a:t>
            </a:r>
            <a:endParaRPr lang="en-US" sz="600" dirty="0"/>
          </a:p>
        </p:txBody>
      </p:sp>
      <p:sp>
        <p:nvSpPr>
          <p:cNvPr id="287" name="legend line"/>
          <p:cNvSpPr/>
          <p:nvPr/>
        </p:nvSpPr>
        <p:spPr>
          <a:xfrm>
            <a:off x="3776400" y="1066320"/>
            <a:ext cx="108000" cy="36"/>
          </a:xfrm>
          <a:custGeom>
            <a:avLst/>
            <a:gdLst/>
            <a:ahLst/>
            <a:cxnLst/>
            <a:rect l="0" t="0" r="r" b="b"/>
            <a:pathLst>
              <a:path w="108000" h="36" fill="none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10160" cap="rnd">
            <a:solidFill>
              <a:srgbClr val="8496A6"/>
            </a:solidFill>
            <a:round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sp>
        <p:nvSpPr>
          <p:cNvPr id="288" name="label BO without LLM"/>
          <p:cNvSpPr txBox="1"/>
          <p:nvPr/>
        </p:nvSpPr>
        <p:spPr>
          <a:xfrm>
            <a:off x="3913200" y="1018695"/>
            <a:ext cx="549307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0" dirty="0">
                <a:solidFill>
                  <a:srgbClr val="10283B"/>
                </a:solidFill>
                <a:latin typeface="Arial"/>
                <a:cs typeface="Arial"/>
              </a:rPr>
              <a:t>BO without LLM</a:t>
            </a:r>
            <a:endParaRPr lang="en-US" sz="600" dirty="0"/>
          </a:p>
        </p:txBody>
      </p:sp>
      <p:sp>
        <p:nvSpPr>
          <p:cNvPr id="289" name="label reagent space"/>
          <p:cNvSpPr txBox="1"/>
          <p:nvPr/>
        </p:nvSpPr>
        <p:spPr>
          <a:xfrm>
            <a:off x="3776400" y="1489575"/>
            <a:ext cx="490145" cy="9525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b="0" i="1" dirty="0">
                <a:solidFill>
                  <a:srgbClr val="6B7C8C"/>
                </a:solidFill>
                <a:latin typeface="Arial"/>
                <a:cs typeface="Arial"/>
              </a:rPr>
              <a:t>reagent space</a:t>
            </a:r>
            <a:endParaRPr lang="en-US" sz="600" dirty="0"/>
          </a:p>
        </p:txBody>
      </p:sp>
      <p:sp>
        <p:nvSpPr>
          <p:cNvPr id="290" name="card"/>
          <p:cNvSpPr/>
          <p:nvPr/>
        </p:nvSpPr>
        <p:spPr>
          <a:xfrm>
            <a:off x="1969200" y="1641600"/>
            <a:ext cx="538800" cy="367200"/>
          </a:xfrm>
          <a:prstGeom prst="roundRect">
            <a:avLst>
              <a:gd name="adj" fmla="val 9803"/>
            </a:avLst>
          </a:prstGeom>
          <a:solidFill>
            <a:srgbClr val="FBF0F3"/>
          </a:solidFill>
          <a:ln w="6350" cap="flat">
            <a:solidFill>
              <a:srgbClr val="EFD3DC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291" name="scales native icon"/>
          <p:cNvGrpSpPr/>
          <p:nvPr/>
        </p:nvGrpSpPr>
        <p:grpSpPr>
          <a:xfrm>
            <a:off x="2140341" y="1670400"/>
            <a:ext cx="102918" cy="97200"/>
            <a:chOff x="3625596" y="3136900"/>
            <a:chExt cx="155448" cy="146812"/>
          </a:xfrm>
        </p:grpSpPr>
        <p:sp>
          <p:nvSpPr>
            <p:cNvPr id="292" name="162 path"/>
            <p:cNvSpPr/>
            <p:nvPr/>
          </p:nvSpPr>
          <p:spPr>
            <a:xfrm>
              <a:off x="3703320" y="3136900"/>
              <a:ext cx="63" cy="138175"/>
            </a:xfrm>
            <a:custGeom>
              <a:avLst/>
              <a:gdLst/>
              <a:ahLst/>
              <a:cxnLst/>
              <a:rect l="l" t="t" r="r" b="b"/>
              <a:pathLst>
                <a:path w="10" h="21759" fill="none" stroke="1">
                  <a:moveTo>
                    <a:pt x="0" y="0"/>
                  </a:moveTo>
                  <a:lnTo>
                    <a:pt x="0" y="21760"/>
                  </a:lnTo>
                </a:path>
              </a:pathLst>
            </a:custGeom>
            <a:noFill/>
            <a:ln w="3670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163 path"/>
            <p:cNvSpPr/>
            <p:nvPr/>
          </p:nvSpPr>
          <p:spPr>
            <a:xfrm>
              <a:off x="3642867" y="3171444"/>
              <a:ext cx="120904" cy="63"/>
            </a:xfrm>
            <a:custGeom>
              <a:avLst/>
              <a:gdLst/>
              <a:ahLst/>
              <a:cxnLst/>
              <a:rect l="l" t="t" r="r" b="b"/>
              <a:pathLst>
                <a:path w="19040" h="10" fill="none" stroke="1">
                  <a:moveTo>
                    <a:pt x="0" y="0"/>
                  </a:moveTo>
                  <a:lnTo>
                    <a:pt x="19040" y="0"/>
                  </a:lnTo>
                </a:path>
              </a:pathLst>
            </a:custGeom>
            <a:noFill/>
            <a:ln w="3670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164 path"/>
            <p:cNvSpPr/>
            <p:nvPr/>
          </p:nvSpPr>
          <p:spPr>
            <a:xfrm>
              <a:off x="3629914" y="3171444"/>
              <a:ext cx="21589" cy="60451"/>
            </a:xfrm>
            <a:custGeom>
              <a:avLst/>
              <a:gdLst/>
              <a:ahLst/>
              <a:cxnLst/>
              <a:rect l="l" t="t" r="r" b="b"/>
              <a:pathLst>
                <a:path w="3399" h="9519" fill="none" stroke="1">
                  <a:moveTo>
                    <a:pt x="3400" y="0"/>
                  </a:moveTo>
                  <a:lnTo>
                    <a:pt x="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165 path"/>
            <p:cNvSpPr/>
            <p:nvPr/>
          </p:nvSpPr>
          <p:spPr>
            <a:xfrm>
              <a:off x="3651504" y="3171444"/>
              <a:ext cx="21590" cy="60451"/>
            </a:xfrm>
            <a:custGeom>
              <a:avLst/>
              <a:gdLst/>
              <a:ahLst/>
              <a:cxnLst/>
              <a:rect l="l" t="t" r="r" b="b"/>
              <a:pathLst>
                <a:path w="3400" h="9519" fill="none" stroke="1">
                  <a:moveTo>
                    <a:pt x="0" y="0"/>
                  </a:moveTo>
                  <a:lnTo>
                    <a:pt x="340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166 path"/>
            <p:cNvSpPr/>
            <p:nvPr/>
          </p:nvSpPr>
          <p:spPr>
            <a:xfrm>
              <a:off x="3625596" y="3231896"/>
              <a:ext cx="51815" cy="30226"/>
            </a:xfrm>
            <a:custGeom>
              <a:avLst/>
              <a:gdLst/>
              <a:ahLst/>
              <a:cxnLst/>
              <a:rect l="l" t="t" r="r" b="b"/>
              <a:pathLst>
                <a:path w="8159" h="4760" fill="none" stroke="1">
                  <a:moveTo>
                    <a:pt x="0" y="0"/>
                  </a:moveTo>
                  <a:quadBezTo>
                    <a:pt x="4080" y="4760"/>
                    <a:pt x="8160" y="0"/>
                  </a:quadBezTo>
                  <a:close/>
                </a:path>
              </a:pathLst>
            </a:custGeom>
            <a:noFill/>
            <a:ln w="3022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167 path"/>
            <p:cNvSpPr/>
            <p:nvPr/>
          </p:nvSpPr>
          <p:spPr>
            <a:xfrm>
              <a:off x="3733546" y="3171444"/>
              <a:ext cx="21589" cy="60451"/>
            </a:xfrm>
            <a:custGeom>
              <a:avLst/>
              <a:gdLst/>
              <a:ahLst/>
              <a:cxnLst/>
              <a:rect l="l" t="t" r="r" b="b"/>
              <a:pathLst>
                <a:path w="3399" h="9519" fill="none" stroke="1">
                  <a:moveTo>
                    <a:pt x="3400" y="0"/>
                  </a:moveTo>
                  <a:lnTo>
                    <a:pt x="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168 path"/>
            <p:cNvSpPr/>
            <p:nvPr/>
          </p:nvSpPr>
          <p:spPr>
            <a:xfrm>
              <a:off x="3755136" y="3171444"/>
              <a:ext cx="21589" cy="60451"/>
            </a:xfrm>
            <a:custGeom>
              <a:avLst/>
              <a:gdLst/>
              <a:ahLst/>
              <a:cxnLst/>
              <a:rect l="l" t="t" r="r" b="b"/>
              <a:pathLst>
                <a:path w="3399" h="9519" fill="none" stroke="1">
                  <a:moveTo>
                    <a:pt x="0" y="0"/>
                  </a:moveTo>
                  <a:lnTo>
                    <a:pt x="340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169 path"/>
            <p:cNvSpPr/>
            <p:nvPr/>
          </p:nvSpPr>
          <p:spPr>
            <a:xfrm>
              <a:off x="3729228" y="3231896"/>
              <a:ext cx="51816" cy="30226"/>
            </a:xfrm>
            <a:custGeom>
              <a:avLst/>
              <a:gdLst/>
              <a:ahLst/>
              <a:cxnLst/>
              <a:rect l="l" t="t" r="r" b="b"/>
              <a:pathLst>
                <a:path w="8160" h="4760" fill="none" stroke="1">
                  <a:moveTo>
                    <a:pt x="0" y="0"/>
                  </a:moveTo>
                  <a:quadBezTo>
                    <a:pt x="4080" y="4760"/>
                    <a:pt x="8160" y="0"/>
                  </a:quadBezTo>
                  <a:close/>
                </a:path>
              </a:pathLst>
            </a:custGeom>
            <a:noFill/>
            <a:ln w="3022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170 circle"/>
            <p:cNvSpPr/>
            <p:nvPr/>
          </p:nvSpPr>
          <p:spPr>
            <a:xfrm>
              <a:off x="3668776" y="3266440"/>
              <a:ext cx="69088" cy="17272"/>
            </a:xfrm>
            <a:prstGeom prst="ellipse">
              <a:avLst/>
            </a:prstGeom>
            <a:solidFill>
              <a:srgbClr val="F4F7FA"/>
            </a:solidFill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3" name="cross badge"/>
          <p:cNvGrpSpPr/>
          <p:nvPr/>
        </p:nvGrpSpPr>
        <p:grpSpPr>
          <a:xfrm>
            <a:off x="2265600" y="1684800"/>
            <a:ext cx="68400" cy="68400"/>
            <a:chOff x="2265600" y="1684800"/>
            <a:chExt cx="68400" cy="68400"/>
          </a:xfrm>
        </p:grpSpPr>
        <p:sp>
          <p:nvSpPr>
            <p:cNvPr id="301" name="cross badge disc"/>
            <p:cNvSpPr/>
            <p:nvPr/>
          </p:nvSpPr>
          <p:spPr>
            <a:xfrm>
              <a:off x="2265600" y="1684800"/>
              <a:ext cx="68400" cy="68400"/>
            </a:xfrm>
            <a:prstGeom prst="ellipse">
              <a:avLst/>
            </a:prstGeom>
            <a:solidFill>
              <a:srgbClr val="D9363E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02" name="cross mark"/>
            <p:cNvSpPr/>
            <p:nvPr/>
          </p:nvSpPr>
          <p:spPr>
            <a:xfrm>
              <a:off x="2285436" y="1704636"/>
              <a:ext cx="28728" cy="28728"/>
            </a:xfrm>
            <a:custGeom>
              <a:avLst/>
              <a:gdLst/>
              <a:ahLst/>
              <a:cxnLst/>
              <a:rect l="0" t="0" r="r" b="b"/>
              <a:pathLst>
                <a:path w="28728" h="28728" fill="none">
                  <a:moveTo>
                    <a:pt x="0" y="0"/>
                  </a:moveTo>
                  <a:lnTo>
                    <a:pt x="28728" y="28728"/>
                  </a:lnTo>
                  <a:moveTo>
                    <a:pt x="0" y="28728"/>
                  </a:moveTo>
                  <a:lnTo>
                    <a:pt x="28728" y="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304" name="card text"/>
          <p:cNvSpPr txBox="1"/>
          <p:nvPr/>
        </p:nvSpPr>
        <p:spPr>
          <a:xfrm>
            <a:off x="2099647" y="1796400"/>
            <a:ext cx="277906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Hard to</a:t>
            </a:r>
            <a:endParaRPr lang="en-US" sz="650" dirty="0"/>
          </a:p>
        </p:txBody>
      </p:sp>
      <p:sp>
        <p:nvSpPr>
          <p:cNvPr id="305" name="card text"/>
          <p:cNvSpPr txBox="1"/>
          <p:nvPr/>
        </p:nvSpPr>
        <p:spPr>
          <a:xfrm>
            <a:off x="2078989" y="1891080"/>
            <a:ext cx="319221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calibrate</a:t>
            </a:r>
            <a:endParaRPr lang="en-US" sz="650" dirty="0"/>
          </a:p>
        </p:txBody>
      </p:sp>
      <p:sp>
        <p:nvSpPr>
          <p:cNvPr id="306" name="card"/>
          <p:cNvSpPr/>
          <p:nvPr/>
        </p:nvSpPr>
        <p:spPr>
          <a:xfrm>
            <a:off x="2536800" y="1641600"/>
            <a:ext cx="538800" cy="367200"/>
          </a:xfrm>
          <a:prstGeom prst="roundRect">
            <a:avLst>
              <a:gd name="adj" fmla="val 9803"/>
            </a:avLst>
          </a:prstGeom>
          <a:solidFill>
            <a:srgbClr val="FBF0F3"/>
          </a:solidFill>
          <a:ln w="6350" cap="flat">
            <a:solidFill>
              <a:srgbClr val="EFD3DC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307" name="document native icon"/>
          <p:cNvGrpSpPr/>
          <p:nvPr/>
        </p:nvGrpSpPr>
        <p:grpSpPr>
          <a:xfrm>
            <a:off x="2721601" y="1670400"/>
            <a:ext cx="75599" cy="97200"/>
            <a:chOff x="4540250" y="3136900"/>
            <a:chExt cx="120903" cy="155448"/>
          </a:xfrm>
        </p:grpSpPr>
        <p:sp>
          <p:nvSpPr>
            <p:cNvPr id="308" name="174 path"/>
            <p:cNvSpPr/>
            <p:nvPr/>
          </p:nvSpPr>
          <p:spPr>
            <a:xfrm>
              <a:off x="4540250" y="3136900"/>
              <a:ext cx="120903" cy="155448"/>
            </a:xfrm>
            <a:custGeom>
              <a:avLst/>
              <a:gdLst/>
              <a:ahLst/>
              <a:cxnLst/>
              <a:rect l="l" t="t" r="r" b="b"/>
              <a:pathLst>
                <a:path w="19039" h="24480" fill="norm" stroke="1">
                  <a:moveTo>
                    <a:pt x="0" y="0"/>
                  </a:moveTo>
                  <a:lnTo>
                    <a:pt x="14280" y="0"/>
                  </a:lnTo>
                  <a:lnTo>
                    <a:pt x="19040" y="4760"/>
                  </a:lnTo>
                  <a:lnTo>
                    <a:pt x="19040" y="24480"/>
                  </a:lnTo>
                  <a:lnTo>
                    <a:pt x="0" y="24480"/>
                  </a:lnTo>
                  <a:close/>
                </a:path>
              </a:pathLst>
            </a:custGeom>
            <a:solidFill>
              <a:srgbClr val="F9FBFD"/>
            </a:solidFill>
            <a:ln w="3670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175 path"/>
            <p:cNvSpPr/>
            <p:nvPr/>
          </p:nvSpPr>
          <p:spPr>
            <a:xfrm>
              <a:off x="4630928" y="3136900"/>
              <a:ext cx="63" cy="30225"/>
            </a:xfrm>
            <a:custGeom>
              <a:avLst/>
              <a:gdLst/>
              <a:ahLst/>
              <a:cxnLst/>
              <a:rect l="l" t="t" r="r" b="b"/>
              <a:pathLst>
                <a:path w="10" h="4759" fill="none" stroke="1">
                  <a:moveTo>
                    <a:pt x="0" y="0"/>
                  </a:moveTo>
                  <a:lnTo>
                    <a:pt x="0" y="476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176 path"/>
            <p:cNvSpPr/>
            <p:nvPr/>
          </p:nvSpPr>
          <p:spPr>
            <a:xfrm>
              <a:off x="4630928" y="3167126"/>
              <a:ext cx="30225" cy="63"/>
            </a:xfrm>
            <a:custGeom>
              <a:avLst/>
              <a:gdLst/>
              <a:ahLst/>
              <a:cxnLst/>
              <a:rect l="l" t="t" r="r" b="b"/>
              <a:pathLst>
                <a:path w="4759" h="10" fill="none" stroke="1">
                  <a:moveTo>
                    <a:pt x="0" y="0"/>
                  </a:moveTo>
                  <a:lnTo>
                    <a:pt x="4760" y="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177 path"/>
            <p:cNvSpPr/>
            <p:nvPr/>
          </p:nvSpPr>
          <p:spPr>
            <a:xfrm>
              <a:off x="4566158" y="3188716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178 path"/>
            <p:cNvSpPr/>
            <p:nvPr/>
          </p:nvSpPr>
          <p:spPr>
            <a:xfrm>
              <a:off x="4566158" y="3214624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179 path"/>
            <p:cNvSpPr/>
            <p:nvPr/>
          </p:nvSpPr>
          <p:spPr>
            <a:xfrm>
              <a:off x="4566158" y="3240532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180 path"/>
            <p:cNvSpPr/>
            <p:nvPr/>
          </p:nvSpPr>
          <p:spPr>
            <a:xfrm>
              <a:off x="4566158" y="3262122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7" name="cross badge"/>
          <p:cNvGrpSpPr/>
          <p:nvPr/>
        </p:nvGrpSpPr>
        <p:grpSpPr>
          <a:xfrm>
            <a:off x="2833200" y="1684800"/>
            <a:ext cx="68400" cy="68400"/>
            <a:chOff x="2833200" y="1684800"/>
            <a:chExt cx="68400" cy="68400"/>
          </a:xfrm>
        </p:grpSpPr>
        <p:sp>
          <p:nvSpPr>
            <p:cNvPr id="315" name="cross badge disc"/>
            <p:cNvSpPr/>
            <p:nvPr/>
          </p:nvSpPr>
          <p:spPr>
            <a:xfrm>
              <a:off x="2833200" y="1684800"/>
              <a:ext cx="68400" cy="68400"/>
            </a:xfrm>
            <a:prstGeom prst="ellipse">
              <a:avLst/>
            </a:prstGeom>
            <a:solidFill>
              <a:srgbClr val="D9363E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16" name="cross mark"/>
            <p:cNvSpPr/>
            <p:nvPr/>
          </p:nvSpPr>
          <p:spPr>
            <a:xfrm>
              <a:off x="2853036" y="1704636"/>
              <a:ext cx="28728" cy="28728"/>
            </a:xfrm>
            <a:custGeom>
              <a:avLst/>
              <a:gdLst/>
              <a:ahLst/>
              <a:cxnLst/>
              <a:rect l="0" t="0" r="r" b="b"/>
              <a:pathLst>
                <a:path w="28728" h="28728" fill="none">
                  <a:moveTo>
                    <a:pt x="0" y="0"/>
                  </a:moveTo>
                  <a:lnTo>
                    <a:pt x="28728" y="28728"/>
                  </a:lnTo>
                  <a:moveTo>
                    <a:pt x="0" y="28728"/>
                  </a:moveTo>
                  <a:lnTo>
                    <a:pt x="28728" y="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318" name="card text"/>
          <p:cNvSpPr txBox="1"/>
          <p:nvPr/>
        </p:nvSpPr>
        <p:spPr>
          <a:xfrm>
            <a:off x="2589231" y="1796400"/>
            <a:ext cx="433938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Sensitive to</a:t>
            </a:r>
            <a:endParaRPr lang="en-US" sz="650" dirty="0"/>
          </a:p>
        </p:txBody>
      </p:sp>
      <p:sp>
        <p:nvSpPr>
          <p:cNvPr id="319" name="card text"/>
          <p:cNvSpPr txBox="1"/>
          <p:nvPr/>
        </p:nvSpPr>
        <p:spPr>
          <a:xfrm>
            <a:off x="2619059" y="1891080"/>
            <a:ext cx="374282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prompting</a:t>
            </a:r>
            <a:endParaRPr lang="en-US" sz="650" dirty="0"/>
          </a:p>
        </p:txBody>
      </p:sp>
      <p:sp>
        <p:nvSpPr>
          <p:cNvPr id="320" name="card"/>
          <p:cNvSpPr/>
          <p:nvPr/>
        </p:nvSpPr>
        <p:spPr>
          <a:xfrm>
            <a:off x="3104400" y="1641600"/>
            <a:ext cx="538800" cy="367200"/>
          </a:xfrm>
          <a:prstGeom prst="roundRect">
            <a:avLst>
              <a:gd name="adj" fmla="val 9803"/>
            </a:avLst>
          </a:prstGeom>
          <a:solidFill>
            <a:srgbClr val="FBF0F3"/>
          </a:solidFill>
          <a:ln w="6350" cap="flat">
            <a:solidFill>
              <a:srgbClr val="EFD3DC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321" name="coins native icon"/>
          <p:cNvGrpSpPr/>
          <p:nvPr/>
        </p:nvGrpSpPr>
        <p:grpSpPr>
          <a:xfrm>
            <a:off x="3282818" y="1670400"/>
            <a:ext cx="88364" cy="97200"/>
            <a:chOff x="5492750" y="3141218"/>
            <a:chExt cx="129540" cy="142494"/>
          </a:xfrm>
        </p:grpSpPr>
        <p:sp>
          <p:nvSpPr>
            <p:cNvPr id="322" name="184 box"/>
            <p:cNvSpPr/>
            <p:nvPr/>
          </p:nvSpPr>
          <p:spPr>
            <a:xfrm>
              <a:off x="5535930" y="3205988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185 circle"/>
            <p:cNvSpPr/>
            <p:nvPr/>
          </p:nvSpPr>
          <p:spPr>
            <a:xfrm>
              <a:off x="5535930" y="3193034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186 box"/>
            <p:cNvSpPr/>
            <p:nvPr/>
          </p:nvSpPr>
          <p:spPr>
            <a:xfrm>
              <a:off x="5535930" y="3180080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187 circle"/>
            <p:cNvSpPr/>
            <p:nvPr/>
          </p:nvSpPr>
          <p:spPr>
            <a:xfrm>
              <a:off x="5535930" y="3167126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188 box"/>
            <p:cNvSpPr/>
            <p:nvPr/>
          </p:nvSpPr>
          <p:spPr>
            <a:xfrm>
              <a:off x="5535930" y="3154172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189 circle"/>
            <p:cNvSpPr/>
            <p:nvPr/>
          </p:nvSpPr>
          <p:spPr>
            <a:xfrm>
              <a:off x="5535930" y="3141218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190 box"/>
            <p:cNvSpPr/>
            <p:nvPr/>
          </p:nvSpPr>
          <p:spPr>
            <a:xfrm>
              <a:off x="5492750" y="3257804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191 circle"/>
            <p:cNvSpPr/>
            <p:nvPr/>
          </p:nvSpPr>
          <p:spPr>
            <a:xfrm>
              <a:off x="5492750" y="3244850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192 box"/>
            <p:cNvSpPr/>
            <p:nvPr/>
          </p:nvSpPr>
          <p:spPr>
            <a:xfrm>
              <a:off x="5492750" y="3231896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193 circle"/>
            <p:cNvSpPr/>
            <p:nvPr/>
          </p:nvSpPr>
          <p:spPr>
            <a:xfrm>
              <a:off x="5492750" y="3218942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194 box"/>
            <p:cNvSpPr/>
            <p:nvPr/>
          </p:nvSpPr>
          <p:spPr>
            <a:xfrm>
              <a:off x="5492750" y="3205988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195 circle"/>
            <p:cNvSpPr/>
            <p:nvPr/>
          </p:nvSpPr>
          <p:spPr>
            <a:xfrm>
              <a:off x="5492750" y="3193034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6" name="cross badge"/>
          <p:cNvGrpSpPr/>
          <p:nvPr/>
        </p:nvGrpSpPr>
        <p:grpSpPr>
          <a:xfrm>
            <a:off x="3400800" y="1684800"/>
            <a:ext cx="68400" cy="68400"/>
            <a:chOff x="3400800" y="1684800"/>
            <a:chExt cx="68400" cy="68400"/>
          </a:xfrm>
        </p:grpSpPr>
        <p:sp>
          <p:nvSpPr>
            <p:cNvPr id="334" name="cross badge disc"/>
            <p:cNvSpPr/>
            <p:nvPr/>
          </p:nvSpPr>
          <p:spPr>
            <a:xfrm>
              <a:off x="3400800" y="1684800"/>
              <a:ext cx="68400" cy="68400"/>
            </a:xfrm>
            <a:prstGeom prst="ellipse">
              <a:avLst/>
            </a:prstGeom>
            <a:solidFill>
              <a:srgbClr val="D9363E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35" name="cross mark"/>
            <p:cNvSpPr/>
            <p:nvPr/>
          </p:nvSpPr>
          <p:spPr>
            <a:xfrm>
              <a:off x="3420636" y="1704636"/>
              <a:ext cx="28728" cy="28728"/>
            </a:xfrm>
            <a:custGeom>
              <a:avLst/>
              <a:gdLst/>
              <a:ahLst/>
              <a:cxnLst/>
              <a:rect l="0" t="0" r="r" b="b"/>
              <a:pathLst>
                <a:path w="28728" h="28728" fill="none">
                  <a:moveTo>
                    <a:pt x="0" y="0"/>
                  </a:moveTo>
                  <a:lnTo>
                    <a:pt x="28728" y="28728"/>
                  </a:lnTo>
                  <a:moveTo>
                    <a:pt x="0" y="28728"/>
                  </a:moveTo>
                  <a:lnTo>
                    <a:pt x="28728" y="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337" name="card text"/>
          <p:cNvSpPr txBox="1"/>
          <p:nvPr/>
        </p:nvSpPr>
        <p:spPr>
          <a:xfrm>
            <a:off x="3209634" y="1796400"/>
            <a:ext cx="328331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Costly to</a:t>
            </a:r>
            <a:endParaRPr lang="en-US" sz="650" dirty="0"/>
          </a:p>
        </p:txBody>
      </p:sp>
      <p:sp>
        <p:nvSpPr>
          <p:cNvPr id="338" name="card text"/>
          <p:cNvSpPr txBox="1"/>
          <p:nvPr/>
        </p:nvSpPr>
        <p:spPr>
          <a:xfrm>
            <a:off x="3266952" y="1891080"/>
            <a:ext cx="213696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query</a:t>
            </a:r>
            <a:endParaRPr lang="en-US" sz="650" dirty="0"/>
          </a:p>
        </p:txBody>
      </p:sp>
      <p:sp>
        <p:nvSpPr>
          <p:cNvPr id="339" name="card"/>
          <p:cNvSpPr/>
          <p:nvPr/>
        </p:nvSpPr>
        <p:spPr>
          <a:xfrm>
            <a:off x="3718800" y="1641600"/>
            <a:ext cx="652800" cy="367200"/>
          </a:xfrm>
          <a:prstGeom prst="roundRect">
            <a:avLst>
              <a:gd name="adj" fmla="val 9803"/>
            </a:avLst>
          </a:prstGeom>
          <a:solidFill>
            <a:srgbClr val="EDF8EF"/>
          </a:solidFill>
          <a:ln w="6350" cap="flat">
            <a:solidFill>
              <a:srgbClr val="B5DFB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340" name="scales native icon"/>
          <p:cNvGrpSpPr/>
          <p:nvPr/>
        </p:nvGrpSpPr>
        <p:grpSpPr>
          <a:xfrm>
            <a:off x="3946941" y="1670400"/>
            <a:ext cx="102918" cy="97200"/>
            <a:chOff x="3625596" y="3136900"/>
            <a:chExt cx="155448" cy="146812"/>
          </a:xfrm>
        </p:grpSpPr>
        <p:sp>
          <p:nvSpPr>
            <p:cNvPr id="341" name="162 path"/>
            <p:cNvSpPr/>
            <p:nvPr/>
          </p:nvSpPr>
          <p:spPr>
            <a:xfrm>
              <a:off x="3703320" y="3136900"/>
              <a:ext cx="63" cy="138175"/>
            </a:xfrm>
            <a:custGeom>
              <a:avLst/>
              <a:gdLst/>
              <a:ahLst/>
              <a:cxnLst/>
              <a:rect l="l" t="t" r="r" b="b"/>
              <a:pathLst>
                <a:path w="10" h="21759" fill="none" stroke="1">
                  <a:moveTo>
                    <a:pt x="0" y="0"/>
                  </a:moveTo>
                  <a:lnTo>
                    <a:pt x="0" y="21760"/>
                  </a:lnTo>
                </a:path>
              </a:pathLst>
            </a:custGeom>
            <a:noFill/>
            <a:ln w="3670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163 path"/>
            <p:cNvSpPr/>
            <p:nvPr/>
          </p:nvSpPr>
          <p:spPr>
            <a:xfrm>
              <a:off x="3642867" y="3171444"/>
              <a:ext cx="120904" cy="63"/>
            </a:xfrm>
            <a:custGeom>
              <a:avLst/>
              <a:gdLst/>
              <a:ahLst/>
              <a:cxnLst/>
              <a:rect l="l" t="t" r="r" b="b"/>
              <a:pathLst>
                <a:path w="19040" h="10" fill="none" stroke="1">
                  <a:moveTo>
                    <a:pt x="0" y="0"/>
                  </a:moveTo>
                  <a:lnTo>
                    <a:pt x="19040" y="0"/>
                  </a:lnTo>
                </a:path>
              </a:pathLst>
            </a:custGeom>
            <a:noFill/>
            <a:ln w="3670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164 path"/>
            <p:cNvSpPr/>
            <p:nvPr/>
          </p:nvSpPr>
          <p:spPr>
            <a:xfrm>
              <a:off x="3629914" y="3171444"/>
              <a:ext cx="21589" cy="60451"/>
            </a:xfrm>
            <a:custGeom>
              <a:avLst/>
              <a:gdLst/>
              <a:ahLst/>
              <a:cxnLst/>
              <a:rect l="l" t="t" r="r" b="b"/>
              <a:pathLst>
                <a:path w="3399" h="9519" fill="none" stroke="1">
                  <a:moveTo>
                    <a:pt x="3400" y="0"/>
                  </a:moveTo>
                  <a:lnTo>
                    <a:pt x="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165 path"/>
            <p:cNvSpPr/>
            <p:nvPr/>
          </p:nvSpPr>
          <p:spPr>
            <a:xfrm>
              <a:off x="3651504" y="3171444"/>
              <a:ext cx="21590" cy="60451"/>
            </a:xfrm>
            <a:custGeom>
              <a:avLst/>
              <a:gdLst/>
              <a:ahLst/>
              <a:cxnLst/>
              <a:rect l="l" t="t" r="r" b="b"/>
              <a:pathLst>
                <a:path w="3400" h="9519" fill="none" stroke="1">
                  <a:moveTo>
                    <a:pt x="0" y="0"/>
                  </a:moveTo>
                  <a:lnTo>
                    <a:pt x="340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166 path"/>
            <p:cNvSpPr/>
            <p:nvPr/>
          </p:nvSpPr>
          <p:spPr>
            <a:xfrm>
              <a:off x="3625596" y="3231896"/>
              <a:ext cx="51815" cy="30226"/>
            </a:xfrm>
            <a:custGeom>
              <a:avLst/>
              <a:gdLst/>
              <a:ahLst/>
              <a:cxnLst/>
              <a:rect l="l" t="t" r="r" b="b"/>
              <a:pathLst>
                <a:path w="8159" h="4760" fill="none" stroke="1">
                  <a:moveTo>
                    <a:pt x="0" y="0"/>
                  </a:moveTo>
                  <a:quadBezTo>
                    <a:pt x="4080" y="4760"/>
                    <a:pt x="8160" y="0"/>
                  </a:quadBezTo>
                  <a:close/>
                </a:path>
              </a:pathLst>
            </a:custGeom>
            <a:noFill/>
            <a:ln w="3022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167 path"/>
            <p:cNvSpPr/>
            <p:nvPr/>
          </p:nvSpPr>
          <p:spPr>
            <a:xfrm>
              <a:off x="3733546" y="3171444"/>
              <a:ext cx="21589" cy="60451"/>
            </a:xfrm>
            <a:custGeom>
              <a:avLst/>
              <a:gdLst/>
              <a:ahLst/>
              <a:cxnLst/>
              <a:rect l="l" t="t" r="r" b="b"/>
              <a:pathLst>
                <a:path w="3399" h="9519" fill="none" stroke="1">
                  <a:moveTo>
                    <a:pt x="3400" y="0"/>
                  </a:moveTo>
                  <a:lnTo>
                    <a:pt x="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168 path"/>
            <p:cNvSpPr/>
            <p:nvPr/>
          </p:nvSpPr>
          <p:spPr>
            <a:xfrm>
              <a:off x="3755136" y="3171444"/>
              <a:ext cx="21589" cy="60451"/>
            </a:xfrm>
            <a:custGeom>
              <a:avLst/>
              <a:gdLst/>
              <a:ahLst/>
              <a:cxnLst/>
              <a:rect l="l" t="t" r="r" b="b"/>
              <a:pathLst>
                <a:path w="3399" h="9519" fill="none" stroke="1">
                  <a:moveTo>
                    <a:pt x="0" y="0"/>
                  </a:moveTo>
                  <a:lnTo>
                    <a:pt x="3400" y="952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169 path"/>
            <p:cNvSpPr/>
            <p:nvPr/>
          </p:nvSpPr>
          <p:spPr>
            <a:xfrm>
              <a:off x="3729228" y="3231896"/>
              <a:ext cx="51816" cy="30226"/>
            </a:xfrm>
            <a:custGeom>
              <a:avLst/>
              <a:gdLst/>
              <a:ahLst/>
              <a:cxnLst/>
              <a:rect l="l" t="t" r="r" b="b"/>
              <a:pathLst>
                <a:path w="8160" h="4760" fill="none" stroke="1">
                  <a:moveTo>
                    <a:pt x="0" y="0"/>
                  </a:moveTo>
                  <a:quadBezTo>
                    <a:pt x="4080" y="4760"/>
                    <a:pt x="8160" y="0"/>
                  </a:quadBezTo>
                  <a:close/>
                </a:path>
              </a:pathLst>
            </a:custGeom>
            <a:noFill/>
            <a:ln w="3022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170 circle"/>
            <p:cNvSpPr/>
            <p:nvPr/>
          </p:nvSpPr>
          <p:spPr>
            <a:xfrm>
              <a:off x="3668776" y="3266440"/>
              <a:ext cx="69088" cy="17272"/>
            </a:xfrm>
            <a:prstGeom prst="ellipse">
              <a:avLst/>
            </a:prstGeom>
            <a:solidFill>
              <a:srgbClr val="F4F7FA"/>
            </a:solidFill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2" name="check badge"/>
          <p:cNvGrpSpPr/>
          <p:nvPr/>
        </p:nvGrpSpPr>
        <p:grpSpPr>
          <a:xfrm>
            <a:off x="4072200" y="1684800"/>
            <a:ext cx="68400" cy="68400"/>
            <a:chOff x="4072200" y="1684800"/>
            <a:chExt cx="68400" cy="68400"/>
          </a:xfrm>
        </p:grpSpPr>
        <p:sp>
          <p:nvSpPr>
            <p:cNvPr id="350" name="check badge disc"/>
            <p:cNvSpPr/>
            <p:nvPr/>
          </p:nvSpPr>
          <p:spPr>
            <a:xfrm>
              <a:off x="4072200" y="1684800"/>
              <a:ext cx="68400" cy="68400"/>
            </a:xfrm>
            <a:prstGeom prst="ellipse">
              <a:avLst/>
            </a:prstGeom>
            <a:solidFill>
              <a:srgbClr val="2E9A50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51" name="check mark"/>
            <p:cNvSpPr/>
            <p:nvPr/>
          </p:nvSpPr>
          <p:spPr>
            <a:xfrm>
              <a:off x="4088589" y="1709878"/>
              <a:ext cx="35623" cy="26293"/>
            </a:xfrm>
            <a:custGeom>
              <a:avLst/>
              <a:gdLst/>
              <a:ahLst/>
              <a:cxnLst/>
              <a:rect l="0" t="0" r="r" b="b"/>
              <a:pathLst>
                <a:path w="35623" h="26293" fill="none">
                  <a:moveTo>
                    <a:pt x="0" y="13571"/>
                  </a:moveTo>
                  <a:lnTo>
                    <a:pt x="12722" y="26293"/>
                  </a:lnTo>
                  <a:lnTo>
                    <a:pt x="35623" y="0"/>
                  </a:lnTo>
                </a:path>
              </a:pathLst>
            </a:custGeom>
            <a:noFill/>
            <a:ln w="7722" cap="rnd">
              <a:solidFill>
                <a:srgbClr val="FFFFFF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353" name="card text"/>
          <p:cNvSpPr txBox="1"/>
          <p:nvPr/>
        </p:nvSpPr>
        <p:spPr>
          <a:xfrm>
            <a:off x="3789234" y="1796400"/>
            <a:ext cx="511932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No calibration</a:t>
            </a:r>
            <a:endParaRPr lang="en-US" sz="650" dirty="0"/>
          </a:p>
        </p:txBody>
      </p:sp>
      <p:sp>
        <p:nvSpPr>
          <p:cNvPr id="354" name="card text"/>
          <p:cNvSpPr txBox="1"/>
          <p:nvPr/>
        </p:nvSpPr>
        <p:spPr>
          <a:xfrm>
            <a:off x="3903868" y="1891080"/>
            <a:ext cx="282663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needed</a:t>
            </a:r>
            <a:endParaRPr lang="en-US" sz="650" dirty="0"/>
          </a:p>
        </p:txBody>
      </p:sp>
      <p:sp>
        <p:nvSpPr>
          <p:cNvPr id="355" name="card"/>
          <p:cNvSpPr/>
          <p:nvPr/>
        </p:nvSpPr>
        <p:spPr>
          <a:xfrm>
            <a:off x="4400400" y="1641600"/>
            <a:ext cx="652800" cy="367200"/>
          </a:xfrm>
          <a:prstGeom prst="roundRect">
            <a:avLst>
              <a:gd name="adj" fmla="val 9803"/>
            </a:avLst>
          </a:prstGeom>
          <a:solidFill>
            <a:srgbClr val="EDF8EF"/>
          </a:solidFill>
          <a:ln w="6350" cap="flat">
            <a:solidFill>
              <a:srgbClr val="B5DFB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356" name="document native icon"/>
          <p:cNvGrpSpPr/>
          <p:nvPr/>
        </p:nvGrpSpPr>
        <p:grpSpPr>
          <a:xfrm>
            <a:off x="4642200" y="1670400"/>
            <a:ext cx="75599" cy="97200"/>
            <a:chOff x="4540250" y="3136900"/>
            <a:chExt cx="120903" cy="155448"/>
          </a:xfrm>
        </p:grpSpPr>
        <p:sp>
          <p:nvSpPr>
            <p:cNvPr id="357" name="174 path"/>
            <p:cNvSpPr/>
            <p:nvPr/>
          </p:nvSpPr>
          <p:spPr>
            <a:xfrm>
              <a:off x="4540250" y="3136900"/>
              <a:ext cx="120903" cy="155448"/>
            </a:xfrm>
            <a:custGeom>
              <a:avLst/>
              <a:gdLst/>
              <a:ahLst/>
              <a:cxnLst/>
              <a:rect l="l" t="t" r="r" b="b"/>
              <a:pathLst>
                <a:path w="19039" h="24480" fill="norm" stroke="1">
                  <a:moveTo>
                    <a:pt x="0" y="0"/>
                  </a:moveTo>
                  <a:lnTo>
                    <a:pt x="14280" y="0"/>
                  </a:lnTo>
                  <a:lnTo>
                    <a:pt x="19040" y="4760"/>
                  </a:lnTo>
                  <a:lnTo>
                    <a:pt x="19040" y="24480"/>
                  </a:lnTo>
                  <a:lnTo>
                    <a:pt x="0" y="24480"/>
                  </a:lnTo>
                  <a:close/>
                </a:path>
              </a:pathLst>
            </a:custGeom>
            <a:solidFill>
              <a:srgbClr val="F9FBFD"/>
            </a:solidFill>
            <a:ln w="3670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175 path"/>
            <p:cNvSpPr/>
            <p:nvPr/>
          </p:nvSpPr>
          <p:spPr>
            <a:xfrm>
              <a:off x="4630928" y="3136900"/>
              <a:ext cx="63" cy="30225"/>
            </a:xfrm>
            <a:custGeom>
              <a:avLst/>
              <a:gdLst/>
              <a:ahLst/>
              <a:cxnLst/>
              <a:rect l="l" t="t" r="r" b="b"/>
              <a:pathLst>
                <a:path w="10" h="4759" fill="none" stroke="1">
                  <a:moveTo>
                    <a:pt x="0" y="0"/>
                  </a:moveTo>
                  <a:lnTo>
                    <a:pt x="0" y="476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176 path"/>
            <p:cNvSpPr/>
            <p:nvPr/>
          </p:nvSpPr>
          <p:spPr>
            <a:xfrm>
              <a:off x="4630928" y="3167126"/>
              <a:ext cx="30225" cy="63"/>
            </a:xfrm>
            <a:custGeom>
              <a:avLst/>
              <a:gdLst/>
              <a:ahLst/>
              <a:cxnLst/>
              <a:rect l="l" t="t" r="r" b="b"/>
              <a:pathLst>
                <a:path w="4759" h="10" fill="none" stroke="1">
                  <a:moveTo>
                    <a:pt x="0" y="0"/>
                  </a:moveTo>
                  <a:lnTo>
                    <a:pt x="4760" y="0"/>
                  </a:lnTo>
                </a:path>
              </a:pathLst>
            </a:custGeom>
            <a:noFill/>
            <a:ln w="2159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177 path"/>
            <p:cNvSpPr/>
            <p:nvPr/>
          </p:nvSpPr>
          <p:spPr>
            <a:xfrm>
              <a:off x="4566158" y="3188716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178 path"/>
            <p:cNvSpPr/>
            <p:nvPr/>
          </p:nvSpPr>
          <p:spPr>
            <a:xfrm>
              <a:off x="4566158" y="3214624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179 path"/>
            <p:cNvSpPr/>
            <p:nvPr/>
          </p:nvSpPr>
          <p:spPr>
            <a:xfrm>
              <a:off x="4566158" y="3240532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180 path"/>
            <p:cNvSpPr/>
            <p:nvPr/>
          </p:nvSpPr>
          <p:spPr>
            <a:xfrm>
              <a:off x="4566158" y="3262122"/>
              <a:ext cx="69087" cy="63"/>
            </a:xfrm>
            <a:custGeom>
              <a:avLst/>
              <a:gdLst/>
              <a:ahLst/>
              <a:cxnLst/>
              <a:rect l="l" t="t" r="r" b="b"/>
              <a:pathLst>
                <a:path w="10879" h="10" fill="none" stroke="1">
                  <a:moveTo>
                    <a:pt x="0" y="0"/>
                  </a:moveTo>
                  <a:lnTo>
                    <a:pt x="10880" y="0"/>
                  </a:lnTo>
                </a:path>
              </a:pathLst>
            </a:custGeom>
            <a:noFill/>
            <a:ln w="2806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6" name="check badge"/>
          <p:cNvGrpSpPr/>
          <p:nvPr/>
        </p:nvGrpSpPr>
        <p:grpSpPr>
          <a:xfrm>
            <a:off x="4753800" y="1684800"/>
            <a:ext cx="68400" cy="68400"/>
            <a:chOff x="4753800" y="1684800"/>
            <a:chExt cx="68400" cy="68400"/>
          </a:xfrm>
        </p:grpSpPr>
        <p:sp>
          <p:nvSpPr>
            <p:cNvPr id="364" name="check badge disc"/>
            <p:cNvSpPr/>
            <p:nvPr/>
          </p:nvSpPr>
          <p:spPr>
            <a:xfrm>
              <a:off x="4753800" y="1684800"/>
              <a:ext cx="68400" cy="68400"/>
            </a:xfrm>
            <a:prstGeom prst="ellipse">
              <a:avLst/>
            </a:prstGeom>
            <a:solidFill>
              <a:srgbClr val="2E9A50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65" name="check mark"/>
            <p:cNvSpPr/>
            <p:nvPr/>
          </p:nvSpPr>
          <p:spPr>
            <a:xfrm>
              <a:off x="4770189" y="1709878"/>
              <a:ext cx="35623" cy="26293"/>
            </a:xfrm>
            <a:custGeom>
              <a:avLst/>
              <a:gdLst/>
              <a:ahLst/>
              <a:cxnLst/>
              <a:rect l="0" t="0" r="r" b="b"/>
              <a:pathLst>
                <a:path w="35623" h="26293" fill="none">
                  <a:moveTo>
                    <a:pt x="0" y="13571"/>
                  </a:moveTo>
                  <a:lnTo>
                    <a:pt x="12722" y="26293"/>
                  </a:lnTo>
                  <a:lnTo>
                    <a:pt x="35623" y="0"/>
                  </a:lnTo>
                </a:path>
              </a:pathLst>
            </a:custGeom>
            <a:noFill/>
            <a:ln w="7722" cap="rnd">
              <a:solidFill>
                <a:srgbClr val="FFFFFF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367" name="card text"/>
          <p:cNvSpPr txBox="1"/>
          <p:nvPr/>
        </p:nvSpPr>
        <p:spPr>
          <a:xfrm>
            <a:off x="4528192" y="1796400"/>
            <a:ext cx="397217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Consistent</a:t>
            </a:r>
            <a:endParaRPr lang="en-US" sz="650" dirty="0"/>
          </a:p>
        </p:txBody>
      </p:sp>
      <p:sp>
        <p:nvSpPr>
          <p:cNvPr id="368" name="card text"/>
          <p:cNvSpPr txBox="1"/>
          <p:nvPr/>
        </p:nvSpPr>
        <p:spPr>
          <a:xfrm>
            <a:off x="4441067" y="1891080"/>
            <a:ext cx="571467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across prompts</a:t>
            </a:r>
            <a:endParaRPr lang="en-US" sz="650" dirty="0"/>
          </a:p>
        </p:txBody>
      </p:sp>
      <p:sp>
        <p:nvSpPr>
          <p:cNvPr id="369" name="card"/>
          <p:cNvSpPr/>
          <p:nvPr/>
        </p:nvSpPr>
        <p:spPr>
          <a:xfrm>
            <a:off x="5082000" y="1641600"/>
            <a:ext cx="652800" cy="367200"/>
          </a:xfrm>
          <a:prstGeom prst="roundRect">
            <a:avLst>
              <a:gd name="adj" fmla="val 9803"/>
            </a:avLst>
          </a:prstGeom>
          <a:solidFill>
            <a:srgbClr val="EDF8EF"/>
          </a:solidFill>
          <a:ln w="6350" cap="flat">
            <a:solidFill>
              <a:srgbClr val="B5DFBF"/>
            </a:solidFill>
            <a:round/>
          </a:ln>
          <a:effectLst/>
        </p:spPr>
        <p:txBody>
          <a:bodyPr wrap="square" lIns="18000" tIns="10800" rIns="18000" bIns="1080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700" dirty="0"/>
          </a:p>
        </p:txBody>
      </p:sp>
      <p:grpSp>
        <p:nvGrpSpPr>
          <p:cNvPr id="370" name="coins native icon"/>
          <p:cNvGrpSpPr/>
          <p:nvPr/>
        </p:nvGrpSpPr>
        <p:grpSpPr>
          <a:xfrm>
            <a:off x="5317418" y="1670400"/>
            <a:ext cx="88364" cy="97200"/>
            <a:chOff x="5492750" y="3141218"/>
            <a:chExt cx="129540" cy="142494"/>
          </a:xfrm>
        </p:grpSpPr>
        <p:sp>
          <p:nvSpPr>
            <p:cNvPr id="371" name="184 box"/>
            <p:cNvSpPr/>
            <p:nvPr/>
          </p:nvSpPr>
          <p:spPr>
            <a:xfrm>
              <a:off x="5535930" y="3205988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185 circle"/>
            <p:cNvSpPr/>
            <p:nvPr/>
          </p:nvSpPr>
          <p:spPr>
            <a:xfrm>
              <a:off x="5535930" y="3193034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186 box"/>
            <p:cNvSpPr/>
            <p:nvPr/>
          </p:nvSpPr>
          <p:spPr>
            <a:xfrm>
              <a:off x="5535930" y="3180080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187 circle"/>
            <p:cNvSpPr/>
            <p:nvPr/>
          </p:nvSpPr>
          <p:spPr>
            <a:xfrm>
              <a:off x="5535930" y="3167126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188 box"/>
            <p:cNvSpPr/>
            <p:nvPr/>
          </p:nvSpPr>
          <p:spPr>
            <a:xfrm>
              <a:off x="5535930" y="3154172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189 circle"/>
            <p:cNvSpPr/>
            <p:nvPr/>
          </p:nvSpPr>
          <p:spPr>
            <a:xfrm>
              <a:off x="5535930" y="3141218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190 box"/>
            <p:cNvSpPr/>
            <p:nvPr/>
          </p:nvSpPr>
          <p:spPr>
            <a:xfrm>
              <a:off x="5492750" y="3257804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191 circle"/>
            <p:cNvSpPr/>
            <p:nvPr/>
          </p:nvSpPr>
          <p:spPr>
            <a:xfrm>
              <a:off x="5492750" y="3244850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192 box"/>
            <p:cNvSpPr/>
            <p:nvPr/>
          </p:nvSpPr>
          <p:spPr>
            <a:xfrm>
              <a:off x="5492750" y="3231896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193 circle"/>
            <p:cNvSpPr/>
            <p:nvPr/>
          </p:nvSpPr>
          <p:spPr>
            <a:xfrm>
              <a:off x="5492750" y="3218942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194 box"/>
            <p:cNvSpPr/>
            <p:nvPr/>
          </p:nvSpPr>
          <p:spPr>
            <a:xfrm>
              <a:off x="5492750" y="3205988"/>
              <a:ext cx="86360" cy="25908"/>
            </a:xfrm>
            <a:prstGeom prst="rect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195 circle"/>
            <p:cNvSpPr/>
            <p:nvPr/>
          </p:nvSpPr>
          <p:spPr>
            <a:xfrm>
              <a:off x="5492750" y="3193034"/>
              <a:ext cx="86360" cy="30226"/>
            </a:xfrm>
            <a:prstGeom prst="ellipse">
              <a:avLst/>
            </a:prstGeom>
            <a:solidFill>
              <a:srgbClr val="F0F7FB"/>
            </a:solidFill>
            <a:ln w="3454">
              <a:solidFill>
                <a:srgbClr val="1028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check badge"/>
          <p:cNvGrpSpPr/>
          <p:nvPr/>
        </p:nvGrpSpPr>
        <p:grpSpPr>
          <a:xfrm>
            <a:off x="5435400" y="1684800"/>
            <a:ext cx="68400" cy="68400"/>
            <a:chOff x="5435400" y="1684800"/>
            <a:chExt cx="68400" cy="68400"/>
          </a:xfrm>
        </p:grpSpPr>
        <p:sp>
          <p:nvSpPr>
            <p:cNvPr id="383" name="check badge disc"/>
            <p:cNvSpPr/>
            <p:nvPr/>
          </p:nvSpPr>
          <p:spPr>
            <a:xfrm>
              <a:off x="5435400" y="1684800"/>
              <a:ext cx="68400" cy="68400"/>
            </a:xfrm>
            <a:prstGeom prst="ellipse">
              <a:avLst/>
            </a:prstGeom>
            <a:solidFill>
              <a:srgbClr val="2E9A50"/>
            </a:solidFill>
            <a:ln>
              <a:noFill/>
            </a:ln>
            <a:effectLst/>
          </p:spPr>
          <p:txBody>
            <a:bodyPr wrap="square" lIns="18000" tIns="10800" rIns="18000" bIns="1080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  <p:sp>
          <p:nvSpPr>
            <p:cNvPr id="384" name="check mark"/>
            <p:cNvSpPr/>
            <p:nvPr/>
          </p:nvSpPr>
          <p:spPr>
            <a:xfrm>
              <a:off x="5451789" y="1709878"/>
              <a:ext cx="35623" cy="26293"/>
            </a:xfrm>
            <a:custGeom>
              <a:avLst/>
              <a:gdLst/>
              <a:ahLst/>
              <a:cxnLst/>
              <a:rect l="0" t="0" r="r" b="b"/>
              <a:pathLst>
                <a:path w="35623" h="26293" fill="none">
                  <a:moveTo>
                    <a:pt x="0" y="13571"/>
                  </a:moveTo>
                  <a:lnTo>
                    <a:pt x="12722" y="26293"/>
                  </a:lnTo>
                  <a:lnTo>
                    <a:pt x="35623" y="0"/>
                  </a:lnTo>
                </a:path>
              </a:pathLst>
            </a:custGeom>
            <a:noFill/>
            <a:ln w="7722" cap="rnd">
              <a:solidFill>
                <a:srgbClr val="FFFFFF"/>
              </a:solidFill>
              <a:round/>
            </a:ln>
            <a:effectLst/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700" dirty="0"/>
            </a:p>
          </p:txBody>
        </p:sp>
      </p:grpSp>
      <p:sp>
        <p:nvSpPr>
          <p:cNvPr id="386" name="card text"/>
          <p:cNvSpPr txBox="1"/>
          <p:nvPr/>
        </p:nvSpPr>
        <p:spPr>
          <a:xfrm>
            <a:off x="5237281" y="1796400"/>
            <a:ext cx="342238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Cheap to</a:t>
            </a:r>
            <a:endParaRPr lang="en-US" sz="650" dirty="0"/>
          </a:p>
        </p:txBody>
      </p:sp>
      <p:sp>
        <p:nvSpPr>
          <p:cNvPr id="387" name="card text"/>
          <p:cNvSpPr txBox="1"/>
          <p:nvPr/>
        </p:nvSpPr>
        <p:spPr>
          <a:xfrm>
            <a:off x="5301552" y="1891080"/>
            <a:ext cx="213696" cy="103188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b="0" i="0" dirty="0">
                <a:solidFill>
                  <a:srgbClr val="10283B"/>
                </a:solidFill>
                <a:latin typeface="Arial"/>
                <a:cs typeface="Arial"/>
              </a:rPr>
              <a:t>query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